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the promise: HR leaders want answers in seconds, not reports in days. Today we explain the architecture that makes that possible — a deterministic semantic layer, not an LLM writing SQL on the fly. The thesis: understand the question once, reuse the understanding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audience in the real user. HR managers ask the same families of questions every day — headcount, overtime, salary cost, attendance compliance. Their mental model is simple: ask a question, get a trustworthy answer in seconds. Everything downstream must serve that expectation.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traditional text-to-SQL pipeline. For every question the LLM re-writes SQL, which must be validated, often repaired, and retried before it ever reaches the database. Each hop adds latency and a chance of error. The core problem: the AI re-reasons the entire problem on every single request — non-deterministic, slow, and hard to govern.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our pipeline. The model is used only to understand meaning, which is captured as a structured business specification. A deterministic compiler turns that spec into SQL. The expensive step — understanding — happens once and is reused. Latency collapses and behaviour becomes 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conceptual argument. Natural language is infinite — there are endless ways to phrase the same request. But the underlying HR domain is finite: a bounded set of concepts like employee, payroll, attendance, leave, overtime. We map the infinite onto the finite, and that is what makes the system tractable and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semantic layer as the translation tier. Business terms map to physical tables through a governed layer: Employee resolves to dim_employee, Payroll to fct_payroll, and so on. Analysts speak business language; the layer owns the physical mapping, so schema changes never break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grammar of a question with five building blocks: Subject, Measure, Grouping, Filter, and Time. Any HR question decomposes into these. Once you can express a question in these five slots, you can compile it deterministically.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understanding. Given 'show overtime by department this month', the system extracts the salient concepts — the measure (overtime), the grouping (department), and the time window (current month). This is the only step where language understanding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semantic mapping. Each extracted concept is resolved against the semantic layer to a concrete table and column — overtime to fct_employee_overtime, department to dim_employee.department, current month to the payroll period. Mapping is governed and versioned.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the business specification. The resolved intent is serialized to a small, explicit JSON object. It is safe, reusable, explainable, and database-independent — the same spec can target any backend. This artefact, not free-text SQL, is what we store and reason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deterministic compilation. A compiler assembles SQL from approved building blocks defined by the spec. No AI writes the query. Output is repeatable, reviewable, and injection-safe by construction — the same spec always yields the same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the learning engine. Different phrasings — 'overtime by department', 'department-wise overtime', 'monthly overtime by team' — all resolve to the same canonical triple. Every resolved question strengthens the mapping, so coverage compounds over time instead of being re-derived per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obvious objection: this is not just cached SQL. Stored SQL is brittle — one query string per question. Our specifications are composable and compiled on demand, so new combinations of subject, filter, and time work without anyone writing new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'aha' analogy for engineers: this is the microservices pattern applied to data questions. API to controller to service to repository becomes question to intent-mapper to semantic-layer to compiler to database. Familiar separation of concerns, applied to natural-language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trade-offs head to head. Across speed, accuracy, governance, security, scalability, explainability, and learning, the deterministic semantic approach wins on every axis that matters to an enterprise. Dynamic SQL optimizes for demo flexibility; we optimize for production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full reference architecture end to end: question, intent recognition, semantic layer, business specification, deterministic compiler, SQL engine, database, result, and the learning store that feeds back in. Each box is an editable, testable component — not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thesis. HR questions are infinite; HR concepts are finite. Mint HR OS turns workforce data into actionable intelligence by understanding once and reusing forever. Leave them with the line: understand once, reuse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1.png"/><Relationship Id="rId12" Type="http://schemas.openxmlformats.org/officeDocument/2006/relationships/image" Target="../media/image-2-12.svg"/><Relationship Id="rId13" Type="http://schemas.openxmlformats.org/officeDocument/2006/relationships/slideLayout" Target="../slideLayouts/slideLayout1.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image" Target="../media/image-3-13.png"/><Relationship Id="rId14" Type="http://schemas.openxmlformats.org/officeDocument/2006/relationships/image" Target="../media/image-3-14.svg"/><Relationship Id="rId15" Type="http://schemas.openxmlformats.org/officeDocument/2006/relationships/image" Target="../media/image-3-15.png"/><Relationship Id="rId16" Type="http://schemas.openxmlformats.org/officeDocument/2006/relationships/image" Target="../media/image-3-16.svg"/><Relationship Id="rId17" Type="http://schemas.openxmlformats.org/officeDocument/2006/relationships/image" Target="../media/image-3-17.png"/><Relationship Id="rId18" Type="http://schemas.openxmlformats.org/officeDocument/2006/relationships/image" Target="../media/image-3-18.svg"/><Relationship Id="rId19" Type="http://schemas.openxmlformats.org/officeDocument/2006/relationships/image" Target="../media/image-3-19.png"/><Relationship Id="rId20" Type="http://schemas.openxmlformats.org/officeDocument/2006/relationships/image" Target="../media/image-3-20.svg"/><Relationship Id="rId21" Type="http://schemas.openxmlformats.org/officeDocument/2006/relationships/image" Target="../media/image-3-21.png"/><Relationship Id="rId22" Type="http://schemas.openxmlformats.org/officeDocument/2006/relationships/image" Target="../media/image-3-22.svg"/><Relationship Id="rId23" Type="http://schemas.openxmlformats.org/officeDocument/2006/relationships/image" Target="../media/image-3-23.png"/><Relationship Id="rId24" Type="http://schemas.openxmlformats.org/officeDocument/2006/relationships/image" Target="../media/image-3-24.svg"/><Relationship Id="rId25" Type="http://schemas.openxmlformats.org/officeDocument/2006/relationships/slideLayout" Target="../slideLayouts/slideLayout1.xml"/><Relationship Id="rId2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image" Target="../media/image-4-13.png"/><Relationship Id="rId14" Type="http://schemas.openxmlformats.org/officeDocument/2006/relationships/image" Target="../media/image-4-14.svg"/><Relationship Id="rId15" Type="http://schemas.openxmlformats.org/officeDocument/2006/relationships/image" Target="../media/image-4-15.png"/><Relationship Id="rId16" Type="http://schemas.openxmlformats.org/officeDocument/2006/relationships/image" Target="../media/image-4-16.svg"/><Relationship Id="rId17" Type="http://schemas.openxmlformats.org/officeDocument/2006/relationships/image" Target="../media/image-4-17.png"/><Relationship Id="rId18" Type="http://schemas.openxmlformats.org/officeDocument/2006/relationships/image" Target="../media/image-4-18.svg"/><Relationship Id="rId19" Type="http://schemas.openxmlformats.org/officeDocument/2006/relationships/image" Target="../media/image-4-19.png"/><Relationship Id="rId20" Type="http://schemas.openxmlformats.org/officeDocument/2006/relationships/image" Target="../media/image-4-20.svg"/><Relationship Id="rId21" Type="http://schemas.openxmlformats.org/officeDocument/2006/relationships/image" Target="../media/image-4-21.png"/><Relationship Id="rId22" Type="http://schemas.openxmlformats.org/officeDocument/2006/relationships/image" Target="../media/image-4-22.svg"/><Relationship Id="rId23" Type="http://schemas.openxmlformats.org/officeDocument/2006/relationships/image" Target="../media/image-4-23.png"/><Relationship Id="rId24" Type="http://schemas.openxmlformats.org/officeDocument/2006/relationships/image" Target="../media/image-4-24.svg"/><Relationship Id="rId25" Type="http://schemas.openxmlformats.org/officeDocument/2006/relationships/slideLayout" Target="../slideLayouts/slideLayout1.xml"/><Relationship Id="rId2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image" Target="../media/image-6-13.png"/><Relationship Id="rId14" Type="http://schemas.openxmlformats.org/officeDocument/2006/relationships/image" Target="../media/image-6-14.svg"/><Relationship Id="rId15" Type="http://schemas.openxmlformats.org/officeDocument/2006/relationships/image" Target="../media/image-6-15.png"/><Relationship Id="rId16" Type="http://schemas.openxmlformats.org/officeDocument/2006/relationships/image" Target="../media/image-6-16.svg"/><Relationship Id="rId17" Type="http://schemas.openxmlformats.org/officeDocument/2006/relationships/slideLayout" Target="../slideLayouts/slideLayout1.xml"/><Relationship Id="rId1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image" Target="../media/image-9-13.png"/><Relationship Id="rId14" Type="http://schemas.openxmlformats.org/officeDocument/2006/relationships/image" Target="../media/image-9-14.svg"/><Relationship Id="rId15" Type="http://schemas.openxmlformats.org/officeDocument/2006/relationships/slideLayout" Target="../slideLayouts/slideLayout1.xml"/><Relationship Id="rId1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image" Target="../media/image-11-8.svg"/><Relationship Id="rId9" Type="http://schemas.openxmlformats.org/officeDocument/2006/relationships/image" Target="../media/image-11-9.png"/><Relationship Id="rId10" Type="http://schemas.openxmlformats.org/officeDocument/2006/relationships/image" Target="../media/image-11-10.svg"/><Relationship Id="rId11" Type="http://schemas.openxmlformats.org/officeDocument/2006/relationships/image" Target="../media/image-11-11.png"/><Relationship Id="rId12" Type="http://schemas.openxmlformats.org/officeDocument/2006/relationships/image" Target="../media/image-11-12.svg"/><Relationship Id="rId13" Type="http://schemas.openxmlformats.org/officeDocument/2006/relationships/slideLayout" Target="../slideLayouts/slideLayout1.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image" Target="../media/image-12-9.png"/><Relationship Id="rId10" Type="http://schemas.openxmlformats.org/officeDocument/2006/relationships/image" Target="../media/image-12-10.svg"/><Relationship Id="rId11" Type="http://schemas.openxmlformats.org/officeDocument/2006/relationships/image" Target="../media/image-12-11.png"/><Relationship Id="rId12" Type="http://schemas.openxmlformats.org/officeDocument/2006/relationships/image" Target="../media/image-12-12.svg"/><Relationship Id="rId13" Type="http://schemas.openxmlformats.org/officeDocument/2006/relationships/image" Target="../media/image-12-13.png"/><Relationship Id="rId14" Type="http://schemas.openxmlformats.org/officeDocument/2006/relationships/image" Target="../media/image-12-14.svg"/><Relationship Id="rId15" Type="http://schemas.openxmlformats.org/officeDocument/2006/relationships/image" Target="../media/image-12-15.png"/><Relationship Id="rId16" Type="http://schemas.openxmlformats.org/officeDocument/2006/relationships/image" Target="../media/image-12-16.svg"/><Relationship Id="rId17" Type="http://schemas.openxmlformats.org/officeDocument/2006/relationships/slideLayout" Target="../slideLayouts/slideLayout1.xml"/><Relationship Id="rId1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image" Target="../media/image-13-8.svg"/><Relationship Id="rId9" Type="http://schemas.openxmlformats.org/officeDocument/2006/relationships/image" Target="../media/image-13-9.png"/><Relationship Id="rId10" Type="http://schemas.openxmlformats.org/officeDocument/2006/relationships/image" Target="../media/image-13-10.svg"/><Relationship Id="rId11" Type="http://schemas.openxmlformats.org/officeDocument/2006/relationships/image" Target="../media/image-13-11.png"/><Relationship Id="rId12" Type="http://schemas.openxmlformats.org/officeDocument/2006/relationships/image" Target="../media/image-13-12.svg"/><Relationship Id="rId13" Type="http://schemas.openxmlformats.org/officeDocument/2006/relationships/slideLayout" Target="../slideLayouts/slideLayout1.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image" Target="../media/image-14-7.png"/><Relationship Id="rId8" Type="http://schemas.openxmlformats.org/officeDocument/2006/relationships/image" Target="../media/image-14-8.svg"/><Relationship Id="rId9" Type="http://schemas.openxmlformats.org/officeDocument/2006/relationships/image" Target="../media/image-14-9.png"/><Relationship Id="rId10" Type="http://schemas.openxmlformats.org/officeDocument/2006/relationships/image" Target="../media/image-14-10.svg"/><Relationship Id="rId11" Type="http://schemas.openxmlformats.org/officeDocument/2006/relationships/image" Target="../media/image-14-11.png"/><Relationship Id="rId12" Type="http://schemas.openxmlformats.org/officeDocument/2006/relationships/image" Target="../media/image-14-12.svg"/><Relationship Id="rId13" Type="http://schemas.openxmlformats.org/officeDocument/2006/relationships/image" Target="../media/image-14-13.png"/><Relationship Id="rId14" Type="http://schemas.openxmlformats.org/officeDocument/2006/relationships/image" Target="../media/image-14-14.svg"/><Relationship Id="rId15" Type="http://schemas.openxmlformats.org/officeDocument/2006/relationships/image" Target="../media/image-14-15.png"/><Relationship Id="rId16" Type="http://schemas.openxmlformats.org/officeDocument/2006/relationships/image" Target="../media/image-14-16.svg"/><Relationship Id="rId17" Type="http://schemas.openxmlformats.org/officeDocument/2006/relationships/image" Target="../media/image-14-17.png"/><Relationship Id="rId18" Type="http://schemas.openxmlformats.org/officeDocument/2006/relationships/image" Target="../media/image-14-18.svg"/><Relationship Id="rId19" Type="http://schemas.openxmlformats.org/officeDocument/2006/relationships/image" Target="../media/image-14-19.png"/><Relationship Id="rId20" Type="http://schemas.openxmlformats.org/officeDocument/2006/relationships/image" Target="../media/image-14-20.svg"/><Relationship Id="rId21" Type="http://schemas.openxmlformats.org/officeDocument/2006/relationships/image" Target="../media/image-14-21.png"/><Relationship Id="rId22" Type="http://schemas.openxmlformats.org/officeDocument/2006/relationships/image" Target="../media/image-14-22.svg"/><Relationship Id="rId23" Type="http://schemas.openxmlformats.org/officeDocument/2006/relationships/image" Target="../media/image-14-23.png"/><Relationship Id="rId24" Type="http://schemas.openxmlformats.org/officeDocument/2006/relationships/image" Target="../media/image-14-24.svg"/><Relationship Id="rId25" Type="http://schemas.openxmlformats.org/officeDocument/2006/relationships/image" Target="../media/image-14-25.png"/><Relationship Id="rId26" Type="http://schemas.openxmlformats.org/officeDocument/2006/relationships/image" Target="../media/image-14-26.svg"/><Relationship Id="rId27" Type="http://schemas.openxmlformats.org/officeDocument/2006/relationships/image" Target="../media/image-14-27.png"/><Relationship Id="rId28" Type="http://schemas.openxmlformats.org/officeDocument/2006/relationships/image" Target="../media/image-14-28.svg"/><Relationship Id="rId29" Type="http://schemas.openxmlformats.org/officeDocument/2006/relationships/image" Target="../media/image-14-29.png"/><Relationship Id="rId30" Type="http://schemas.openxmlformats.org/officeDocument/2006/relationships/image" Target="../media/image-14-30.svg"/><Relationship Id="rId31" Type="http://schemas.openxmlformats.org/officeDocument/2006/relationships/image" Target="../media/image-14-31.png"/><Relationship Id="rId32" Type="http://schemas.openxmlformats.org/officeDocument/2006/relationships/image" Target="../media/image-14-32.svg"/><Relationship Id="rId33" Type="http://schemas.openxmlformats.org/officeDocument/2006/relationships/slideLayout" Target="../slideLayouts/slideLayout1.xml"/><Relationship Id="rId3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image" Target="../media/image-15-7.png"/><Relationship Id="rId8" Type="http://schemas.openxmlformats.org/officeDocument/2006/relationships/image" Target="../media/image-15-8.svg"/><Relationship Id="rId9" Type="http://schemas.openxmlformats.org/officeDocument/2006/relationships/image" Target="../media/image-15-9.png"/><Relationship Id="rId10" Type="http://schemas.openxmlformats.org/officeDocument/2006/relationships/image" Target="../media/image-15-10.svg"/><Relationship Id="rId11" Type="http://schemas.openxmlformats.org/officeDocument/2006/relationships/image" Target="../media/image-15-11.png"/><Relationship Id="rId12" Type="http://schemas.openxmlformats.org/officeDocument/2006/relationships/image" Target="../media/image-15-12.svg"/><Relationship Id="rId13" Type="http://schemas.openxmlformats.org/officeDocument/2006/relationships/image" Target="../media/image-15-13.png"/><Relationship Id="rId14" Type="http://schemas.openxmlformats.org/officeDocument/2006/relationships/image" Target="../media/image-15-14.svg"/><Relationship Id="rId15" Type="http://schemas.openxmlformats.org/officeDocument/2006/relationships/image" Target="../media/image-15-15.png"/><Relationship Id="rId16" Type="http://schemas.openxmlformats.org/officeDocument/2006/relationships/image" Target="../media/image-15-16.svg"/><Relationship Id="rId17" Type="http://schemas.openxmlformats.org/officeDocument/2006/relationships/slideLayout" Target="../slideLayouts/slideLayout1.xml"/><Relationship Id="rId1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image" Target="../media/image-16-5.png"/><Relationship Id="rId6" Type="http://schemas.openxmlformats.org/officeDocument/2006/relationships/image" Target="../media/image-16-6.svg"/><Relationship Id="rId7" Type="http://schemas.openxmlformats.org/officeDocument/2006/relationships/image" Target="../media/image-16-7.png"/><Relationship Id="rId8" Type="http://schemas.openxmlformats.org/officeDocument/2006/relationships/image" Target="../media/image-16-8.svg"/><Relationship Id="rId9" Type="http://schemas.openxmlformats.org/officeDocument/2006/relationships/image" Target="../media/image-16-9.png"/><Relationship Id="rId10" Type="http://schemas.openxmlformats.org/officeDocument/2006/relationships/image" Target="../media/image-16-10.svg"/><Relationship Id="rId11" Type="http://schemas.openxmlformats.org/officeDocument/2006/relationships/image" Target="../media/image-16-11.png"/><Relationship Id="rId12" Type="http://schemas.openxmlformats.org/officeDocument/2006/relationships/image" Target="../media/image-16-12.svg"/><Relationship Id="rId13" Type="http://schemas.openxmlformats.org/officeDocument/2006/relationships/image" Target="../media/image-16-13.png"/><Relationship Id="rId14" Type="http://schemas.openxmlformats.org/officeDocument/2006/relationships/image" Target="../media/image-16-14.svg"/><Relationship Id="rId15" Type="http://schemas.openxmlformats.org/officeDocument/2006/relationships/image" Target="../media/image-16-15.png"/><Relationship Id="rId16" Type="http://schemas.openxmlformats.org/officeDocument/2006/relationships/image" Target="../media/image-16-16.svg"/><Relationship Id="rId17" Type="http://schemas.openxmlformats.org/officeDocument/2006/relationships/image" Target="../media/image-16-17.png"/><Relationship Id="rId18" Type="http://schemas.openxmlformats.org/officeDocument/2006/relationships/image" Target="../media/image-16-18.svg"/><Relationship Id="rId19" Type="http://schemas.openxmlformats.org/officeDocument/2006/relationships/image" Target="../media/image-16-19.png"/><Relationship Id="rId20" Type="http://schemas.openxmlformats.org/officeDocument/2006/relationships/image" Target="../media/image-16-20.svg"/><Relationship Id="rId21" Type="http://schemas.openxmlformats.org/officeDocument/2006/relationships/image" Target="../media/image-16-21.png"/><Relationship Id="rId22" Type="http://schemas.openxmlformats.org/officeDocument/2006/relationships/image" Target="../media/image-16-22.svg"/><Relationship Id="rId23" Type="http://schemas.openxmlformats.org/officeDocument/2006/relationships/image" Target="../media/image-16-23.png"/><Relationship Id="rId24" Type="http://schemas.openxmlformats.org/officeDocument/2006/relationships/image" Target="../media/image-16-24.svg"/><Relationship Id="rId25" Type="http://schemas.openxmlformats.org/officeDocument/2006/relationships/image" Target="../media/image-16-25.png"/><Relationship Id="rId26" Type="http://schemas.openxmlformats.org/officeDocument/2006/relationships/image" Target="../media/image-16-26.svg"/><Relationship Id="rId27" Type="http://schemas.openxmlformats.org/officeDocument/2006/relationships/image" Target="../media/image-16-27.png"/><Relationship Id="rId28" Type="http://schemas.openxmlformats.org/officeDocument/2006/relationships/image" Target="../media/image-16-28.svg"/><Relationship Id="rId29" Type="http://schemas.openxmlformats.org/officeDocument/2006/relationships/image" Target="../media/image-16-29.png"/><Relationship Id="rId30" Type="http://schemas.openxmlformats.org/officeDocument/2006/relationships/image" Target="../media/image-16-30.svg"/><Relationship Id="rId31" Type="http://schemas.openxmlformats.org/officeDocument/2006/relationships/image" Target="../media/image-16-31.png"/><Relationship Id="rId32" Type="http://schemas.openxmlformats.org/officeDocument/2006/relationships/image" Target="../media/image-16-32.svg"/><Relationship Id="rId33" Type="http://schemas.openxmlformats.org/officeDocument/2006/relationships/image" Target="../media/image-16-33.png"/><Relationship Id="rId34" Type="http://schemas.openxmlformats.org/officeDocument/2006/relationships/image" Target="../media/image-16-34.svg"/><Relationship Id="rId35" Type="http://schemas.openxmlformats.org/officeDocument/2006/relationships/slideLayout" Target="../slideLayouts/slideLayout1.xml"/><Relationship Id="rId3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7A5AF8">
                  <a:alpha val="22000"/>
                </a:srgbClr>
              </a:gs>
              <a:gs pos="68000">
                <a:srgbClr val="7A5AF8">
                  <a:alpha val="0"/>
                </a:srgbClr>
              </a:gs>
            </a:gsLst>
            <a:path path="circle">
              <a:fillToRect l="80000" t="0" r="20000" b="100000"/>
            </a:path>
          </a:gradFill>
          <a:ln/>
        </p:spPr>
      </p:sp>
      <p:sp>
        <p:nvSpPr>
          <p:cNvPr id="3" name="Shape 1"/>
          <p:cNvSpPr/>
          <p:nvPr/>
        </p:nvSpPr>
        <p:spPr>
          <a:xfrm>
            <a:off x="0" y="0"/>
            <a:ext cx="18288000" cy="10287000"/>
          </a:xfrm>
          <a:prstGeom prst="rect">
            <a:avLst/>
          </a:prstGeom>
          <a:gradFill rotWithShape="1">
            <a:gsLst>
              <a:gs pos="0">
                <a:srgbClr val="2A3441">
                  <a:alpha val="55000"/>
                </a:srgbClr>
              </a:gs>
              <a:gs pos="100000">
                <a:srgbClr val="2A3441">
                  <a:alpha val="0"/>
                </a:srgbClr>
              </a:gs>
            </a:gsLst>
            <a:lin ang="5400000" scaled="0"/>
          </a:gradFill>
          <a:ln/>
        </p:spPr>
      </p:sp>
      <p:sp>
        <p:nvSpPr>
          <p:cNvPr id="4" name="Shape 2"/>
          <p:cNvSpPr/>
          <p:nvPr/>
        </p:nvSpPr>
        <p:spPr>
          <a:xfrm>
            <a:off x="1143000" y="800100"/>
            <a:ext cx="323850" cy="323850"/>
          </a:xfrm>
          <a:prstGeom prst="roundRect">
            <a:avLst>
              <a:gd name="adj" fmla="val 26471"/>
            </a:avLst>
          </a:prstGeom>
          <a:gradFill rotWithShape="1">
            <a:gsLst>
              <a:gs pos="0">
                <a:srgbClr val="7A5AF8">
                  <a:alpha val="100000"/>
                </a:srgbClr>
              </a:gs>
              <a:gs pos="100000">
                <a:srgbClr val="4B32C0">
                  <a:alpha val="100000"/>
                </a:srgbClr>
              </a:gs>
            </a:gsLst>
            <a:lin ang="2700000" scaled="0"/>
          </a:gra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09675" y="866775"/>
            <a:ext cx="190500" cy="190500"/>
          </a:xfrm>
          <a:prstGeom prst="rect">
            <a:avLst/>
          </a:prstGeom>
        </p:spPr>
      </p:pic>
      <p:sp>
        <p:nvSpPr>
          <p:cNvPr id="6" name="Text 3"/>
          <p:cNvSpPr/>
          <p:nvPr/>
        </p:nvSpPr>
        <p:spPr>
          <a:xfrm>
            <a:off x="1600200" y="840581"/>
            <a:ext cx="1968215" cy="280988"/>
          </a:xfrm>
          <a:prstGeom prst="rect">
            <a:avLst/>
          </a:prstGeom>
          <a:noFill/>
          <a:ln/>
        </p:spPr>
        <p:txBody>
          <a:bodyPr wrap="square" lIns="25400" tIns="25400" rIns="25400" bIns="25400" rtlCol="0" anchor="t">
            <a:normAutofit/>
          </a:bodyPr>
          <a:lstStyle/>
          <a:p>
            <a:pPr algn="l" indent="0" marL="0">
              <a:buNone/>
            </a:pPr>
            <a:r>
              <a:rPr lang="en-US" sz="1575" b="1" spc="472" kern="0" dirty="0">
                <a:solidFill>
                  <a:srgbClr val="FFFFFF"/>
                </a:solidFill>
                <a:latin typeface="Inter" pitchFamily="34" charset="0"/>
                <a:ea typeface="Inter" pitchFamily="34" charset="-122"/>
                <a:cs typeface="Inter" pitchFamily="34" charset="-120"/>
              </a:rPr>
              <a:t>MINT HR OS</a:t>
            </a:r>
            <a:endParaRPr lang="en-US" sz="1575" dirty="0"/>
          </a:p>
        </p:txBody>
      </p:sp>
      <p:sp>
        <p:nvSpPr>
          <p:cNvPr id="7" name="Text 4"/>
          <p:cNvSpPr/>
          <p:nvPr/>
        </p:nvSpPr>
        <p:spPr>
          <a:xfrm>
            <a:off x="15272742" y="873919"/>
            <a:ext cx="2059484" cy="214313"/>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74808F"/>
                </a:solidFill>
                <a:latin typeface="JetBrains Mono" pitchFamily="34" charset="0"/>
                <a:ea typeface="JetBrains Mono" pitchFamily="34" charset="-122"/>
                <a:cs typeface="JetBrains Mono" pitchFamily="34" charset="-120"/>
              </a:rPr>
              <a:t>ARCHITECTURE BRIEF</a:t>
            </a:r>
            <a:endParaRPr lang="en-US" sz="1050" dirty="0"/>
          </a:p>
        </p:txBody>
      </p:sp>
      <p:sp>
        <p:nvSpPr>
          <p:cNvPr id="8" name="Text 5"/>
          <p:cNvSpPr/>
          <p:nvPr/>
        </p:nvSpPr>
        <p:spPr>
          <a:xfrm>
            <a:off x="1143000" y="3112096"/>
            <a:ext cx="15506700" cy="242888"/>
          </a:xfrm>
          <a:prstGeom prst="rect">
            <a:avLst/>
          </a:prstGeom>
          <a:noFill/>
          <a:ln/>
        </p:spPr>
        <p:txBody>
          <a:bodyPr wrap="square" lIns="25400" tIns="25400" rIns="25400" bIns="25400" rtlCol="0" anchor="t">
            <a:normAutofit/>
          </a:bodyPr>
          <a:lstStyle/>
          <a:p>
            <a:pPr algn="l" indent="0" marL="0">
              <a:buNone/>
            </a:pPr>
            <a:r>
              <a:rPr lang="en-US" sz="1200" spc="408" kern="0" dirty="0">
                <a:solidFill>
                  <a:srgbClr val="00C2FF"/>
                </a:solidFill>
                <a:latin typeface="JetBrains Mono" pitchFamily="34" charset="0"/>
                <a:ea typeface="JetBrains Mono" pitchFamily="34" charset="-122"/>
                <a:cs typeface="JetBrains Mono" pitchFamily="34" charset="-120"/>
              </a:rPr>
              <a:t>THE OPERATING SYSTEM FOR WORKFORCE INTELLIGENCE</a:t>
            </a:r>
            <a:endParaRPr lang="en-US" sz="1200" dirty="0"/>
          </a:p>
        </p:txBody>
      </p:sp>
      <p:sp>
        <p:nvSpPr>
          <p:cNvPr id="9" name="Text 6"/>
          <p:cNvSpPr/>
          <p:nvPr/>
        </p:nvSpPr>
        <p:spPr>
          <a:xfrm>
            <a:off x="1143000" y="3603596"/>
            <a:ext cx="14519910" cy="2653159"/>
          </a:xfrm>
          <a:prstGeom prst="rect">
            <a:avLst/>
          </a:prstGeom>
          <a:noFill/>
          <a:ln/>
        </p:spPr>
        <p:txBody>
          <a:bodyPr wrap="square" lIns="25400" tIns="25400" rIns="25400" bIns="25400" rtlCol="0" anchor="t">
            <a:normAutofit/>
          </a:bodyPr>
          <a:lstStyle/>
          <a:p>
            <a:pPr algn="l" indent="0" marL="0">
              <a:lnSpc>
                <a:spcPct val="104000"/>
              </a:lnSpc>
              <a:buNone/>
            </a:pPr>
            <a:r>
              <a:rPr lang="en-US" sz="6600" b="1" spc="-165" kern="0" dirty="0">
                <a:solidFill>
                  <a:srgbClr val="FFFFFF"/>
                </a:solidFill>
                <a:latin typeface="Inter" pitchFamily="34" charset="0"/>
                <a:ea typeface="Inter" pitchFamily="34" charset="-122"/>
                <a:cs typeface="Inter" pitchFamily="34" charset="-120"/>
              </a:rPr>
              <a:t>Why Mint HR OS delivers HR &amp; payroll intelligence in </a:t>
            </a:r>
            <a:pPr algn="l" indent="0" marL="0">
              <a:lnSpc>
                <a:spcPct val="104000"/>
              </a:lnSpc>
              <a:buNone/>
            </a:pPr>
            <a:r>
              <a:rPr lang="en-US" sz="6600" b="1" spc="-165" kern="0" dirty="0">
                <a:solidFill>
                  <a:srgbClr val="7A5AF8"/>
                </a:solidFill>
                <a:latin typeface="Inter" pitchFamily="34" charset="0"/>
                <a:ea typeface="Inter" pitchFamily="34" charset="-122"/>
                <a:cs typeface="Inter" pitchFamily="34" charset="-120"/>
              </a:rPr>
              <a:t>seconds</a:t>
            </a:r>
            <a:endParaRPr lang="en-US" sz="6600" dirty="0"/>
          </a:p>
        </p:txBody>
      </p:sp>
      <p:sp>
        <p:nvSpPr>
          <p:cNvPr id="10" name="Shape 7"/>
          <p:cNvSpPr/>
          <p:nvPr/>
        </p:nvSpPr>
        <p:spPr>
          <a:xfrm>
            <a:off x="1143000" y="6740612"/>
            <a:ext cx="1143000" cy="28575"/>
          </a:xfrm>
          <a:prstGeom prst="roundRect">
            <a:avLst>
              <a:gd name="adj" fmla="val 50000"/>
            </a:avLst>
          </a:prstGeom>
          <a:solidFill>
            <a:srgbClr val="7A5AF8"/>
          </a:solidFill>
          <a:ln/>
        </p:spPr>
      </p:sp>
      <p:sp>
        <p:nvSpPr>
          <p:cNvPr id="11" name="Text 8"/>
          <p:cNvSpPr/>
          <p:nvPr/>
        </p:nvSpPr>
        <p:spPr>
          <a:xfrm>
            <a:off x="2514600" y="6583449"/>
            <a:ext cx="7920499" cy="381000"/>
          </a:xfrm>
          <a:prstGeom prst="rect">
            <a:avLst/>
          </a:prstGeom>
          <a:noFill/>
          <a:ln/>
        </p:spPr>
        <p:txBody>
          <a:bodyPr wrap="square" lIns="25400" tIns="25400" rIns="25400" bIns="25400" rtlCol="0" anchor="t">
            <a:normAutofit/>
          </a:bodyPr>
          <a:lstStyle/>
          <a:p>
            <a:pPr algn="l" indent="0" marL="0">
              <a:buNone/>
            </a:pPr>
            <a:r>
              <a:rPr lang="en-US" sz="2250" spc="-22" kern="0" dirty="0">
                <a:solidFill>
                  <a:srgbClr val="B7C0CD"/>
                </a:solidFill>
                <a:latin typeface="Inter" pitchFamily="34" charset="0"/>
                <a:ea typeface="Inter" pitchFamily="34" charset="-122"/>
                <a:cs typeface="Inter" pitchFamily="34" charset="-120"/>
              </a:rPr>
              <a:t>Transforming HR questions into actionable intelligence</a:t>
            </a:r>
            <a:endParaRPr lang="en-US" sz="2250" dirty="0"/>
          </a:p>
        </p:txBody>
      </p:sp>
      <p:sp>
        <p:nvSpPr>
          <p:cNvPr id="12" name="Shape 9"/>
          <p:cNvSpPr/>
          <p:nvPr/>
        </p:nvSpPr>
        <p:spPr>
          <a:xfrm>
            <a:off x="1143000" y="8920289"/>
            <a:ext cx="16002000" cy="9525"/>
          </a:xfrm>
          <a:prstGeom prst="rect">
            <a:avLst/>
          </a:prstGeom>
          <a:solidFill>
            <a:srgbClr val="2A3441"/>
          </a:solidFill>
          <a:ln/>
        </p:spPr>
      </p:sp>
      <p:sp>
        <p:nvSpPr>
          <p:cNvPr id="13" name="Text 10"/>
          <p:cNvSpPr/>
          <p:nvPr/>
        </p:nvSpPr>
        <p:spPr>
          <a:xfrm>
            <a:off x="1143000" y="9282239"/>
            <a:ext cx="7730349" cy="252413"/>
          </a:xfrm>
          <a:prstGeom prst="rect">
            <a:avLst/>
          </a:prstGeom>
          <a:noFill/>
          <a:ln/>
        </p:spPr>
        <p:txBody>
          <a:bodyPr wrap="square" lIns="25400" tIns="25400" rIns="25400" bIns="25400" rtlCol="0" anchor="t">
            <a:normAutofit/>
          </a:bodyPr>
          <a:lstStyle/>
          <a:p>
            <a:pPr algn="l" indent="0" marL="0">
              <a:buNone/>
            </a:pPr>
            <a:r>
              <a:rPr lang="en-US" sz="1275" spc="127" kern="0" dirty="0">
                <a:solidFill>
                  <a:srgbClr val="B7C0CD"/>
                </a:solidFill>
                <a:latin typeface="JetBrains Mono" pitchFamily="34" charset="0"/>
                <a:ea typeface="JetBrains Mono" pitchFamily="34" charset="-122"/>
                <a:cs typeface="JetBrains Mono" pitchFamily="34" charset="-120"/>
              </a:rPr>
              <a:t>Payroll · Attendance · Overtime · Workforce Intelligence</a:t>
            </a:r>
            <a:endParaRPr lang="en-US" sz="1275" dirty="0"/>
          </a:p>
        </p:txBody>
      </p:sp>
      <p:sp>
        <p:nvSpPr>
          <p:cNvPr id="14" name="Shape 11"/>
          <p:cNvSpPr/>
          <p:nvPr/>
        </p:nvSpPr>
        <p:spPr>
          <a:xfrm>
            <a:off x="13318554" y="9177464"/>
            <a:ext cx="538386" cy="319088"/>
          </a:xfrm>
          <a:prstGeom prst="roundRect">
            <a:avLst>
              <a:gd name="adj" fmla="val 50000"/>
            </a:avLst>
          </a:prstGeom>
          <a:ln w="9525">
            <a:solidFill>
              <a:srgbClr val="2A3441"/>
            </a:solidFill>
            <a:prstDash val="solid"/>
          </a:ln>
        </p:spPr>
      </p:sp>
      <p:sp>
        <p:nvSpPr>
          <p:cNvPr id="15" name="Text 12"/>
          <p:cNvSpPr/>
          <p:nvPr/>
        </p:nvSpPr>
        <p:spPr>
          <a:xfrm>
            <a:off x="13461429" y="9253664"/>
            <a:ext cx="328836" cy="204787"/>
          </a:xfrm>
          <a:prstGeom prst="rect">
            <a:avLst/>
          </a:prstGeom>
          <a:noFill/>
          <a:ln/>
        </p:spPr>
        <p:txBody>
          <a:bodyPr wrap="square" lIns="25400" tIns="25400" rIns="25400" bIns="25400" rtlCol="0" anchor="t">
            <a:normAutofit/>
          </a:bodyPr>
          <a:lstStyle/>
          <a:p>
            <a:pPr algn="l" indent="0" marL="0">
              <a:buNone/>
            </a:pPr>
            <a:r>
              <a:rPr lang="en-US" sz="975" spc="78" kern="0" dirty="0">
                <a:solidFill>
                  <a:srgbClr val="74808F"/>
                </a:solidFill>
                <a:latin typeface="JetBrains Mono" pitchFamily="34" charset="0"/>
                <a:ea typeface="JetBrains Mono" pitchFamily="34" charset="-122"/>
                <a:cs typeface="JetBrains Mono" pitchFamily="34" charset="-120"/>
              </a:rPr>
              <a:t>CTO</a:t>
            </a:r>
            <a:endParaRPr lang="en-US" sz="975" dirty="0"/>
          </a:p>
        </p:txBody>
      </p:sp>
      <p:sp>
        <p:nvSpPr>
          <p:cNvPr id="16" name="Shape 13"/>
          <p:cNvSpPr/>
          <p:nvPr/>
        </p:nvSpPr>
        <p:spPr>
          <a:xfrm>
            <a:off x="13952190" y="9177464"/>
            <a:ext cx="1211982" cy="319088"/>
          </a:xfrm>
          <a:prstGeom prst="roundRect">
            <a:avLst>
              <a:gd name="adj" fmla="val 50000"/>
            </a:avLst>
          </a:prstGeom>
          <a:ln w="9525">
            <a:solidFill>
              <a:srgbClr val="2A3441"/>
            </a:solidFill>
            <a:prstDash val="solid"/>
          </a:ln>
        </p:spPr>
      </p:sp>
      <p:sp>
        <p:nvSpPr>
          <p:cNvPr id="17" name="Text 14"/>
          <p:cNvSpPr/>
          <p:nvPr/>
        </p:nvSpPr>
        <p:spPr>
          <a:xfrm>
            <a:off x="14095065" y="9253664"/>
            <a:ext cx="1002432" cy="204787"/>
          </a:xfrm>
          <a:prstGeom prst="rect">
            <a:avLst/>
          </a:prstGeom>
          <a:noFill/>
          <a:ln/>
        </p:spPr>
        <p:txBody>
          <a:bodyPr wrap="square" lIns="25400" tIns="25400" rIns="25400" bIns="25400" rtlCol="0" anchor="t">
            <a:normAutofit/>
          </a:bodyPr>
          <a:lstStyle/>
          <a:p>
            <a:pPr algn="l" indent="0" marL="0">
              <a:buNone/>
            </a:pPr>
            <a:r>
              <a:rPr lang="en-US" sz="975" spc="78" kern="0" dirty="0">
                <a:solidFill>
                  <a:srgbClr val="74808F"/>
                </a:solidFill>
                <a:latin typeface="JetBrains Mono" pitchFamily="34" charset="0"/>
                <a:ea typeface="JetBrains Mono" pitchFamily="34" charset="-122"/>
                <a:cs typeface="JetBrains Mono" pitchFamily="34" charset="-120"/>
              </a:rPr>
              <a:t>Engineering</a:t>
            </a:r>
            <a:endParaRPr lang="en-US" sz="975" dirty="0"/>
          </a:p>
        </p:txBody>
      </p:sp>
      <p:sp>
        <p:nvSpPr>
          <p:cNvPr id="18" name="Shape 15"/>
          <p:cNvSpPr/>
          <p:nvPr/>
        </p:nvSpPr>
        <p:spPr>
          <a:xfrm>
            <a:off x="15259422" y="9177464"/>
            <a:ext cx="1885578" cy="319088"/>
          </a:xfrm>
          <a:prstGeom prst="roundRect">
            <a:avLst>
              <a:gd name="adj" fmla="val 50000"/>
            </a:avLst>
          </a:prstGeom>
          <a:ln w="9525">
            <a:solidFill>
              <a:srgbClr val="2A3441"/>
            </a:solidFill>
            <a:prstDash val="solid"/>
          </a:ln>
        </p:spPr>
      </p:sp>
      <p:sp>
        <p:nvSpPr>
          <p:cNvPr id="19" name="Text 16"/>
          <p:cNvSpPr/>
          <p:nvPr/>
        </p:nvSpPr>
        <p:spPr>
          <a:xfrm>
            <a:off x="15402297" y="9253664"/>
            <a:ext cx="1676028" cy="204787"/>
          </a:xfrm>
          <a:prstGeom prst="rect">
            <a:avLst/>
          </a:prstGeom>
          <a:noFill/>
          <a:ln/>
        </p:spPr>
        <p:txBody>
          <a:bodyPr wrap="square" lIns="25400" tIns="25400" rIns="25400" bIns="25400" rtlCol="0" anchor="t">
            <a:normAutofit/>
          </a:bodyPr>
          <a:lstStyle/>
          <a:p>
            <a:pPr algn="l" indent="0" marL="0">
              <a:buNone/>
            </a:pPr>
            <a:r>
              <a:rPr lang="en-US" sz="975" spc="78" kern="0" dirty="0">
                <a:solidFill>
                  <a:srgbClr val="74808F"/>
                </a:solidFill>
                <a:latin typeface="JetBrains Mono" pitchFamily="34" charset="0"/>
                <a:ea typeface="JetBrains Mono" pitchFamily="34" charset="-122"/>
                <a:cs typeface="JetBrains Mono" pitchFamily="34" charset="-120"/>
              </a:rPr>
              <a:t>Solution Architects</a:t>
            </a:r>
            <a:endParaRPr lang="en-US" sz="9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1143000" y="800100"/>
            <a:ext cx="17602200" cy="214313"/>
          </a:xfrm>
          <a:prstGeom prst="rect">
            <a:avLst/>
          </a:prstGeom>
          <a:noFill/>
          <a:ln/>
        </p:spPr>
        <p:txBody>
          <a:bodyPr wrap="square" lIns="25400" tIns="25400" rIns="25400" bIns="25400" rtlCol="0" anchor="t">
            <a:normAutofit/>
          </a:bodyPr>
          <a:lstStyle/>
          <a:p>
            <a:pPr algn="l" indent="0" marL="0">
              <a:buNone/>
            </a:pPr>
            <a:r>
              <a:rPr lang="en-US" sz="1050" spc="336" kern="0" dirty="0">
                <a:solidFill>
                  <a:srgbClr val="00C2FF"/>
                </a:solidFill>
                <a:latin typeface="JetBrains Mono" pitchFamily="34" charset="0"/>
                <a:ea typeface="JetBrains Mono" pitchFamily="34" charset="-122"/>
                <a:cs typeface="JetBrains Mono" pitchFamily="34" charset="-120"/>
              </a:rPr>
              <a:t>02 / THE BUSINESS PROBLEM</a:t>
            </a:r>
            <a:endParaRPr lang="en-US" sz="1050" dirty="0"/>
          </a:p>
        </p:txBody>
      </p:sp>
      <p:sp>
        <p:nvSpPr>
          <p:cNvPr id="3" name="Text 1"/>
          <p:cNvSpPr/>
          <p:nvPr/>
        </p:nvSpPr>
        <p:spPr>
          <a:xfrm>
            <a:off x="1143000" y="1110319"/>
            <a:ext cx="17602200" cy="538162"/>
          </a:xfrm>
          <a:prstGeom prst="rect">
            <a:avLst/>
          </a:prstGeom>
          <a:noFill/>
          <a:ln/>
        </p:spPr>
        <p:txBody>
          <a:bodyPr wrap="square" lIns="25400" tIns="25400" rIns="25400" bIns="25400" rtlCol="0" anchor="t">
            <a:normAutofit/>
          </a:bodyPr>
          <a:lstStyle/>
          <a:p>
            <a:pPr algn="l" indent="0" marL="0">
              <a:lnSpc>
                <a:spcPct val="105000"/>
              </a:lnSpc>
              <a:buNone/>
            </a:pPr>
            <a:r>
              <a:rPr lang="en-US" sz="3750" b="1" spc="-75" kern="0" dirty="0">
                <a:solidFill>
                  <a:srgbClr val="FFFFFF"/>
                </a:solidFill>
                <a:latin typeface="Inter" pitchFamily="34" charset="0"/>
                <a:ea typeface="Inter" pitchFamily="34" charset="-122"/>
                <a:cs typeface="Inter" pitchFamily="34" charset="-120"/>
              </a:rPr>
              <a:t>HR leaders don't want reports. They want answers.</a:t>
            </a:r>
            <a:endParaRPr lang="en-US" sz="3750" dirty="0"/>
          </a:p>
        </p:txBody>
      </p:sp>
      <p:sp>
        <p:nvSpPr>
          <p:cNvPr id="4" name="Shape 2"/>
          <p:cNvSpPr/>
          <p:nvPr/>
        </p:nvSpPr>
        <p:spPr>
          <a:xfrm>
            <a:off x="1143000" y="1800881"/>
            <a:ext cx="609600" cy="28575"/>
          </a:xfrm>
          <a:prstGeom prst="roundRect">
            <a:avLst>
              <a:gd name="adj" fmla="val 50000"/>
            </a:avLst>
          </a:prstGeom>
          <a:solidFill>
            <a:srgbClr val="7A5AF8"/>
          </a:solidFill>
          <a:ln/>
        </p:spPr>
      </p:sp>
      <p:sp>
        <p:nvSpPr>
          <p:cNvPr id="5" name="Shape 3"/>
          <p:cNvSpPr/>
          <p:nvPr/>
        </p:nvSpPr>
        <p:spPr>
          <a:xfrm>
            <a:off x="1143000" y="3936862"/>
            <a:ext cx="609600" cy="609600"/>
          </a:xfrm>
          <a:prstGeom prst="ellipse">
            <a:avLst/>
          </a:prstGeom>
          <a:solidFill>
            <a:srgbClr val="161F2B"/>
          </a:solidFill>
          <a:ln w="9525">
            <a:solidFill>
              <a:srgbClr val="2A3441"/>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95400" y="4089262"/>
            <a:ext cx="304800" cy="304800"/>
          </a:xfrm>
          <a:prstGeom prst="rect">
            <a:avLst/>
          </a:prstGeom>
        </p:spPr>
      </p:pic>
      <p:sp>
        <p:nvSpPr>
          <p:cNvPr id="7" name="Text 4"/>
          <p:cNvSpPr/>
          <p:nvPr/>
        </p:nvSpPr>
        <p:spPr>
          <a:xfrm>
            <a:off x="1924050" y="4022587"/>
            <a:ext cx="2212881" cy="271463"/>
          </a:xfrm>
          <a:prstGeom prst="rect">
            <a:avLst/>
          </a:prstGeom>
          <a:noFill/>
          <a:ln/>
        </p:spPr>
        <p:txBody>
          <a:bodyPr wrap="square" lIns="25400" tIns="25400" rIns="25400" bIns="25400" rtlCol="0" anchor="t">
            <a:normAutofit/>
          </a:bodyPr>
          <a:lstStyle/>
          <a:p>
            <a:pPr algn="l" indent="0" marL="0">
              <a:buNone/>
            </a:pPr>
            <a:r>
              <a:rPr lang="en-US" sz="1500" b="1" dirty="0">
                <a:solidFill>
                  <a:srgbClr val="FFFFFF"/>
                </a:solidFill>
                <a:latin typeface="Inter" pitchFamily="34" charset="0"/>
                <a:ea typeface="Inter" pitchFamily="34" charset="-122"/>
                <a:cs typeface="Inter" pitchFamily="34" charset="-120"/>
              </a:rPr>
              <a:t>HR Manager</a:t>
            </a:r>
            <a:endParaRPr lang="en-US" sz="1500" dirty="0"/>
          </a:p>
        </p:txBody>
      </p:sp>
      <p:sp>
        <p:nvSpPr>
          <p:cNvPr id="8" name="Text 5"/>
          <p:cNvSpPr/>
          <p:nvPr/>
        </p:nvSpPr>
        <p:spPr>
          <a:xfrm>
            <a:off x="1924050" y="4255950"/>
            <a:ext cx="2212881" cy="242888"/>
          </a:xfrm>
          <a:prstGeom prst="rect">
            <a:avLst/>
          </a:prstGeom>
          <a:noFill/>
          <a:ln/>
        </p:spPr>
        <p:txBody>
          <a:bodyPr wrap="square" lIns="25400" tIns="25400" rIns="25400" bIns="25400" rtlCol="0" anchor="t">
            <a:normAutofit/>
          </a:bodyPr>
          <a:lstStyle/>
          <a:p>
            <a:pPr algn="l" indent="0" marL="0">
              <a:buNone/>
            </a:pPr>
            <a:r>
              <a:rPr lang="en-US" sz="1200" dirty="0">
                <a:solidFill>
                  <a:srgbClr val="74808F"/>
                </a:solidFill>
                <a:latin typeface="JetBrains Mono" pitchFamily="34" charset="0"/>
                <a:ea typeface="JetBrains Mono" pitchFamily="34" charset="-122"/>
                <a:cs typeface="JetBrains Mono" pitchFamily="34" charset="-120"/>
              </a:rPr>
              <a:t>asks, every single day</a:t>
            </a:r>
            <a:endParaRPr lang="en-US" sz="1200" dirty="0"/>
          </a:p>
        </p:txBody>
      </p:sp>
      <p:sp>
        <p:nvSpPr>
          <p:cNvPr id="9" name="Shape 6"/>
          <p:cNvSpPr/>
          <p:nvPr/>
        </p:nvSpPr>
        <p:spPr>
          <a:xfrm>
            <a:off x="1143000" y="4832212"/>
            <a:ext cx="8551292" cy="642937"/>
          </a:xfrm>
          <a:prstGeom prst="roundRect">
            <a:avLst>
              <a:gd name="adj" fmla="val 17778"/>
            </a:avLst>
          </a:prstGeom>
          <a:solidFill>
            <a:srgbClr val="161F2B"/>
          </a:solidFill>
          <a:ln w="9525">
            <a:solidFill>
              <a:srgbClr val="2A3441"/>
            </a:solidFill>
            <a:prstDash val="solid"/>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81125" y="5039381"/>
            <a:ext cx="228600" cy="228600"/>
          </a:xfrm>
          <a:prstGeom prst="rect">
            <a:avLst/>
          </a:prstGeom>
        </p:spPr>
      </p:pic>
      <p:sp>
        <p:nvSpPr>
          <p:cNvPr id="11" name="Text 7"/>
          <p:cNvSpPr/>
          <p:nvPr/>
        </p:nvSpPr>
        <p:spPr>
          <a:xfrm>
            <a:off x="1762125" y="5032237"/>
            <a:ext cx="4342023" cy="280988"/>
          </a:xfrm>
          <a:prstGeom prst="rect">
            <a:avLst/>
          </a:prstGeom>
          <a:noFill/>
          <a:ln/>
        </p:spPr>
        <p:txBody>
          <a:bodyPr wrap="square" lIns="25400" tIns="25400" rIns="25400" bIns="25400" rtlCol="0" anchor="t">
            <a:normAutofit/>
          </a:bodyPr>
          <a:lstStyle/>
          <a:p>
            <a:pPr algn="l" indent="0" marL="0">
              <a:buNone/>
            </a:pPr>
            <a:r>
              <a:rPr lang="en-US" sz="1575" dirty="0">
                <a:solidFill>
                  <a:srgbClr val="FFFFFF"/>
                </a:solidFill>
                <a:latin typeface="Inter" pitchFamily="34" charset="0"/>
                <a:ea typeface="Inter" pitchFamily="34" charset="-122"/>
                <a:cs typeface="Inter" pitchFamily="34" charset="-120"/>
              </a:rPr>
              <a:t>How many active employees do we have?</a:t>
            </a:r>
            <a:endParaRPr lang="en-US" sz="1575" dirty="0"/>
          </a:p>
        </p:txBody>
      </p:sp>
      <p:sp>
        <p:nvSpPr>
          <p:cNvPr id="12" name="Shape 8"/>
          <p:cNvSpPr/>
          <p:nvPr/>
        </p:nvSpPr>
        <p:spPr>
          <a:xfrm>
            <a:off x="1143000" y="5608500"/>
            <a:ext cx="8551292" cy="642938"/>
          </a:xfrm>
          <a:prstGeom prst="roundRect">
            <a:avLst>
              <a:gd name="adj" fmla="val 17778"/>
            </a:avLst>
          </a:prstGeom>
          <a:solidFill>
            <a:srgbClr val="161F2B"/>
          </a:solidFill>
          <a:ln w="9525">
            <a:solidFill>
              <a:srgbClr val="2A3441"/>
            </a:solidFill>
            <a:prstDash val="solid"/>
          </a:ln>
        </p:spPr>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81125" y="5815668"/>
            <a:ext cx="228600" cy="228600"/>
          </a:xfrm>
          <a:prstGeom prst="rect">
            <a:avLst/>
          </a:prstGeom>
        </p:spPr>
      </p:pic>
      <p:sp>
        <p:nvSpPr>
          <p:cNvPr id="14" name="Text 9"/>
          <p:cNvSpPr/>
          <p:nvPr/>
        </p:nvSpPr>
        <p:spPr>
          <a:xfrm>
            <a:off x="1762125" y="5808525"/>
            <a:ext cx="4541341" cy="280988"/>
          </a:xfrm>
          <a:prstGeom prst="rect">
            <a:avLst/>
          </a:prstGeom>
          <a:noFill/>
          <a:ln/>
        </p:spPr>
        <p:txBody>
          <a:bodyPr wrap="square" lIns="25400" tIns="25400" rIns="25400" bIns="25400" rtlCol="0" anchor="t">
            <a:normAutofit/>
          </a:bodyPr>
          <a:lstStyle/>
          <a:p>
            <a:pPr algn="l" indent="0" marL="0">
              <a:buNone/>
            </a:pPr>
            <a:r>
              <a:rPr lang="en-US" sz="1575" dirty="0">
                <a:solidFill>
                  <a:srgbClr val="FFFFFF"/>
                </a:solidFill>
                <a:latin typeface="Inter" pitchFamily="34" charset="0"/>
                <a:ea typeface="Inter" pitchFamily="34" charset="-122"/>
                <a:cs typeface="Inter" pitchFamily="34" charset="-120"/>
              </a:rPr>
              <a:t>What's overtime by department this month?</a:t>
            </a:r>
            <a:endParaRPr lang="en-US" sz="1575" dirty="0"/>
          </a:p>
        </p:txBody>
      </p:sp>
      <p:sp>
        <p:nvSpPr>
          <p:cNvPr id="15" name="Shape 10"/>
          <p:cNvSpPr/>
          <p:nvPr/>
        </p:nvSpPr>
        <p:spPr>
          <a:xfrm>
            <a:off x="1143000" y="6384787"/>
            <a:ext cx="8551292" cy="642938"/>
          </a:xfrm>
          <a:prstGeom prst="roundRect">
            <a:avLst>
              <a:gd name="adj" fmla="val 17778"/>
            </a:avLst>
          </a:prstGeom>
          <a:solidFill>
            <a:srgbClr val="161F2B"/>
          </a:solidFill>
          <a:ln w="9525">
            <a:solidFill>
              <a:srgbClr val="2A3441"/>
            </a:solidFill>
            <a:prstDash val="solid"/>
          </a:ln>
        </p:spPr>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81125" y="6591956"/>
            <a:ext cx="228600" cy="228600"/>
          </a:xfrm>
          <a:prstGeom prst="rect">
            <a:avLst/>
          </a:prstGeom>
        </p:spPr>
      </p:pic>
      <p:sp>
        <p:nvSpPr>
          <p:cNvPr id="17" name="Text 11"/>
          <p:cNvSpPr/>
          <p:nvPr/>
        </p:nvSpPr>
        <p:spPr>
          <a:xfrm>
            <a:off x="1762125" y="6584812"/>
            <a:ext cx="3186961" cy="280988"/>
          </a:xfrm>
          <a:prstGeom prst="rect">
            <a:avLst/>
          </a:prstGeom>
          <a:noFill/>
          <a:ln/>
        </p:spPr>
        <p:txBody>
          <a:bodyPr wrap="square" lIns="25400" tIns="25400" rIns="25400" bIns="25400" rtlCol="0" anchor="t">
            <a:normAutofit/>
          </a:bodyPr>
          <a:lstStyle/>
          <a:p>
            <a:pPr algn="l" indent="0" marL="0">
              <a:buNone/>
            </a:pPr>
            <a:r>
              <a:rPr lang="en-US" sz="1575" dirty="0">
                <a:solidFill>
                  <a:srgbClr val="FFFFFF"/>
                </a:solidFill>
                <a:latin typeface="Inter" pitchFamily="34" charset="0"/>
                <a:ea typeface="Inter" pitchFamily="34" charset="-122"/>
                <a:cs typeface="Inter" pitchFamily="34" charset="-120"/>
              </a:rPr>
              <a:t>What is salary cost by branch?</a:t>
            </a:r>
            <a:endParaRPr lang="en-US" sz="1575" dirty="0"/>
          </a:p>
        </p:txBody>
      </p:sp>
      <p:sp>
        <p:nvSpPr>
          <p:cNvPr id="18" name="Shape 12"/>
          <p:cNvSpPr/>
          <p:nvPr/>
        </p:nvSpPr>
        <p:spPr>
          <a:xfrm>
            <a:off x="1143000" y="7161075"/>
            <a:ext cx="8551292" cy="642938"/>
          </a:xfrm>
          <a:prstGeom prst="roundRect">
            <a:avLst>
              <a:gd name="adj" fmla="val 17778"/>
            </a:avLst>
          </a:prstGeom>
          <a:solidFill>
            <a:srgbClr val="161F2B"/>
          </a:solidFill>
          <a:ln w="9525">
            <a:solidFill>
              <a:srgbClr val="2A3441"/>
            </a:solidFill>
            <a:prstDash val="solid"/>
          </a:ln>
        </p:spPr>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81125" y="7368243"/>
            <a:ext cx="228600" cy="228600"/>
          </a:xfrm>
          <a:prstGeom prst="rect">
            <a:avLst/>
          </a:prstGeom>
        </p:spPr>
      </p:pic>
      <p:sp>
        <p:nvSpPr>
          <p:cNvPr id="20" name="Text 13"/>
          <p:cNvSpPr/>
          <p:nvPr/>
        </p:nvSpPr>
        <p:spPr>
          <a:xfrm>
            <a:off x="1762125" y="7361100"/>
            <a:ext cx="4489854" cy="280988"/>
          </a:xfrm>
          <a:prstGeom prst="rect">
            <a:avLst/>
          </a:prstGeom>
          <a:noFill/>
          <a:ln/>
        </p:spPr>
        <p:txBody>
          <a:bodyPr wrap="square" lIns="25400" tIns="25400" rIns="25400" bIns="25400" rtlCol="0" anchor="t">
            <a:normAutofit/>
          </a:bodyPr>
          <a:lstStyle/>
          <a:p>
            <a:pPr algn="l" indent="0" marL="0">
              <a:buNone/>
            </a:pPr>
            <a:r>
              <a:rPr lang="en-US" sz="1575" dirty="0">
                <a:solidFill>
                  <a:srgbClr val="FFFFFF"/>
                </a:solidFill>
                <a:latin typeface="Inter" pitchFamily="34" charset="0"/>
                <a:ea typeface="Inter" pitchFamily="34" charset="-122"/>
                <a:cs typeface="Inter" pitchFamily="34" charset="-120"/>
              </a:rPr>
              <a:t>Which teams have attendance below 80%?</a:t>
            </a:r>
            <a:endParaRPr lang="en-US" sz="1575" dirty="0"/>
          </a:p>
        </p:txBody>
      </p:sp>
      <p:sp>
        <p:nvSpPr>
          <p:cNvPr id="21" name="Shape 14"/>
          <p:cNvSpPr/>
          <p:nvPr/>
        </p:nvSpPr>
        <p:spPr>
          <a:xfrm>
            <a:off x="10303892" y="4170527"/>
            <a:ext cx="6841108" cy="3409950"/>
          </a:xfrm>
          <a:prstGeom prst="roundRect">
            <a:avLst>
              <a:gd name="adj" fmla="val 5028"/>
            </a:avLst>
          </a:prstGeom>
          <a:gradFill rotWithShape="1">
            <a:gsLst>
              <a:gs pos="0">
                <a:srgbClr val="131A23">
                  <a:alpha val="100000"/>
                </a:srgbClr>
              </a:gs>
              <a:gs pos="100000">
                <a:srgbClr val="10171F">
                  <a:alpha val="100000"/>
                </a:srgbClr>
              </a:gs>
            </a:gsLst>
            <a:lin ang="5400000" scaled="0"/>
          </a:gradFill>
          <a:ln w="9525">
            <a:solidFill>
              <a:srgbClr val="2A3441"/>
            </a:solidFill>
            <a:prstDash val="solid"/>
          </a:ln>
        </p:spPr>
      </p:sp>
      <p:sp>
        <p:nvSpPr>
          <p:cNvPr id="22" name="Text 15"/>
          <p:cNvSpPr/>
          <p:nvPr/>
        </p:nvSpPr>
        <p:spPr>
          <a:xfrm>
            <a:off x="12844314" y="4713452"/>
            <a:ext cx="1936291" cy="214313"/>
          </a:xfrm>
          <a:prstGeom prst="rect">
            <a:avLst/>
          </a:prstGeom>
          <a:noFill/>
          <a:ln/>
        </p:spPr>
        <p:txBody>
          <a:bodyPr wrap="square" lIns="25400" tIns="25400" rIns="25400" bIns="25400" rtlCol="0" anchor="t">
            <a:normAutofit/>
          </a:bodyPr>
          <a:lstStyle/>
          <a:p>
            <a:pPr algn="l" indent="0" marL="0">
              <a:buNone/>
            </a:pPr>
            <a:r>
              <a:rPr lang="en-US" sz="1050" spc="294" kern="0" dirty="0">
                <a:solidFill>
                  <a:srgbClr val="74808F"/>
                </a:solidFill>
                <a:latin typeface="JetBrains Mono" pitchFamily="34" charset="0"/>
                <a:ea typeface="JetBrains Mono" pitchFamily="34" charset="-122"/>
                <a:cs typeface="JetBrains Mono" pitchFamily="34" charset="-120"/>
              </a:rPr>
              <a:t>THE EXPECTATION</a:t>
            </a:r>
            <a:endParaRPr lang="en-US" sz="1050" dirty="0"/>
          </a:p>
        </p:txBody>
      </p:sp>
      <p:sp>
        <p:nvSpPr>
          <p:cNvPr id="23" name="Text 16"/>
          <p:cNvSpPr/>
          <p:nvPr/>
        </p:nvSpPr>
        <p:spPr>
          <a:xfrm>
            <a:off x="13101265" y="5061115"/>
            <a:ext cx="1370915"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Inter" pitchFamily="34" charset="0"/>
                <a:ea typeface="Inter" pitchFamily="34" charset="-122"/>
                <a:cs typeface="Inter" pitchFamily="34" charset="-120"/>
              </a:rPr>
              <a:t>Question</a:t>
            </a:r>
            <a:endParaRPr lang="en-US" sz="2250" dirty="0"/>
          </a:p>
        </p:txBody>
      </p:sp>
      <p:pic>
        <p:nvPicPr>
          <p:cNvPr id="2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581534" y="5575465"/>
            <a:ext cx="285750" cy="285750"/>
          </a:xfrm>
          <a:prstGeom prst="rect">
            <a:avLst/>
          </a:prstGeom>
        </p:spPr>
      </p:pic>
      <p:sp>
        <p:nvSpPr>
          <p:cNvPr id="25" name="Text 17"/>
          <p:cNvSpPr/>
          <p:nvPr/>
        </p:nvSpPr>
        <p:spPr>
          <a:xfrm>
            <a:off x="12281297" y="6032665"/>
            <a:ext cx="2886224" cy="381000"/>
          </a:xfrm>
          <a:prstGeom prst="rect">
            <a:avLst/>
          </a:prstGeom>
          <a:noFill/>
          <a:ln/>
        </p:spPr>
        <p:txBody>
          <a:bodyPr wrap="square" lIns="25400" tIns="25400" rIns="25400" bIns="25400" rtlCol="0" anchor="t">
            <a:normAutofit/>
          </a:bodyPr>
          <a:lstStyle/>
          <a:p>
            <a:pPr algn="ctr" indent="0" marL="0">
              <a:buNone/>
            </a:pPr>
            <a:r>
              <a:rPr lang="en-US" sz="2250" b="1" dirty="0">
                <a:solidFill>
                  <a:srgbClr val="FFFFFF"/>
                </a:solidFill>
                <a:latin typeface="Inter" pitchFamily="34" charset="0"/>
                <a:ea typeface="Inter" pitchFamily="34" charset="-122"/>
                <a:cs typeface="Inter" pitchFamily="34" charset="-120"/>
              </a:rPr>
              <a:t>Answer</a:t>
            </a:r>
            <a:endParaRPr lang="en-US" sz="2250" dirty="0"/>
          </a:p>
        </p:txBody>
      </p:sp>
      <p:sp>
        <p:nvSpPr>
          <p:cNvPr id="26" name="Text 18"/>
          <p:cNvSpPr/>
          <p:nvPr/>
        </p:nvSpPr>
        <p:spPr>
          <a:xfrm>
            <a:off x="12281297" y="6413665"/>
            <a:ext cx="2886224" cy="661987"/>
          </a:xfrm>
          <a:prstGeom prst="rect">
            <a:avLst/>
          </a:prstGeom>
          <a:noFill/>
          <a:ln/>
        </p:spPr>
        <p:txBody>
          <a:bodyPr wrap="square" lIns="25400" tIns="25400" rIns="25400" bIns="25400" rtlCol="0" anchor="t">
            <a:normAutofit/>
          </a:bodyPr>
          <a:lstStyle/>
          <a:p>
            <a:pPr algn="ctr" indent="0" marL="0">
              <a:buNone/>
            </a:pPr>
            <a:r>
              <a:rPr lang="en-US" sz="4050" b="1" spc="-81" kern="0" dirty="0">
                <a:solidFill>
                  <a:srgbClr val="00D084"/>
                </a:solidFill>
                <a:latin typeface="Inter" pitchFamily="34" charset="0"/>
                <a:ea typeface="Inter" pitchFamily="34" charset="-122"/>
                <a:cs typeface="Inter" pitchFamily="34" charset="-120"/>
              </a:rPr>
              <a:t>in seconds</a:t>
            </a:r>
            <a:endParaRPr lang="en-US" sz="4050" dirty="0"/>
          </a:p>
        </p:txBody>
      </p:sp>
      <p:sp>
        <p:nvSpPr>
          <p:cNvPr id="27" name="Shape 19"/>
          <p:cNvSpPr/>
          <p:nvPr/>
        </p:nvSpPr>
        <p:spPr>
          <a:xfrm>
            <a:off x="1143000" y="9577388"/>
            <a:ext cx="16002000" cy="9525"/>
          </a:xfrm>
          <a:prstGeom prst="rect">
            <a:avLst/>
          </a:prstGeom>
          <a:solidFill>
            <a:srgbClr val="2A3441"/>
          </a:solidFill>
          <a:ln/>
        </p:spPr>
      </p:sp>
      <p:sp>
        <p:nvSpPr>
          <p:cNvPr id="28" name="Text 20"/>
          <p:cNvSpPr/>
          <p:nvPr/>
        </p:nvSpPr>
        <p:spPr>
          <a:xfrm>
            <a:off x="1143000" y="9739313"/>
            <a:ext cx="89349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MINT HR OS</a:t>
            </a:r>
            <a:endParaRPr lang="en-US" sz="975" dirty="0"/>
          </a:p>
        </p:txBody>
      </p:sp>
      <p:sp>
        <p:nvSpPr>
          <p:cNvPr id="29" name="Text 21"/>
          <p:cNvSpPr/>
          <p:nvPr/>
        </p:nvSpPr>
        <p:spPr>
          <a:xfrm>
            <a:off x="7795543" y="9739313"/>
            <a:ext cx="323632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HR &amp; Payroll Intelligence in Seconds</a:t>
            </a:r>
            <a:endParaRPr lang="en-US" sz="975" dirty="0"/>
          </a:p>
        </p:txBody>
      </p:sp>
      <p:sp>
        <p:nvSpPr>
          <p:cNvPr id="30" name="Text 22"/>
          <p:cNvSpPr/>
          <p:nvPr/>
        </p:nvSpPr>
        <p:spPr>
          <a:xfrm>
            <a:off x="16572905" y="9739313"/>
            <a:ext cx="648295"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02 / 17</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1143000" y="800100"/>
            <a:ext cx="17602200" cy="214313"/>
          </a:xfrm>
          <a:prstGeom prst="rect">
            <a:avLst/>
          </a:prstGeom>
          <a:noFill/>
          <a:ln/>
        </p:spPr>
        <p:txBody>
          <a:bodyPr wrap="square" lIns="25400" tIns="25400" rIns="25400" bIns="25400" rtlCol="0" anchor="t">
            <a:normAutofit/>
          </a:bodyPr>
          <a:lstStyle/>
          <a:p>
            <a:pPr algn="l" indent="0" marL="0">
              <a:buNone/>
            </a:pPr>
            <a:r>
              <a:rPr lang="en-US" sz="1050" spc="336" kern="0" dirty="0">
                <a:solidFill>
                  <a:srgbClr val="FF6166"/>
                </a:solidFill>
                <a:latin typeface="JetBrains Mono" pitchFamily="34" charset="0"/>
                <a:ea typeface="JetBrains Mono" pitchFamily="34" charset="-122"/>
                <a:cs typeface="JetBrains Mono" pitchFamily="34" charset="-120"/>
              </a:rPr>
              <a:t>03 / TRADITIONAL TEXT-TO-SQL</a:t>
            </a:r>
            <a:endParaRPr lang="en-US" sz="1050" dirty="0"/>
          </a:p>
        </p:txBody>
      </p:sp>
      <p:sp>
        <p:nvSpPr>
          <p:cNvPr id="3" name="Text 1"/>
          <p:cNvSpPr/>
          <p:nvPr/>
        </p:nvSpPr>
        <p:spPr>
          <a:xfrm>
            <a:off x="1143000" y="1110057"/>
            <a:ext cx="1760220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spc="-75" kern="0" dirty="0">
                <a:solidFill>
                  <a:srgbClr val="FFFFFF"/>
                </a:solidFill>
                <a:latin typeface="Inter" pitchFamily="34" charset="0"/>
                <a:ea typeface="Inter" pitchFamily="34" charset="-122"/>
                <a:cs typeface="Inter" pitchFamily="34" charset="-120"/>
              </a:rPr>
              <a:t>The AI re-derives the query on every request</a:t>
            </a:r>
            <a:endParaRPr lang="en-US" sz="3750" dirty="0"/>
          </a:p>
        </p:txBody>
      </p:sp>
      <p:sp>
        <p:nvSpPr>
          <p:cNvPr id="4" name="Shape 2"/>
          <p:cNvSpPr/>
          <p:nvPr/>
        </p:nvSpPr>
        <p:spPr>
          <a:xfrm>
            <a:off x="1143000" y="1800619"/>
            <a:ext cx="609600" cy="28575"/>
          </a:xfrm>
          <a:prstGeom prst="roundRect">
            <a:avLst>
              <a:gd name="adj" fmla="val 50000"/>
            </a:avLst>
          </a:prstGeom>
          <a:solidFill>
            <a:srgbClr val="FF6166"/>
          </a:solidFill>
          <a:ln/>
        </p:spPr>
      </p:sp>
      <p:sp>
        <p:nvSpPr>
          <p:cNvPr id="5" name="Shape 3"/>
          <p:cNvSpPr/>
          <p:nvPr/>
        </p:nvSpPr>
        <p:spPr>
          <a:xfrm>
            <a:off x="3537570" y="2593145"/>
            <a:ext cx="1504950" cy="1016794"/>
          </a:xfrm>
          <a:prstGeom prst="roundRect">
            <a:avLst>
              <a:gd name="adj" fmla="val 11241"/>
            </a:avLst>
          </a:prstGeom>
          <a:solidFill>
            <a:srgbClr val="161F2B"/>
          </a:solidFill>
          <a:ln w="9525">
            <a:solidFill>
              <a:srgbClr val="2A3441"/>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47170" y="2812220"/>
            <a:ext cx="285750" cy="285750"/>
          </a:xfrm>
          <a:prstGeom prst="rect">
            <a:avLst/>
          </a:prstGeom>
        </p:spPr>
      </p:pic>
      <p:sp>
        <p:nvSpPr>
          <p:cNvPr id="7" name="Text 4"/>
          <p:cNvSpPr/>
          <p:nvPr/>
        </p:nvSpPr>
        <p:spPr>
          <a:xfrm>
            <a:off x="3945136" y="3212270"/>
            <a:ext cx="689744" cy="216694"/>
          </a:xfrm>
          <a:prstGeom prst="rect">
            <a:avLst/>
          </a:prstGeom>
          <a:noFill/>
          <a:ln/>
        </p:spPr>
        <p:txBody>
          <a:bodyPr wrap="square" lIns="25400" tIns="25400" rIns="25400" bIns="25400" rtlCol="0" anchor="t">
            <a:normAutofit/>
          </a:bodyPr>
          <a:lstStyle/>
          <a:p>
            <a:pPr algn="ctr" indent="0" marL="0">
              <a:lnSpc>
                <a:spcPct val="125000"/>
              </a:lnSpc>
              <a:buNone/>
            </a:pPr>
            <a:r>
              <a:rPr lang="en-US" sz="1125" dirty="0">
                <a:solidFill>
                  <a:srgbClr val="FFFFFF"/>
                </a:solidFill>
                <a:latin typeface="Inter" pitchFamily="34" charset="0"/>
                <a:ea typeface="Inter" pitchFamily="34" charset="-122"/>
                <a:cs typeface="Inter" pitchFamily="34" charset="-120"/>
              </a:rPr>
              <a:t>Question</a:t>
            </a:r>
            <a:endParaRPr lang="en-US" sz="1125"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73935" y="2878895"/>
            <a:ext cx="228600" cy="228600"/>
          </a:xfrm>
          <a:prstGeom prst="rect">
            <a:avLst/>
          </a:prstGeom>
        </p:spPr>
      </p:pic>
      <p:sp>
        <p:nvSpPr>
          <p:cNvPr id="9" name="Text 5"/>
          <p:cNvSpPr/>
          <p:nvPr/>
        </p:nvSpPr>
        <p:spPr>
          <a:xfrm>
            <a:off x="5099670" y="3155120"/>
            <a:ext cx="453405" cy="176212"/>
          </a:xfrm>
          <a:prstGeom prst="rect">
            <a:avLst/>
          </a:prstGeom>
          <a:noFill/>
          <a:ln/>
        </p:spPr>
        <p:txBody>
          <a:bodyPr wrap="square" lIns="25400" tIns="25400" rIns="25400" bIns="25400" rtlCol="0" anchor="t">
            <a:normAutofit/>
          </a:bodyPr>
          <a:lstStyle/>
          <a:p>
            <a:pPr algn="l" indent="0" marL="0">
              <a:buNone/>
            </a:pPr>
            <a:r>
              <a:rPr lang="en-US" sz="825" dirty="0">
                <a:solidFill>
                  <a:srgbClr val="FF6166"/>
                </a:solidFill>
                <a:latin typeface="JetBrains Mono" pitchFamily="34" charset="0"/>
                <a:ea typeface="JetBrains Mono" pitchFamily="34" charset="-122"/>
                <a:cs typeface="JetBrains Mono" pitchFamily="34" charset="-120"/>
              </a:rPr>
              <a:t>+220ms</a:t>
            </a:r>
            <a:endParaRPr lang="en-US" sz="825" dirty="0"/>
          </a:p>
        </p:txBody>
      </p:sp>
      <p:sp>
        <p:nvSpPr>
          <p:cNvPr id="10" name="Shape 6"/>
          <p:cNvSpPr/>
          <p:nvPr/>
        </p:nvSpPr>
        <p:spPr>
          <a:xfrm>
            <a:off x="5534025" y="2593145"/>
            <a:ext cx="1504950" cy="1016794"/>
          </a:xfrm>
          <a:prstGeom prst="roundRect">
            <a:avLst>
              <a:gd name="adj" fmla="val 11241"/>
            </a:avLst>
          </a:prstGeom>
          <a:solidFill>
            <a:srgbClr val="161F2B"/>
          </a:solidFill>
          <a:ln w="9525">
            <a:solidFill>
              <a:srgbClr val="FF6166"/>
            </a:solidFill>
            <a:prstDash val="solid"/>
          </a:ln>
        </p:spPr>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43625" y="2812220"/>
            <a:ext cx="285750" cy="285750"/>
          </a:xfrm>
          <a:prstGeom prst="rect">
            <a:avLst/>
          </a:prstGeom>
        </p:spPr>
      </p:pic>
      <p:sp>
        <p:nvSpPr>
          <p:cNvPr id="12" name="Text 7"/>
          <p:cNvSpPr/>
          <p:nvPr/>
        </p:nvSpPr>
        <p:spPr>
          <a:xfrm>
            <a:off x="5713437" y="3212270"/>
            <a:ext cx="1146125" cy="216694"/>
          </a:xfrm>
          <a:prstGeom prst="rect">
            <a:avLst/>
          </a:prstGeom>
          <a:noFill/>
          <a:ln/>
        </p:spPr>
        <p:txBody>
          <a:bodyPr wrap="square" lIns="25400" tIns="25400" rIns="25400" bIns="25400" rtlCol="0" anchor="t">
            <a:normAutofit/>
          </a:bodyPr>
          <a:lstStyle/>
          <a:p>
            <a:pPr algn="ctr" indent="0" marL="0">
              <a:lnSpc>
                <a:spcPct val="125000"/>
              </a:lnSpc>
              <a:buNone/>
            </a:pPr>
            <a:r>
              <a:rPr lang="en-US" sz="1125" dirty="0">
                <a:solidFill>
                  <a:srgbClr val="FFFFFF"/>
                </a:solidFill>
                <a:latin typeface="Inter" pitchFamily="34" charset="0"/>
                <a:ea typeface="Inter" pitchFamily="34" charset="-122"/>
                <a:cs typeface="Inter" pitchFamily="34" charset="-120"/>
              </a:rPr>
              <a:t>LLM writes SQL</a:t>
            </a:r>
            <a:endParaRPr lang="en-US" sz="1125"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38988" y="2878895"/>
            <a:ext cx="228600" cy="228600"/>
          </a:xfrm>
          <a:prstGeom prst="rect">
            <a:avLst/>
          </a:prstGeom>
        </p:spPr>
      </p:pic>
      <p:sp>
        <p:nvSpPr>
          <p:cNvPr id="14" name="Text 8"/>
          <p:cNvSpPr/>
          <p:nvPr/>
        </p:nvSpPr>
        <p:spPr>
          <a:xfrm>
            <a:off x="7096125" y="3155120"/>
            <a:ext cx="390525" cy="176212"/>
          </a:xfrm>
          <a:prstGeom prst="rect">
            <a:avLst/>
          </a:prstGeom>
          <a:noFill/>
          <a:ln/>
        </p:spPr>
        <p:txBody>
          <a:bodyPr wrap="square" lIns="25400" tIns="25400" rIns="25400" bIns="25400" rtlCol="0" anchor="t">
            <a:normAutofit/>
          </a:bodyPr>
          <a:lstStyle/>
          <a:p>
            <a:pPr algn="l" indent="0" marL="0">
              <a:buNone/>
            </a:pPr>
            <a:r>
              <a:rPr lang="en-US" sz="825" dirty="0">
                <a:solidFill>
                  <a:srgbClr val="FF6166"/>
                </a:solidFill>
                <a:latin typeface="JetBrains Mono" pitchFamily="34" charset="0"/>
                <a:ea typeface="JetBrains Mono" pitchFamily="34" charset="-122"/>
                <a:cs typeface="JetBrains Mono" pitchFamily="34" charset="-120"/>
              </a:rPr>
              <a:t>+90ms</a:t>
            </a:r>
            <a:endParaRPr lang="en-US" sz="825" dirty="0"/>
          </a:p>
        </p:txBody>
      </p:sp>
      <p:sp>
        <p:nvSpPr>
          <p:cNvPr id="15" name="Shape 9"/>
          <p:cNvSpPr/>
          <p:nvPr/>
        </p:nvSpPr>
        <p:spPr>
          <a:xfrm>
            <a:off x="7467600" y="2593145"/>
            <a:ext cx="1504950" cy="1016794"/>
          </a:xfrm>
          <a:prstGeom prst="roundRect">
            <a:avLst>
              <a:gd name="adj" fmla="val 11241"/>
            </a:avLst>
          </a:prstGeom>
          <a:solidFill>
            <a:srgbClr val="161F2B"/>
          </a:solidFill>
          <a:ln w="9525">
            <a:solidFill>
              <a:srgbClr val="2A3441"/>
            </a:solidFill>
            <a:prstDash val="solid"/>
          </a:ln>
        </p:spPr>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77200" y="2812220"/>
            <a:ext cx="285750" cy="285750"/>
          </a:xfrm>
          <a:prstGeom prst="rect">
            <a:avLst/>
          </a:prstGeom>
        </p:spPr>
      </p:pic>
      <p:sp>
        <p:nvSpPr>
          <p:cNvPr id="17" name="Text 10"/>
          <p:cNvSpPr/>
          <p:nvPr/>
        </p:nvSpPr>
        <p:spPr>
          <a:xfrm>
            <a:off x="7908280" y="3212270"/>
            <a:ext cx="623515" cy="216694"/>
          </a:xfrm>
          <a:prstGeom prst="rect">
            <a:avLst/>
          </a:prstGeom>
          <a:noFill/>
          <a:ln/>
        </p:spPr>
        <p:txBody>
          <a:bodyPr wrap="square" lIns="25400" tIns="25400" rIns="25400" bIns="25400" rtlCol="0" anchor="t">
            <a:normAutofit/>
          </a:bodyPr>
          <a:lstStyle/>
          <a:p>
            <a:pPr algn="ctr" indent="0" marL="0">
              <a:lnSpc>
                <a:spcPct val="125000"/>
              </a:lnSpc>
              <a:buNone/>
            </a:pPr>
            <a:r>
              <a:rPr lang="en-US" sz="1125" dirty="0">
                <a:solidFill>
                  <a:srgbClr val="FFFFFF"/>
                </a:solidFill>
                <a:latin typeface="Inter" pitchFamily="34" charset="0"/>
                <a:ea typeface="Inter" pitchFamily="34" charset="-122"/>
                <a:cs typeface="Inter" pitchFamily="34" charset="-120"/>
              </a:rPr>
              <a:t>Validate</a:t>
            </a:r>
            <a:endParaRPr lang="en-US" sz="1125" dirty="0"/>
          </a:p>
        </p:txBody>
      </p:sp>
      <p:pic>
        <p:nvPicPr>
          <p:cNvPr id="1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103965" y="2878895"/>
            <a:ext cx="228600" cy="228600"/>
          </a:xfrm>
          <a:prstGeom prst="rect">
            <a:avLst/>
          </a:prstGeom>
        </p:spPr>
      </p:pic>
      <p:sp>
        <p:nvSpPr>
          <p:cNvPr id="19" name="Text 11"/>
          <p:cNvSpPr/>
          <p:nvPr/>
        </p:nvSpPr>
        <p:spPr>
          <a:xfrm>
            <a:off x="9029700" y="3155120"/>
            <a:ext cx="453405" cy="176212"/>
          </a:xfrm>
          <a:prstGeom prst="rect">
            <a:avLst/>
          </a:prstGeom>
          <a:noFill/>
          <a:ln/>
        </p:spPr>
        <p:txBody>
          <a:bodyPr wrap="square" lIns="25400" tIns="25400" rIns="25400" bIns="25400" rtlCol="0" anchor="t">
            <a:normAutofit/>
          </a:bodyPr>
          <a:lstStyle/>
          <a:p>
            <a:pPr algn="l" indent="0" marL="0">
              <a:buNone/>
            </a:pPr>
            <a:r>
              <a:rPr lang="en-US" sz="825" dirty="0">
                <a:solidFill>
                  <a:srgbClr val="FF6166"/>
                </a:solidFill>
                <a:latin typeface="JetBrains Mono" pitchFamily="34" charset="0"/>
                <a:ea typeface="JetBrains Mono" pitchFamily="34" charset="-122"/>
                <a:cs typeface="JetBrains Mono" pitchFamily="34" charset="-120"/>
              </a:rPr>
              <a:t>+140ms</a:t>
            </a:r>
            <a:endParaRPr lang="en-US" sz="825" dirty="0"/>
          </a:p>
        </p:txBody>
      </p:sp>
      <p:sp>
        <p:nvSpPr>
          <p:cNvPr id="20" name="Shape 12"/>
          <p:cNvSpPr/>
          <p:nvPr/>
        </p:nvSpPr>
        <p:spPr>
          <a:xfrm>
            <a:off x="9464055" y="2593145"/>
            <a:ext cx="1504950" cy="1016794"/>
          </a:xfrm>
          <a:prstGeom prst="roundRect">
            <a:avLst>
              <a:gd name="adj" fmla="val 11241"/>
            </a:avLst>
          </a:prstGeom>
          <a:solidFill>
            <a:srgbClr val="161F2B"/>
          </a:solidFill>
          <a:ln w="9525">
            <a:solidFill>
              <a:srgbClr val="FFB020"/>
            </a:solidFill>
            <a:prstDash val="solid"/>
          </a:ln>
        </p:spPr>
      </p:sp>
      <p:pic>
        <p:nvPicPr>
          <p:cNvPr id="21"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073655" y="2812220"/>
            <a:ext cx="285750" cy="285750"/>
          </a:xfrm>
          <a:prstGeom prst="rect">
            <a:avLst/>
          </a:prstGeom>
        </p:spPr>
      </p:pic>
      <p:sp>
        <p:nvSpPr>
          <p:cNvPr id="22" name="Text 13"/>
          <p:cNvSpPr/>
          <p:nvPr/>
        </p:nvSpPr>
        <p:spPr>
          <a:xfrm>
            <a:off x="9960099" y="3212270"/>
            <a:ext cx="512862" cy="216694"/>
          </a:xfrm>
          <a:prstGeom prst="rect">
            <a:avLst/>
          </a:prstGeom>
          <a:noFill/>
          <a:ln/>
        </p:spPr>
        <p:txBody>
          <a:bodyPr wrap="square" lIns="25400" tIns="25400" rIns="25400" bIns="25400" rtlCol="0" anchor="t">
            <a:normAutofit/>
          </a:bodyPr>
          <a:lstStyle/>
          <a:p>
            <a:pPr algn="ctr" indent="0" marL="0">
              <a:lnSpc>
                <a:spcPct val="125000"/>
              </a:lnSpc>
              <a:buNone/>
            </a:pPr>
            <a:r>
              <a:rPr lang="en-US" sz="1125" dirty="0">
                <a:solidFill>
                  <a:srgbClr val="FFFFFF"/>
                </a:solidFill>
                <a:latin typeface="Inter" pitchFamily="34" charset="0"/>
                <a:ea typeface="Inter" pitchFamily="34" charset="-122"/>
                <a:cs typeface="Inter" pitchFamily="34" charset="-120"/>
              </a:rPr>
              <a:t>Repair</a:t>
            </a:r>
            <a:endParaRPr lang="en-US" sz="1125" dirty="0"/>
          </a:p>
        </p:txBody>
      </p:sp>
      <p:pic>
        <p:nvPicPr>
          <p:cNvPr id="23"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069017" y="2878895"/>
            <a:ext cx="228600" cy="228600"/>
          </a:xfrm>
          <a:prstGeom prst="rect">
            <a:avLst/>
          </a:prstGeom>
        </p:spPr>
      </p:pic>
      <p:sp>
        <p:nvSpPr>
          <p:cNvPr id="24" name="Text 14"/>
          <p:cNvSpPr/>
          <p:nvPr/>
        </p:nvSpPr>
        <p:spPr>
          <a:xfrm>
            <a:off x="11026155" y="3155120"/>
            <a:ext cx="390525" cy="176212"/>
          </a:xfrm>
          <a:prstGeom prst="rect">
            <a:avLst/>
          </a:prstGeom>
          <a:noFill/>
          <a:ln/>
        </p:spPr>
        <p:txBody>
          <a:bodyPr wrap="square" lIns="25400" tIns="25400" rIns="25400" bIns="25400" rtlCol="0" anchor="t">
            <a:normAutofit/>
          </a:bodyPr>
          <a:lstStyle/>
          <a:p>
            <a:pPr algn="l" indent="0" marL="0">
              <a:buNone/>
            </a:pPr>
            <a:r>
              <a:rPr lang="en-US" sz="825" dirty="0">
                <a:solidFill>
                  <a:srgbClr val="FFB020"/>
                </a:solidFill>
                <a:latin typeface="JetBrains Mono" pitchFamily="34" charset="0"/>
                <a:ea typeface="JetBrains Mono" pitchFamily="34" charset="-122"/>
                <a:cs typeface="JetBrains Mono" pitchFamily="34" charset="-120"/>
              </a:rPr>
              <a:t>retry</a:t>
            </a:r>
            <a:endParaRPr lang="en-US" sz="825" dirty="0"/>
          </a:p>
        </p:txBody>
      </p:sp>
      <p:sp>
        <p:nvSpPr>
          <p:cNvPr id="25" name="Shape 15"/>
          <p:cNvSpPr/>
          <p:nvPr/>
        </p:nvSpPr>
        <p:spPr>
          <a:xfrm>
            <a:off x="11397630" y="2593145"/>
            <a:ext cx="1504950" cy="1016794"/>
          </a:xfrm>
          <a:prstGeom prst="roundRect">
            <a:avLst>
              <a:gd name="adj" fmla="val 11241"/>
            </a:avLst>
          </a:prstGeom>
          <a:solidFill>
            <a:srgbClr val="161F2B"/>
          </a:solidFill>
          <a:ln w="9525">
            <a:solidFill>
              <a:srgbClr val="2A3441"/>
            </a:solidFill>
            <a:prstDash val="solid"/>
          </a:ln>
        </p:spPr>
      </p:sp>
      <p:pic>
        <p:nvPicPr>
          <p:cNvPr id="26"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2007230" y="2812220"/>
            <a:ext cx="285750" cy="285750"/>
          </a:xfrm>
          <a:prstGeom prst="rect">
            <a:avLst/>
          </a:prstGeom>
        </p:spPr>
      </p:pic>
      <p:sp>
        <p:nvSpPr>
          <p:cNvPr id="27" name="Text 16"/>
          <p:cNvSpPr/>
          <p:nvPr/>
        </p:nvSpPr>
        <p:spPr>
          <a:xfrm>
            <a:off x="11788750" y="3212270"/>
            <a:ext cx="722635" cy="216694"/>
          </a:xfrm>
          <a:prstGeom prst="rect">
            <a:avLst/>
          </a:prstGeom>
          <a:noFill/>
          <a:ln/>
        </p:spPr>
        <p:txBody>
          <a:bodyPr wrap="square" lIns="25400" tIns="25400" rIns="25400" bIns="25400" rtlCol="0" anchor="t">
            <a:normAutofit/>
          </a:bodyPr>
          <a:lstStyle/>
          <a:p>
            <a:pPr algn="ctr" indent="0" marL="0">
              <a:lnSpc>
                <a:spcPct val="125000"/>
              </a:lnSpc>
              <a:buNone/>
            </a:pPr>
            <a:r>
              <a:rPr lang="en-US" sz="1125" dirty="0">
                <a:solidFill>
                  <a:srgbClr val="FFFFFF"/>
                </a:solidFill>
                <a:latin typeface="Inter" pitchFamily="34" charset="0"/>
                <a:ea typeface="Inter" pitchFamily="34" charset="-122"/>
                <a:cs typeface="Inter" pitchFamily="34" charset="-120"/>
              </a:rPr>
              <a:t>Database</a:t>
            </a:r>
            <a:endParaRPr lang="en-US" sz="1125" dirty="0"/>
          </a:p>
        </p:txBody>
      </p:sp>
      <p:pic>
        <p:nvPicPr>
          <p:cNvPr id="28"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2959730" y="2878895"/>
            <a:ext cx="228600" cy="228600"/>
          </a:xfrm>
          <a:prstGeom prst="rect">
            <a:avLst/>
          </a:prstGeom>
        </p:spPr>
      </p:pic>
      <p:sp>
        <p:nvSpPr>
          <p:cNvPr id="29" name="Shape 17"/>
          <p:cNvSpPr/>
          <p:nvPr/>
        </p:nvSpPr>
        <p:spPr>
          <a:xfrm>
            <a:off x="13245480" y="2593145"/>
            <a:ext cx="1504950" cy="1016794"/>
          </a:xfrm>
          <a:prstGeom prst="roundRect">
            <a:avLst>
              <a:gd name="adj" fmla="val 11241"/>
            </a:avLst>
          </a:prstGeom>
          <a:solidFill>
            <a:srgbClr val="161F2B"/>
          </a:solidFill>
          <a:ln w="9525">
            <a:solidFill>
              <a:srgbClr val="2A3441"/>
            </a:solidFill>
            <a:prstDash val="solid"/>
          </a:ln>
        </p:spPr>
      </p:sp>
      <p:pic>
        <p:nvPicPr>
          <p:cNvPr id="30"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3855080" y="2812220"/>
            <a:ext cx="285750" cy="285750"/>
          </a:xfrm>
          <a:prstGeom prst="rect">
            <a:avLst/>
          </a:prstGeom>
        </p:spPr>
      </p:pic>
      <p:sp>
        <p:nvSpPr>
          <p:cNvPr id="31" name="Text 18"/>
          <p:cNvSpPr/>
          <p:nvPr/>
        </p:nvSpPr>
        <p:spPr>
          <a:xfrm>
            <a:off x="13700150" y="3212270"/>
            <a:ext cx="595610" cy="216694"/>
          </a:xfrm>
          <a:prstGeom prst="rect">
            <a:avLst/>
          </a:prstGeom>
          <a:noFill/>
          <a:ln/>
        </p:spPr>
        <p:txBody>
          <a:bodyPr wrap="square" lIns="25400" tIns="25400" rIns="25400" bIns="25400" rtlCol="0" anchor="t">
            <a:normAutofit/>
          </a:bodyPr>
          <a:lstStyle/>
          <a:p>
            <a:pPr algn="ctr" indent="0" marL="0">
              <a:lnSpc>
                <a:spcPct val="125000"/>
              </a:lnSpc>
              <a:buNone/>
            </a:pPr>
            <a:r>
              <a:rPr lang="en-US" sz="1125" dirty="0">
                <a:solidFill>
                  <a:srgbClr val="FFFFFF"/>
                </a:solidFill>
                <a:latin typeface="Inter" pitchFamily="34" charset="0"/>
                <a:ea typeface="Inter" pitchFamily="34" charset="-122"/>
                <a:cs typeface="Inter" pitchFamily="34" charset="-120"/>
              </a:rPr>
              <a:t>Answer</a:t>
            </a:r>
            <a:endParaRPr lang="en-US" sz="1125" dirty="0"/>
          </a:p>
        </p:txBody>
      </p:sp>
      <p:sp>
        <p:nvSpPr>
          <p:cNvPr id="32" name="Shape 19"/>
          <p:cNvSpPr/>
          <p:nvPr/>
        </p:nvSpPr>
        <p:spPr>
          <a:xfrm>
            <a:off x="6818858" y="3785766"/>
            <a:ext cx="4650284" cy="338138"/>
          </a:xfrm>
          <a:prstGeom prst="roundRect">
            <a:avLst>
              <a:gd name="adj" fmla="val 50000"/>
            </a:avLst>
          </a:prstGeom>
          <a:ln w="9525">
            <a:solidFill>
              <a:srgbClr val="FF6166"/>
            </a:solidFill>
            <a:prstDash val="dash"/>
          </a:ln>
        </p:spPr>
      </p:sp>
      <p:sp>
        <p:nvSpPr>
          <p:cNvPr id="33" name="Text 20"/>
          <p:cNvSpPr/>
          <p:nvPr/>
        </p:nvSpPr>
        <p:spPr>
          <a:xfrm>
            <a:off x="7018883" y="3871491"/>
            <a:ext cx="4389742" cy="204788"/>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FF6166"/>
                </a:solidFill>
                <a:latin typeface="JetBrains Mono" pitchFamily="34" charset="0"/>
                <a:ea typeface="JetBrains Mono" pitchFamily="34" charset="-122"/>
                <a:cs typeface="JetBrains Mono" pitchFamily="34" charset="-120"/>
              </a:rPr>
              <a:t>Validate → Repair → Retry loops until the SQL parses</a:t>
            </a:r>
            <a:endParaRPr lang="en-US" sz="975" dirty="0"/>
          </a:p>
        </p:txBody>
      </p:sp>
      <p:sp>
        <p:nvSpPr>
          <p:cNvPr id="34" name="Shape 21"/>
          <p:cNvSpPr/>
          <p:nvPr/>
        </p:nvSpPr>
        <p:spPr>
          <a:xfrm>
            <a:off x="1143000" y="8325701"/>
            <a:ext cx="16002000" cy="1062038"/>
          </a:xfrm>
          <a:prstGeom prst="roundRect">
            <a:avLst>
              <a:gd name="adj" fmla="val 10762"/>
            </a:avLst>
          </a:prstGeom>
          <a:solidFill>
            <a:srgbClr val="FF6166">
              <a:alpha val="8000"/>
            </a:srgbClr>
          </a:solidFill>
          <a:ln/>
        </p:spPr>
      </p:sp>
      <p:sp>
        <p:nvSpPr>
          <p:cNvPr id="35" name="Shape 22"/>
          <p:cNvSpPr/>
          <p:nvPr/>
        </p:nvSpPr>
        <p:spPr>
          <a:xfrm>
            <a:off x="1143000" y="9378214"/>
            <a:ext cx="16002000" cy="9525"/>
          </a:xfrm>
          <a:prstGeom prst="rect">
            <a:avLst/>
          </a:prstGeom>
          <a:solidFill>
            <a:srgbClr val="FF6166">
              <a:alpha val="40000"/>
            </a:srgbClr>
          </a:solidFill>
          <a:ln/>
        </p:spPr>
      </p:sp>
      <p:sp>
        <p:nvSpPr>
          <p:cNvPr id="36" name="Shape 23"/>
          <p:cNvSpPr/>
          <p:nvPr/>
        </p:nvSpPr>
        <p:spPr>
          <a:xfrm>
            <a:off x="1143000" y="8325701"/>
            <a:ext cx="16002000" cy="9525"/>
          </a:xfrm>
          <a:prstGeom prst="rect">
            <a:avLst/>
          </a:prstGeom>
          <a:solidFill>
            <a:srgbClr val="FF6166">
              <a:alpha val="40000"/>
            </a:srgbClr>
          </a:solidFill>
          <a:ln/>
        </p:spPr>
      </p:sp>
      <p:sp>
        <p:nvSpPr>
          <p:cNvPr id="37" name="Shape 24"/>
          <p:cNvSpPr/>
          <p:nvPr/>
        </p:nvSpPr>
        <p:spPr>
          <a:xfrm>
            <a:off x="1143000" y="8325701"/>
            <a:ext cx="38100" cy="1062038"/>
          </a:xfrm>
          <a:prstGeom prst="rect">
            <a:avLst/>
          </a:prstGeom>
          <a:solidFill>
            <a:srgbClr val="FF6166"/>
          </a:solidFill>
          <a:ln/>
        </p:spPr>
      </p:sp>
      <p:sp>
        <p:nvSpPr>
          <p:cNvPr id="38" name="Shape 25"/>
          <p:cNvSpPr/>
          <p:nvPr/>
        </p:nvSpPr>
        <p:spPr>
          <a:xfrm>
            <a:off x="17135475" y="8325701"/>
            <a:ext cx="9525" cy="1062038"/>
          </a:xfrm>
          <a:prstGeom prst="rect">
            <a:avLst/>
          </a:prstGeom>
          <a:solidFill>
            <a:srgbClr val="FF6166">
              <a:alpha val="40000"/>
            </a:srgbClr>
          </a:solidFill>
          <a:ln/>
        </p:spPr>
      </p:sp>
      <p:pic>
        <p:nvPicPr>
          <p:cNvPr id="39"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485900" y="8694795"/>
            <a:ext cx="323850" cy="323850"/>
          </a:xfrm>
          <a:prstGeom prst="rect">
            <a:avLst/>
          </a:prstGeom>
        </p:spPr>
      </p:pic>
      <p:sp>
        <p:nvSpPr>
          <p:cNvPr id="40" name="Text 26"/>
          <p:cNvSpPr/>
          <p:nvPr/>
        </p:nvSpPr>
        <p:spPr>
          <a:xfrm>
            <a:off x="2000250" y="8582876"/>
            <a:ext cx="8839899" cy="338138"/>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Inter" pitchFamily="34" charset="0"/>
                <a:ea typeface="Inter" pitchFamily="34" charset="-122"/>
                <a:cs typeface="Inter" pitchFamily="34" charset="-120"/>
              </a:rPr>
              <a:t>AI rethinks the problem every single time.</a:t>
            </a:r>
            <a:endParaRPr lang="en-US" sz="1950" dirty="0"/>
          </a:p>
        </p:txBody>
      </p:sp>
      <p:sp>
        <p:nvSpPr>
          <p:cNvPr id="41" name="Text 27"/>
          <p:cNvSpPr/>
          <p:nvPr/>
        </p:nvSpPr>
        <p:spPr>
          <a:xfrm>
            <a:off x="2000250" y="8921014"/>
            <a:ext cx="8839899" cy="247650"/>
          </a:xfrm>
          <a:prstGeom prst="rect">
            <a:avLst/>
          </a:prstGeom>
          <a:noFill/>
          <a:ln/>
        </p:spPr>
        <p:txBody>
          <a:bodyPr wrap="square" lIns="25400" tIns="25400" rIns="25400" bIns="25400" rtlCol="0" anchor="t">
            <a:normAutofit/>
          </a:bodyPr>
          <a:lstStyle/>
          <a:p>
            <a:pPr algn="l" indent="0" marL="0">
              <a:buNone/>
            </a:pPr>
            <a:r>
              <a:rPr lang="en-US" sz="1350" dirty="0">
                <a:solidFill>
                  <a:srgbClr val="B7C0CD"/>
                </a:solidFill>
                <a:latin typeface="Inter" pitchFamily="34" charset="0"/>
                <a:ea typeface="Inter" pitchFamily="34" charset="-122"/>
                <a:cs typeface="Inter" pitchFamily="34" charset="-120"/>
              </a:rPr>
              <a:t>Non-deterministic output, unbounded latency, and a query surface that is hard to govern or secure.</a:t>
            </a:r>
            <a:endParaRPr lang="en-US" sz="1350" dirty="0"/>
          </a:p>
        </p:txBody>
      </p:sp>
      <p:sp>
        <p:nvSpPr>
          <p:cNvPr id="42" name="Shape 28"/>
          <p:cNvSpPr/>
          <p:nvPr/>
        </p:nvSpPr>
        <p:spPr>
          <a:xfrm>
            <a:off x="1143000" y="9577388"/>
            <a:ext cx="16002000" cy="9525"/>
          </a:xfrm>
          <a:prstGeom prst="rect">
            <a:avLst/>
          </a:prstGeom>
          <a:solidFill>
            <a:srgbClr val="2A3441"/>
          </a:solidFill>
          <a:ln/>
        </p:spPr>
      </p:sp>
      <p:sp>
        <p:nvSpPr>
          <p:cNvPr id="43" name="Text 29"/>
          <p:cNvSpPr/>
          <p:nvPr/>
        </p:nvSpPr>
        <p:spPr>
          <a:xfrm>
            <a:off x="1143000" y="9739313"/>
            <a:ext cx="89349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MINT HR OS</a:t>
            </a:r>
            <a:endParaRPr lang="en-US" sz="975" dirty="0"/>
          </a:p>
        </p:txBody>
      </p:sp>
      <p:sp>
        <p:nvSpPr>
          <p:cNvPr id="44" name="Text 30"/>
          <p:cNvSpPr/>
          <p:nvPr/>
        </p:nvSpPr>
        <p:spPr>
          <a:xfrm>
            <a:off x="7795543" y="9739313"/>
            <a:ext cx="323632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HR &amp; Payroll Intelligence in Seconds</a:t>
            </a:r>
            <a:endParaRPr lang="en-US" sz="975" dirty="0"/>
          </a:p>
        </p:txBody>
      </p:sp>
      <p:sp>
        <p:nvSpPr>
          <p:cNvPr id="45" name="Text 31"/>
          <p:cNvSpPr/>
          <p:nvPr/>
        </p:nvSpPr>
        <p:spPr>
          <a:xfrm>
            <a:off x="16572905" y="9739313"/>
            <a:ext cx="648295"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03 / 17</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1143000" y="800100"/>
            <a:ext cx="17602200" cy="214313"/>
          </a:xfrm>
          <a:prstGeom prst="rect">
            <a:avLst/>
          </a:prstGeom>
          <a:noFill/>
          <a:ln/>
        </p:spPr>
        <p:txBody>
          <a:bodyPr wrap="square" lIns="25400" tIns="25400" rIns="25400" bIns="25400" rtlCol="0" anchor="t">
            <a:normAutofit/>
          </a:bodyPr>
          <a:lstStyle/>
          <a:p>
            <a:pPr algn="l" indent="0" marL="0">
              <a:buNone/>
            </a:pPr>
            <a:r>
              <a:rPr lang="en-US" sz="1050" spc="336" kern="0" dirty="0">
                <a:solidFill>
                  <a:srgbClr val="00D084"/>
                </a:solidFill>
                <a:latin typeface="JetBrains Mono" pitchFamily="34" charset="0"/>
                <a:ea typeface="JetBrains Mono" pitchFamily="34" charset="-122"/>
                <a:cs typeface="JetBrains Mono" pitchFamily="34" charset="-120"/>
              </a:rPr>
              <a:t>04 / THE MINT HR OS APPROACH</a:t>
            </a:r>
            <a:endParaRPr lang="en-US" sz="1050" dirty="0"/>
          </a:p>
        </p:txBody>
      </p:sp>
      <p:sp>
        <p:nvSpPr>
          <p:cNvPr id="3" name="Text 1"/>
          <p:cNvSpPr/>
          <p:nvPr/>
        </p:nvSpPr>
        <p:spPr>
          <a:xfrm>
            <a:off x="1143000" y="1109874"/>
            <a:ext cx="1760220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spc="-75" kern="0" dirty="0">
                <a:solidFill>
                  <a:srgbClr val="FFFFFF"/>
                </a:solidFill>
                <a:latin typeface="Inter" pitchFamily="34" charset="0"/>
                <a:ea typeface="Inter" pitchFamily="34" charset="-122"/>
                <a:cs typeface="Inter" pitchFamily="34" charset="-120"/>
              </a:rPr>
              <a:t>Understand the meaning once — then compile, don't reason</a:t>
            </a:r>
            <a:endParaRPr lang="en-US" sz="3750" dirty="0"/>
          </a:p>
        </p:txBody>
      </p:sp>
      <p:sp>
        <p:nvSpPr>
          <p:cNvPr id="4" name="Shape 2"/>
          <p:cNvSpPr/>
          <p:nvPr/>
        </p:nvSpPr>
        <p:spPr>
          <a:xfrm>
            <a:off x="1143000" y="1800436"/>
            <a:ext cx="609600" cy="28575"/>
          </a:xfrm>
          <a:prstGeom prst="roundRect">
            <a:avLst>
              <a:gd name="adj" fmla="val 50000"/>
            </a:avLst>
          </a:prstGeom>
          <a:solidFill>
            <a:srgbClr val="00D084"/>
          </a:solidFill>
          <a:ln/>
        </p:spPr>
      </p:sp>
      <p:sp>
        <p:nvSpPr>
          <p:cNvPr id="5" name="Shape 3"/>
          <p:cNvSpPr/>
          <p:nvPr/>
        </p:nvSpPr>
        <p:spPr>
          <a:xfrm>
            <a:off x="2448818" y="2744989"/>
            <a:ext cx="1790700" cy="1123950"/>
          </a:xfrm>
          <a:prstGeom prst="roundRect">
            <a:avLst>
              <a:gd name="adj" fmla="val 10169"/>
            </a:avLst>
          </a:prstGeom>
          <a:solidFill>
            <a:srgbClr val="161F2B"/>
          </a:solidFill>
          <a:ln w="9525">
            <a:solidFill>
              <a:srgbClr val="2A3441"/>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191768" y="3002164"/>
            <a:ext cx="304800" cy="304800"/>
          </a:xfrm>
          <a:prstGeom prst="rect">
            <a:avLst/>
          </a:prstGeom>
        </p:spPr>
      </p:pic>
      <p:sp>
        <p:nvSpPr>
          <p:cNvPr id="7" name="Text 4"/>
          <p:cNvSpPr/>
          <p:nvPr/>
        </p:nvSpPr>
        <p:spPr>
          <a:xfrm>
            <a:off x="2978869" y="3421264"/>
            <a:ext cx="730597" cy="228600"/>
          </a:xfrm>
          <a:prstGeom prst="rect">
            <a:avLst/>
          </a:prstGeom>
          <a:noFill/>
          <a:ln/>
        </p:spPr>
        <p:txBody>
          <a:bodyPr wrap="square" lIns="25400" tIns="25400" rIns="25400" bIns="25400" rtlCol="0" anchor="t">
            <a:normAutofit/>
          </a:bodyPr>
          <a:lstStyle/>
          <a:p>
            <a:pPr algn="ctr" indent="0" marL="0">
              <a:lnSpc>
                <a:spcPct val="125000"/>
              </a:lnSpc>
              <a:buNone/>
            </a:pPr>
            <a:r>
              <a:rPr lang="en-US" sz="1200" dirty="0">
                <a:solidFill>
                  <a:srgbClr val="FFFFFF"/>
                </a:solidFill>
                <a:latin typeface="Inter" pitchFamily="34" charset="0"/>
                <a:ea typeface="Inter" pitchFamily="34" charset="-122"/>
                <a:cs typeface="Inter" pitchFamily="34" charset="-120"/>
              </a:rPr>
              <a:t>Question</a:t>
            </a:r>
            <a:endParaRPr lang="en-US" sz="12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74803" y="3068839"/>
            <a:ext cx="247650" cy="247650"/>
          </a:xfrm>
          <a:prstGeom prst="rect">
            <a:avLst/>
          </a:prstGeom>
        </p:spPr>
      </p:pic>
      <p:sp>
        <p:nvSpPr>
          <p:cNvPr id="9" name="Text 5"/>
          <p:cNvSpPr/>
          <p:nvPr/>
        </p:nvSpPr>
        <p:spPr>
          <a:xfrm>
            <a:off x="4372868" y="3364114"/>
            <a:ext cx="327720" cy="176212"/>
          </a:xfrm>
          <a:prstGeom prst="rect">
            <a:avLst/>
          </a:prstGeom>
          <a:noFill/>
          <a:ln/>
        </p:spPr>
        <p:txBody>
          <a:bodyPr wrap="square" lIns="25400" tIns="25400" rIns="25400" bIns="25400" rtlCol="0" anchor="t">
            <a:normAutofit/>
          </a:bodyPr>
          <a:lstStyle/>
          <a:p>
            <a:pPr algn="l" indent="0" marL="0">
              <a:buNone/>
            </a:pPr>
            <a:r>
              <a:rPr lang="en-US" sz="825" dirty="0">
                <a:solidFill>
                  <a:srgbClr val="00D084"/>
                </a:solidFill>
                <a:latin typeface="JetBrains Mono" pitchFamily="34" charset="0"/>
                <a:ea typeface="JetBrains Mono" pitchFamily="34" charset="-122"/>
                <a:cs typeface="JetBrains Mono" pitchFamily="34" charset="-120"/>
              </a:rPr>
              <a:t>once</a:t>
            </a:r>
            <a:endParaRPr lang="en-US" sz="825" dirty="0"/>
          </a:p>
        </p:txBody>
      </p:sp>
      <p:sp>
        <p:nvSpPr>
          <p:cNvPr id="10" name="Shape 6"/>
          <p:cNvSpPr/>
          <p:nvPr/>
        </p:nvSpPr>
        <p:spPr>
          <a:xfrm>
            <a:off x="4757738" y="2744989"/>
            <a:ext cx="1790700" cy="1314450"/>
          </a:xfrm>
          <a:prstGeom prst="roundRect">
            <a:avLst>
              <a:gd name="adj" fmla="val 8696"/>
            </a:avLst>
          </a:prstGeom>
          <a:solidFill>
            <a:srgbClr val="161F2B"/>
          </a:solidFill>
          <a:ln w="9525">
            <a:solidFill>
              <a:srgbClr val="7A5AF8"/>
            </a:solidFill>
            <a:prstDash val="solid"/>
          </a:ln>
        </p:spPr>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00688" y="3002164"/>
            <a:ext cx="304800" cy="304800"/>
          </a:xfrm>
          <a:prstGeom prst="rect">
            <a:avLst/>
          </a:prstGeom>
        </p:spPr>
      </p:pic>
      <p:sp>
        <p:nvSpPr>
          <p:cNvPr id="12" name="Text 7"/>
          <p:cNvSpPr/>
          <p:nvPr/>
        </p:nvSpPr>
        <p:spPr>
          <a:xfrm>
            <a:off x="4919663" y="3421264"/>
            <a:ext cx="1466850" cy="419100"/>
          </a:xfrm>
          <a:prstGeom prst="rect">
            <a:avLst/>
          </a:prstGeom>
          <a:noFill/>
          <a:ln/>
        </p:spPr>
        <p:txBody>
          <a:bodyPr wrap="square" lIns="25400" tIns="25400" rIns="25400" bIns="25400" rtlCol="0" anchor="t">
            <a:normAutofit/>
          </a:bodyPr>
          <a:lstStyle/>
          <a:p>
            <a:pPr algn="ctr" indent="0" marL="0">
              <a:lnSpc>
                <a:spcPct val="125000"/>
              </a:lnSpc>
              <a:buNone/>
            </a:pPr>
            <a:r>
              <a:rPr lang="en-US" sz="1200" dirty="0">
                <a:solidFill>
                  <a:srgbClr val="FFFFFF"/>
                </a:solidFill>
                <a:latin typeface="Inter" pitchFamily="34" charset="0"/>
                <a:ea typeface="Inter" pitchFamily="34" charset="-122"/>
                <a:cs typeface="Inter" pitchFamily="34" charset="-120"/>
              </a:rPr>
              <a:t>Understand meaning</a:t>
            </a:r>
            <a:endParaRPr lang="en-US" sz="12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81788" y="3068839"/>
            <a:ext cx="247650" cy="247650"/>
          </a:xfrm>
          <a:prstGeom prst="rect">
            <a:avLst/>
          </a:prstGeom>
        </p:spPr>
      </p:pic>
      <p:sp>
        <p:nvSpPr>
          <p:cNvPr id="14" name="Shape 8"/>
          <p:cNvSpPr/>
          <p:nvPr/>
        </p:nvSpPr>
        <p:spPr>
          <a:xfrm>
            <a:off x="7062788" y="2744989"/>
            <a:ext cx="1790700" cy="1314450"/>
          </a:xfrm>
          <a:prstGeom prst="roundRect">
            <a:avLst>
              <a:gd name="adj" fmla="val 8696"/>
            </a:avLst>
          </a:prstGeom>
          <a:solidFill>
            <a:srgbClr val="161F2B"/>
          </a:solidFill>
          <a:ln w="9525">
            <a:solidFill>
              <a:srgbClr val="2A3441"/>
            </a:solidFill>
            <a:prstDash val="solid"/>
          </a:ln>
        </p:spPr>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05738" y="3002164"/>
            <a:ext cx="304800" cy="304800"/>
          </a:xfrm>
          <a:prstGeom prst="rect">
            <a:avLst/>
          </a:prstGeom>
        </p:spPr>
      </p:pic>
      <p:sp>
        <p:nvSpPr>
          <p:cNvPr id="16" name="Text 9"/>
          <p:cNvSpPr/>
          <p:nvPr/>
        </p:nvSpPr>
        <p:spPr>
          <a:xfrm>
            <a:off x="7224712" y="3421264"/>
            <a:ext cx="1466850" cy="419100"/>
          </a:xfrm>
          <a:prstGeom prst="rect">
            <a:avLst/>
          </a:prstGeom>
          <a:noFill/>
          <a:ln/>
        </p:spPr>
        <p:txBody>
          <a:bodyPr wrap="square" lIns="25400" tIns="25400" rIns="25400" bIns="25400" rtlCol="0" anchor="t">
            <a:normAutofit/>
          </a:bodyPr>
          <a:lstStyle/>
          <a:p>
            <a:pPr algn="ctr" indent="0" marL="0">
              <a:lnSpc>
                <a:spcPct val="125000"/>
              </a:lnSpc>
              <a:buNone/>
            </a:pPr>
            <a:r>
              <a:rPr lang="en-US" sz="1200" dirty="0">
                <a:solidFill>
                  <a:srgbClr val="FFFFFF"/>
                </a:solidFill>
                <a:latin typeface="Inter" pitchFamily="34" charset="0"/>
                <a:ea typeface="Inter" pitchFamily="34" charset="-122"/>
                <a:cs typeface="Inter" pitchFamily="34" charset="-120"/>
              </a:rPr>
              <a:t>Business specification</a:t>
            </a:r>
            <a:endParaRPr lang="en-US" sz="1200" dirty="0"/>
          </a:p>
        </p:txBody>
      </p:sp>
      <p:pic>
        <p:nvPicPr>
          <p:cNvPr id="17"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988772" y="3068839"/>
            <a:ext cx="247650" cy="247650"/>
          </a:xfrm>
          <a:prstGeom prst="rect">
            <a:avLst/>
          </a:prstGeom>
        </p:spPr>
      </p:pic>
      <p:sp>
        <p:nvSpPr>
          <p:cNvPr id="18" name="Text 10"/>
          <p:cNvSpPr/>
          <p:nvPr/>
        </p:nvSpPr>
        <p:spPr>
          <a:xfrm>
            <a:off x="8986838" y="3364114"/>
            <a:ext cx="327720" cy="176212"/>
          </a:xfrm>
          <a:prstGeom prst="rect">
            <a:avLst/>
          </a:prstGeom>
          <a:noFill/>
          <a:ln/>
        </p:spPr>
        <p:txBody>
          <a:bodyPr wrap="square" lIns="25400" tIns="25400" rIns="25400" bIns="25400" rtlCol="0" anchor="t">
            <a:normAutofit/>
          </a:bodyPr>
          <a:lstStyle/>
          <a:p>
            <a:pPr algn="l" indent="0" marL="0">
              <a:buNone/>
            </a:pPr>
            <a:r>
              <a:rPr lang="en-US" sz="825" dirty="0">
                <a:solidFill>
                  <a:srgbClr val="00D084"/>
                </a:solidFill>
                <a:latin typeface="JetBrains Mono" pitchFamily="34" charset="0"/>
                <a:ea typeface="JetBrains Mono" pitchFamily="34" charset="-122"/>
                <a:cs typeface="JetBrains Mono" pitchFamily="34" charset="-120"/>
              </a:rPr>
              <a:t>+4ms</a:t>
            </a:r>
            <a:endParaRPr lang="en-US" sz="825" dirty="0"/>
          </a:p>
        </p:txBody>
      </p:sp>
      <p:sp>
        <p:nvSpPr>
          <p:cNvPr id="19" name="Shape 11"/>
          <p:cNvSpPr/>
          <p:nvPr/>
        </p:nvSpPr>
        <p:spPr>
          <a:xfrm>
            <a:off x="9371707" y="2744989"/>
            <a:ext cx="1790700" cy="1123950"/>
          </a:xfrm>
          <a:prstGeom prst="roundRect">
            <a:avLst>
              <a:gd name="adj" fmla="val 10169"/>
            </a:avLst>
          </a:prstGeom>
          <a:solidFill>
            <a:srgbClr val="161F2B"/>
          </a:solidFill>
          <a:ln w="9525">
            <a:solidFill>
              <a:srgbClr val="2A3441"/>
            </a:solidFill>
            <a:prstDash val="solid"/>
          </a:ln>
        </p:spPr>
      </p:sp>
      <p:pic>
        <p:nvPicPr>
          <p:cNvPr id="20"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114657" y="3002164"/>
            <a:ext cx="304800" cy="304800"/>
          </a:xfrm>
          <a:prstGeom prst="rect">
            <a:avLst/>
          </a:prstGeom>
        </p:spPr>
      </p:pic>
      <p:sp>
        <p:nvSpPr>
          <p:cNvPr id="21" name="Text 12"/>
          <p:cNvSpPr/>
          <p:nvPr/>
        </p:nvSpPr>
        <p:spPr>
          <a:xfrm>
            <a:off x="9899600" y="3421264"/>
            <a:ext cx="734913" cy="228600"/>
          </a:xfrm>
          <a:prstGeom prst="rect">
            <a:avLst/>
          </a:prstGeom>
          <a:noFill/>
          <a:ln/>
        </p:spPr>
        <p:txBody>
          <a:bodyPr wrap="square" lIns="25400" tIns="25400" rIns="25400" bIns="25400" rtlCol="0" anchor="t">
            <a:normAutofit/>
          </a:bodyPr>
          <a:lstStyle/>
          <a:p>
            <a:pPr algn="ctr" indent="0" marL="0">
              <a:lnSpc>
                <a:spcPct val="125000"/>
              </a:lnSpc>
              <a:buNone/>
            </a:pPr>
            <a:r>
              <a:rPr lang="en-US" sz="1200" dirty="0">
                <a:solidFill>
                  <a:srgbClr val="FFFFFF"/>
                </a:solidFill>
                <a:latin typeface="Inter" pitchFamily="34" charset="0"/>
                <a:ea typeface="Inter" pitchFamily="34" charset="-122"/>
                <a:cs typeface="Inter" pitchFamily="34" charset="-120"/>
              </a:rPr>
              <a:t>Compiler</a:t>
            </a:r>
            <a:endParaRPr lang="en-US" sz="1200" dirty="0"/>
          </a:p>
        </p:txBody>
      </p:sp>
      <p:pic>
        <p:nvPicPr>
          <p:cNvPr id="22"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329095" y="3068839"/>
            <a:ext cx="247650" cy="247650"/>
          </a:xfrm>
          <a:prstGeom prst="rect">
            <a:avLst/>
          </a:prstGeom>
        </p:spPr>
      </p:pic>
      <p:sp>
        <p:nvSpPr>
          <p:cNvPr id="23" name="Text 13"/>
          <p:cNvSpPr/>
          <p:nvPr/>
        </p:nvSpPr>
        <p:spPr>
          <a:xfrm>
            <a:off x="11295757" y="3364114"/>
            <a:ext cx="390525" cy="176212"/>
          </a:xfrm>
          <a:prstGeom prst="rect">
            <a:avLst/>
          </a:prstGeom>
          <a:noFill/>
          <a:ln/>
        </p:spPr>
        <p:txBody>
          <a:bodyPr wrap="square" lIns="25400" tIns="25400" rIns="25400" bIns="25400" rtlCol="0" anchor="t">
            <a:normAutofit/>
          </a:bodyPr>
          <a:lstStyle/>
          <a:p>
            <a:pPr algn="l" indent="0" marL="0">
              <a:buNone/>
            </a:pPr>
            <a:r>
              <a:rPr lang="en-US" sz="825" dirty="0">
                <a:solidFill>
                  <a:srgbClr val="00D084"/>
                </a:solidFill>
                <a:latin typeface="JetBrains Mono" pitchFamily="34" charset="0"/>
                <a:ea typeface="JetBrains Mono" pitchFamily="34" charset="-122"/>
                <a:cs typeface="JetBrains Mono" pitchFamily="34" charset="-120"/>
              </a:rPr>
              <a:t>+18ms</a:t>
            </a:r>
            <a:endParaRPr lang="en-US" sz="825" dirty="0"/>
          </a:p>
        </p:txBody>
      </p:sp>
      <p:sp>
        <p:nvSpPr>
          <p:cNvPr id="24" name="Shape 14"/>
          <p:cNvSpPr/>
          <p:nvPr/>
        </p:nvSpPr>
        <p:spPr>
          <a:xfrm>
            <a:off x="11743432" y="2744989"/>
            <a:ext cx="1790700" cy="1123950"/>
          </a:xfrm>
          <a:prstGeom prst="roundRect">
            <a:avLst>
              <a:gd name="adj" fmla="val 10169"/>
            </a:avLst>
          </a:prstGeom>
          <a:solidFill>
            <a:srgbClr val="161F2B"/>
          </a:solidFill>
          <a:ln w="9525">
            <a:solidFill>
              <a:srgbClr val="2A3441"/>
            </a:solidFill>
            <a:prstDash val="solid"/>
          </a:ln>
        </p:spPr>
      </p:sp>
      <p:pic>
        <p:nvPicPr>
          <p:cNvPr id="25"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2486382" y="3002164"/>
            <a:ext cx="304800" cy="304800"/>
          </a:xfrm>
          <a:prstGeom prst="rect">
            <a:avLst/>
          </a:prstGeom>
        </p:spPr>
      </p:pic>
      <p:sp>
        <p:nvSpPr>
          <p:cNvPr id="26" name="Text 15"/>
          <p:cNvSpPr/>
          <p:nvPr/>
        </p:nvSpPr>
        <p:spPr>
          <a:xfrm>
            <a:off x="12255922" y="3421264"/>
            <a:ext cx="765721" cy="228600"/>
          </a:xfrm>
          <a:prstGeom prst="rect">
            <a:avLst/>
          </a:prstGeom>
          <a:noFill/>
          <a:ln/>
        </p:spPr>
        <p:txBody>
          <a:bodyPr wrap="square" lIns="25400" tIns="25400" rIns="25400" bIns="25400" rtlCol="0" anchor="t">
            <a:normAutofit/>
          </a:bodyPr>
          <a:lstStyle/>
          <a:p>
            <a:pPr algn="ctr" indent="0" marL="0">
              <a:lnSpc>
                <a:spcPct val="125000"/>
              </a:lnSpc>
              <a:buNone/>
            </a:pPr>
            <a:r>
              <a:rPr lang="en-US" sz="1200" dirty="0">
                <a:solidFill>
                  <a:srgbClr val="FFFFFF"/>
                </a:solidFill>
                <a:latin typeface="Inter" pitchFamily="34" charset="0"/>
                <a:ea typeface="Inter" pitchFamily="34" charset="-122"/>
                <a:cs typeface="Inter" pitchFamily="34" charset="-120"/>
              </a:rPr>
              <a:t>Database</a:t>
            </a:r>
            <a:endParaRPr lang="en-US" sz="1200" dirty="0"/>
          </a:p>
        </p:txBody>
      </p:sp>
      <p:pic>
        <p:nvPicPr>
          <p:cNvPr id="27"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3667482" y="3068839"/>
            <a:ext cx="247650" cy="247650"/>
          </a:xfrm>
          <a:prstGeom prst="rect">
            <a:avLst/>
          </a:prstGeom>
        </p:spPr>
      </p:pic>
      <p:sp>
        <p:nvSpPr>
          <p:cNvPr id="28" name="Shape 16"/>
          <p:cNvSpPr/>
          <p:nvPr/>
        </p:nvSpPr>
        <p:spPr>
          <a:xfrm>
            <a:off x="14048482" y="2744989"/>
            <a:ext cx="1790700" cy="1123950"/>
          </a:xfrm>
          <a:prstGeom prst="roundRect">
            <a:avLst>
              <a:gd name="adj" fmla="val 10169"/>
            </a:avLst>
          </a:prstGeom>
          <a:solidFill>
            <a:srgbClr val="161F2B"/>
          </a:solidFill>
          <a:ln w="9525">
            <a:solidFill>
              <a:srgbClr val="00D084"/>
            </a:solidFill>
            <a:prstDash val="solid"/>
          </a:ln>
        </p:spPr>
      </p:sp>
      <p:pic>
        <p:nvPicPr>
          <p:cNvPr id="29"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4791432" y="3002164"/>
            <a:ext cx="304800" cy="304800"/>
          </a:xfrm>
          <a:prstGeom prst="rect">
            <a:avLst/>
          </a:prstGeom>
        </p:spPr>
      </p:pic>
      <p:sp>
        <p:nvSpPr>
          <p:cNvPr id="30" name="Text 17"/>
          <p:cNvSpPr/>
          <p:nvPr/>
        </p:nvSpPr>
        <p:spPr>
          <a:xfrm>
            <a:off x="14628688" y="3421264"/>
            <a:ext cx="630213" cy="228600"/>
          </a:xfrm>
          <a:prstGeom prst="rect">
            <a:avLst/>
          </a:prstGeom>
          <a:noFill/>
          <a:ln/>
        </p:spPr>
        <p:txBody>
          <a:bodyPr wrap="square" lIns="25400" tIns="25400" rIns="25400" bIns="25400" rtlCol="0" anchor="t">
            <a:normAutofit/>
          </a:bodyPr>
          <a:lstStyle/>
          <a:p>
            <a:pPr algn="ctr" indent="0" marL="0">
              <a:lnSpc>
                <a:spcPct val="125000"/>
              </a:lnSpc>
              <a:buNone/>
            </a:pPr>
            <a:r>
              <a:rPr lang="en-US" sz="1200" dirty="0">
                <a:solidFill>
                  <a:srgbClr val="FFFFFF"/>
                </a:solidFill>
                <a:latin typeface="Inter" pitchFamily="34" charset="0"/>
                <a:ea typeface="Inter" pitchFamily="34" charset="-122"/>
                <a:cs typeface="Inter" pitchFamily="34" charset="-120"/>
              </a:rPr>
              <a:t>Answer</a:t>
            </a:r>
            <a:endParaRPr lang="en-US" sz="1200" dirty="0"/>
          </a:p>
        </p:txBody>
      </p:sp>
      <p:sp>
        <p:nvSpPr>
          <p:cNvPr id="31" name="Shape 18"/>
          <p:cNvSpPr/>
          <p:nvPr/>
        </p:nvSpPr>
        <p:spPr>
          <a:xfrm>
            <a:off x="1143000" y="8323548"/>
            <a:ext cx="16002000" cy="1062038"/>
          </a:xfrm>
          <a:prstGeom prst="roundRect">
            <a:avLst>
              <a:gd name="adj" fmla="val 10762"/>
            </a:avLst>
          </a:prstGeom>
          <a:solidFill>
            <a:srgbClr val="00D084">
              <a:alpha val="8000"/>
            </a:srgbClr>
          </a:solidFill>
          <a:ln/>
        </p:spPr>
      </p:sp>
      <p:sp>
        <p:nvSpPr>
          <p:cNvPr id="32" name="Shape 19"/>
          <p:cNvSpPr/>
          <p:nvPr/>
        </p:nvSpPr>
        <p:spPr>
          <a:xfrm>
            <a:off x="1143000" y="9376060"/>
            <a:ext cx="16002000" cy="9525"/>
          </a:xfrm>
          <a:prstGeom prst="rect">
            <a:avLst/>
          </a:prstGeom>
          <a:solidFill>
            <a:srgbClr val="00D084">
              <a:alpha val="40000"/>
            </a:srgbClr>
          </a:solidFill>
          <a:ln/>
        </p:spPr>
      </p:sp>
      <p:sp>
        <p:nvSpPr>
          <p:cNvPr id="33" name="Shape 20"/>
          <p:cNvSpPr/>
          <p:nvPr/>
        </p:nvSpPr>
        <p:spPr>
          <a:xfrm>
            <a:off x="1143000" y="8323548"/>
            <a:ext cx="16002000" cy="9525"/>
          </a:xfrm>
          <a:prstGeom prst="rect">
            <a:avLst/>
          </a:prstGeom>
          <a:solidFill>
            <a:srgbClr val="00D084">
              <a:alpha val="40000"/>
            </a:srgbClr>
          </a:solidFill>
          <a:ln/>
        </p:spPr>
      </p:sp>
      <p:sp>
        <p:nvSpPr>
          <p:cNvPr id="34" name="Shape 21"/>
          <p:cNvSpPr/>
          <p:nvPr/>
        </p:nvSpPr>
        <p:spPr>
          <a:xfrm>
            <a:off x="1143000" y="8323548"/>
            <a:ext cx="38100" cy="1062038"/>
          </a:xfrm>
          <a:prstGeom prst="rect">
            <a:avLst/>
          </a:prstGeom>
          <a:solidFill>
            <a:srgbClr val="00D084"/>
          </a:solidFill>
          <a:ln/>
        </p:spPr>
      </p:sp>
      <p:sp>
        <p:nvSpPr>
          <p:cNvPr id="35" name="Shape 22"/>
          <p:cNvSpPr/>
          <p:nvPr/>
        </p:nvSpPr>
        <p:spPr>
          <a:xfrm>
            <a:off x="17135475" y="8323548"/>
            <a:ext cx="9525" cy="1062038"/>
          </a:xfrm>
          <a:prstGeom prst="rect">
            <a:avLst/>
          </a:prstGeom>
          <a:solidFill>
            <a:srgbClr val="00D084">
              <a:alpha val="40000"/>
            </a:srgbClr>
          </a:solidFill>
          <a:ln/>
        </p:spPr>
      </p:sp>
      <p:pic>
        <p:nvPicPr>
          <p:cNvPr id="36"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485900" y="8692642"/>
            <a:ext cx="323850" cy="323850"/>
          </a:xfrm>
          <a:prstGeom prst="rect">
            <a:avLst/>
          </a:prstGeom>
        </p:spPr>
      </p:pic>
      <p:sp>
        <p:nvSpPr>
          <p:cNvPr id="37" name="Text 23"/>
          <p:cNvSpPr/>
          <p:nvPr/>
        </p:nvSpPr>
        <p:spPr>
          <a:xfrm>
            <a:off x="2000250" y="8580723"/>
            <a:ext cx="9825521" cy="338138"/>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Inter" pitchFamily="34" charset="0"/>
                <a:ea typeface="Inter" pitchFamily="34" charset="-122"/>
                <a:cs typeface="Inter" pitchFamily="34" charset="-120"/>
              </a:rPr>
              <a:t>Understand once. Reuse forever.</a:t>
            </a:r>
            <a:endParaRPr lang="en-US" sz="1950" dirty="0"/>
          </a:p>
        </p:txBody>
      </p:sp>
      <p:sp>
        <p:nvSpPr>
          <p:cNvPr id="38" name="Text 24"/>
          <p:cNvSpPr/>
          <p:nvPr/>
        </p:nvSpPr>
        <p:spPr>
          <a:xfrm>
            <a:off x="2000250" y="8918860"/>
            <a:ext cx="9825521" cy="247650"/>
          </a:xfrm>
          <a:prstGeom prst="rect">
            <a:avLst/>
          </a:prstGeom>
          <a:noFill/>
          <a:ln/>
        </p:spPr>
        <p:txBody>
          <a:bodyPr wrap="square" lIns="25400" tIns="25400" rIns="25400" bIns="25400" rtlCol="0" anchor="t">
            <a:normAutofit/>
          </a:bodyPr>
          <a:lstStyle/>
          <a:p>
            <a:pPr algn="l" indent="0" marL="0">
              <a:buNone/>
            </a:pPr>
            <a:r>
              <a:rPr lang="en-US" sz="1350" dirty="0">
                <a:solidFill>
                  <a:srgbClr val="B7C0CD"/>
                </a:solidFill>
                <a:latin typeface="Inter" pitchFamily="34" charset="0"/>
                <a:ea typeface="Inter" pitchFamily="34" charset="-122"/>
                <a:cs typeface="Inter" pitchFamily="34" charset="-120"/>
              </a:rPr>
              <a:t>The language model runs only at the meaning step. Everything after is deterministic, cached, and sub-second.</a:t>
            </a:r>
            <a:endParaRPr lang="en-US" sz="1350" dirty="0"/>
          </a:p>
        </p:txBody>
      </p:sp>
      <p:sp>
        <p:nvSpPr>
          <p:cNvPr id="39" name="Shape 25"/>
          <p:cNvSpPr/>
          <p:nvPr/>
        </p:nvSpPr>
        <p:spPr>
          <a:xfrm>
            <a:off x="1143000" y="9577388"/>
            <a:ext cx="16002000" cy="9525"/>
          </a:xfrm>
          <a:prstGeom prst="rect">
            <a:avLst/>
          </a:prstGeom>
          <a:solidFill>
            <a:srgbClr val="2A3441"/>
          </a:solidFill>
          <a:ln/>
        </p:spPr>
      </p:sp>
      <p:sp>
        <p:nvSpPr>
          <p:cNvPr id="40" name="Text 26"/>
          <p:cNvSpPr/>
          <p:nvPr/>
        </p:nvSpPr>
        <p:spPr>
          <a:xfrm>
            <a:off x="1143000" y="9739313"/>
            <a:ext cx="89349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MINT HR OS</a:t>
            </a:r>
            <a:endParaRPr lang="en-US" sz="975" dirty="0"/>
          </a:p>
        </p:txBody>
      </p:sp>
      <p:sp>
        <p:nvSpPr>
          <p:cNvPr id="41" name="Text 27"/>
          <p:cNvSpPr/>
          <p:nvPr/>
        </p:nvSpPr>
        <p:spPr>
          <a:xfrm>
            <a:off x="7795543" y="9739313"/>
            <a:ext cx="323632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HR &amp; Payroll Intelligence in Seconds</a:t>
            </a:r>
            <a:endParaRPr lang="en-US" sz="975" dirty="0"/>
          </a:p>
        </p:txBody>
      </p:sp>
      <p:sp>
        <p:nvSpPr>
          <p:cNvPr id="42" name="Text 28"/>
          <p:cNvSpPr/>
          <p:nvPr/>
        </p:nvSpPr>
        <p:spPr>
          <a:xfrm>
            <a:off x="16572905" y="9739313"/>
            <a:ext cx="648295"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04 / 17</a:t>
            </a:r>
            <a:endParaRPr lang="en-US" sz="9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1143000" y="800100"/>
            <a:ext cx="17602200" cy="214313"/>
          </a:xfrm>
          <a:prstGeom prst="rect">
            <a:avLst/>
          </a:prstGeom>
          <a:noFill/>
          <a:ln/>
        </p:spPr>
        <p:txBody>
          <a:bodyPr wrap="square" lIns="25400" tIns="25400" rIns="25400" bIns="25400" rtlCol="0" anchor="t">
            <a:normAutofit/>
          </a:bodyPr>
          <a:lstStyle/>
          <a:p>
            <a:pPr algn="l" indent="0" marL="0">
              <a:buNone/>
            </a:pPr>
            <a:r>
              <a:rPr lang="en-US" sz="1050" spc="336" kern="0" dirty="0">
                <a:solidFill>
                  <a:srgbClr val="00C2FF"/>
                </a:solidFill>
                <a:latin typeface="JetBrains Mono" pitchFamily="34" charset="0"/>
                <a:ea typeface="JetBrains Mono" pitchFamily="34" charset="-122"/>
                <a:cs typeface="JetBrains Mono" pitchFamily="34" charset="-120"/>
              </a:rPr>
              <a:t>05 / THE CORE INSIGHT</a:t>
            </a:r>
            <a:endParaRPr lang="en-US" sz="1050" dirty="0"/>
          </a:p>
        </p:txBody>
      </p:sp>
      <p:sp>
        <p:nvSpPr>
          <p:cNvPr id="3" name="Text 1"/>
          <p:cNvSpPr/>
          <p:nvPr/>
        </p:nvSpPr>
        <p:spPr>
          <a:xfrm>
            <a:off x="1143000" y="1110331"/>
            <a:ext cx="1760220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spc="-75" kern="0" dirty="0">
                <a:solidFill>
                  <a:srgbClr val="FFFFFF"/>
                </a:solidFill>
                <a:latin typeface="Inter" pitchFamily="34" charset="0"/>
                <a:ea typeface="Inter" pitchFamily="34" charset="-122"/>
                <a:cs typeface="Inter" pitchFamily="34" charset="-120"/>
              </a:rPr>
              <a:t>Infinite questions map onto a finite set of concepts</a:t>
            </a:r>
            <a:endParaRPr lang="en-US" sz="3750" dirty="0"/>
          </a:p>
        </p:txBody>
      </p:sp>
      <p:sp>
        <p:nvSpPr>
          <p:cNvPr id="4" name="Shape 2"/>
          <p:cNvSpPr/>
          <p:nvPr/>
        </p:nvSpPr>
        <p:spPr>
          <a:xfrm>
            <a:off x="1143000" y="1800894"/>
            <a:ext cx="609600" cy="28575"/>
          </a:xfrm>
          <a:prstGeom prst="roundRect">
            <a:avLst>
              <a:gd name="adj" fmla="val 50000"/>
            </a:avLst>
          </a:prstGeom>
          <a:solidFill>
            <a:srgbClr val="7A5AF8"/>
          </a:solidFill>
          <a:ln/>
        </p:spPr>
      </p:sp>
      <p:sp>
        <p:nvSpPr>
          <p:cNvPr id="5" name="Shape 3"/>
          <p:cNvSpPr/>
          <p:nvPr/>
        </p:nvSpPr>
        <p:spPr>
          <a:xfrm>
            <a:off x="1143000" y="2289069"/>
            <a:ext cx="7810500" cy="6438900"/>
          </a:xfrm>
          <a:prstGeom prst="roundRect">
            <a:avLst>
              <a:gd name="adj" fmla="val 2367"/>
            </a:avLst>
          </a:prstGeom>
          <a:solidFill>
            <a:srgbClr val="10171F"/>
          </a:solidFill>
          <a:ln w="9525">
            <a:solidFill>
              <a:srgbClr val="2A3441"/>
            </a:solidFill>
            <a:prstDash val="solid"/>
          </a:ln>
        </p:spPr>
      </p:sp>
      <p:sp>
        <p:nvSpPr>
          <p:cNvPr id="6" name="Text 4"/>
          <p:cNvSpPr/>
          <p:nvPr/>
        </p:nvSpPr>
        <p:spPr>
          <a:xfrm>
            <a:off x="1533525" y="2660544"/>
            <a:ext cx="7732395" cy="214313"/>
          </a:xfrm>
          <a:prstGeom prst="rect">
            <a:avLst/>
          </a:prstGeom>
          <a:noFill/>
          <a:ln/>
        </p:spPr>
        <p:txBody>
          <a:bodyPr wrap="square" lIns="25400" tIns="25400" rIns="25400" bIns="25400" rtlCol="0" anchor="t">
            <a:normAutofit/>
          </a:bodyPr>
          <a:lstStyle/>
          <a:p>
            <a:pPr algn="l" indent="0" marL="0">
              <a:buNone/>
            </a:pPr>
            <a:r>
              <a:rPr lang="en-US" sz="1050" spc="231" kern="0" dirty="0">
                <a:solidFill>
                  <a:srgbClr val="FF6166"/>
                </a:solidFill>
                <a:latin typeface="JetBrains Mono" pitchFamily="34" charset="0"/>
                <a:ea typeface="JetBrains Mono" pitchFamily="34" charset="-122"/>
                <a:cs typeface="JetBrains Mono" pitchFamily="34" charset="-120"/>
              </a:rPr>
              <a:t>NATURAL LANGUAGE · INFINITE</a:t>
            </a:r>
            <a:endParaRPr lang="en-US" sz="1050" dirty="0"/>
          </a:p>
        </p:txBody>
      </p:sp>
      <p:sp>
        <p:nvSpPr>
          <p:cNvPr id="7" name="Text 5"/>
          <p:cNvSpPr/>
          <p:nvPr/>
        </p:nvSpPr>
        <p:spPr>
          <a:xfrm>
            <a:off x="1533525" y="3065356"/>
            <a:ext cx="773239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Inter" pitchFamily="34" charset="0"/>
                <a:ea typeface="Inter" pitchFamily="34" charset="-122"/>
                <a:cs typeface="Inter" pitchFamily="34" charset="-120"/>
              </a:rPr>
              <a:t>"How many people work here?"</a:t>
            </a:r>
            <a:endParaRPr lang="en-US" sz="1800" dirty="0"/>
          </a:p>
        </p:txBody>
      </p:sp>
      <p:sp>
        <p:nvSpPr>
          <p:cNvPr id="8" name="Text 6"/>
          <p:cNvSpPr/>
          <p:nvPr/>
        </p:nvSpPr>
        <p:spPr>
          <a:xfrm>
            <a:off x="1533525" y="3498744"/>
            <a:ext cx="773239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FFFFFF">
                    <a:alpha val="85000"/>
                  </a:srgbClr>
                </a:solidFill>
                <a:latin typeface="Inter" pitchFamily="34" charset="0"/>
                <a:ea typeface="Inter" pitchFamily="34" charset="-122"/>
                <a:cs typeface="Inter" pitchFamily="34" charset="-120"/>
              </a:rPr>
              <a:t>"What's our employee count?"</a:t>
            </a:r>
            <a:endParaRPr lang="en-US" sz="1800" dirty="0"/>
          </a:p>
        </p:txBody>
      </p:sp>
      <p:sp>
        <p:nvSpPr>
          <p:cNvPr id="9" name="Text 7"/>
          <p:cNvSpPr/>
          <p:nvPr/>
        </p:nvSpPr>
        <p:spPr>
          <a:xfrm>
            <a:off x="1533525" y="3932131"/>
            <a:ext cx="773239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FFFFFF">
                    <a:alpha val="62000"/>
                  </a:srgbClr>
                </a:solidFill>
                <a:latin typeface="Inter" pitchFamily="34" charset="0"/>
                <a:ea typeface="Inter" pitchFamily="34" charset="-122"/>
                <a:cs typeface="Inter" pitchFamily="34" charset="-120"/>
              </a:rPr>
              <a:t>"Total staff on payroll?"</a:t>
            </a:r>
            <a:endParaRPr lang="en-US" sz="1800" dirty="0"/>
          </a:p>
        </p:txBody>
      </p:sp>
      <p:sp>
        <p:nvSpPr>
          <p:cNvPr id="10" name="Text 8"/>
          <p:cNvSpPr/>
          <p:nvPr/>
        </p:nvSpPr>
        <p:spPr>
          <a:xfrm>
            <a:off x="1533525" y="4365519"/>
            <a:ext cx="773239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FFFFFF">
                    <a:alpha val="42000"/>
                  </a:srgbClr>
                </a:solidFill>
                <a:latin typeface="Inter" pitchFamily="34" charset="0"/>
                <a:ea typeface="Inter" pitchFamily="34" charset="-122"/>
                <a:cs typeface="Inter" pitchFamily="34" charset="-120"/>
              </a:rPr>
              <a:t>"Current workforce size?"</a:t>
            </a:r>
            <a:endParaRPr lang="en-US" sz="1800" dirty="0"/>
          </a:p>
        </p:txBody>
      </p:sp>
      <p:sp>
        <p:nvSpPr>
          <p:cNvPr id="11" name="Text 9"/>
          <p:cNvSpPr/>
          <p:nvPr/>
        </p:nvSpPr>
        <p:spPr>
          <a:xfrm>
            <a:off x="1533525" y="4798906"/>
            <a:ext cx="773239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FFFFFF">
                    <a:alpha val="26000"/>
                  </a:srgbClr>
                </a:solidFill>
                <a:latin typeface="Inter" pitchFamily="34" charset="0"/>
                <a:ea typeface="Inter" pitchFamily="34" charset="-122"/>
                <a:cs typeface="Inter" pitchFamily="34" charset="-120"/>
              </a:rPr>
              <a:t>"Active employees right now?"</a:t>
            </a:r>
            <a:endParaRPr lang="en-US" sz="1800" dirty="0"/>
          </a:p>
        </p:txBody>
      </p:sp>
      <p:sp>
        <p:nvSpPr>
          <p:cNvPr id="12" name="Text 10"/>
          <p:cNvSpPr/>
          <p:nvPr/>
        </p:nvSpPr>
        <p:spPr>
          <a:xfrm>
            <a:off x="1533525" y="5232294"/>
            <a:ext cx="773239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FFFFFF">
                    <a:alpha val="14000"/>
                  </a:srgbClr>
                </a:solidFill>
                <a:latin typeface="Inter" pitchFamily="34" charset="0"/>
                <a:ea typeface="Inter" pitchFamily="34" charset="-122"/>
                <a:cs typeface="Inter" pitchFamily="34" charset="-120"/>
              </a:rPr>
              <a:t>"Headcount today…"</a:t>
            </a:r>
            <a:endParaRPr lang="en-US" sz="1800" dirty="0"/>
          </a:p>
        </p:txBody>
      </p:sp>
      <p:sp>
        <p:nvSpPr>
          <p:cNvPr id="13" name="Text 11"/>
          <p:cNvSpPr/>
          <p:nvPr/>
        </p:nvSpPr>
        <p:spPr>
          <a:xfrm>
            <a:off x="1533525" y="8165994"/>
            <a:ext cx="7732395" cy="228600"/>
          </a:xfrm>
          <a:prstGeom prst="rect">
            <a:avLst/>
          </a:prstGeom>
          <a:noFill/>
          <a:ln/>
        </p:spPr>
        <p:txBody>
          <a:bodyPr wrap="square" lIns="25400" tIns="25400" rIns="25400" bIns="25400" rtlCol="0" anchor="t">
            <a:normAutofit/>
          </a:bodyPr>
          <a:lstStyle/>
          <a:p>
            <a:pPr algn="l" indent="0" marL="0">
              <a:buNone/>
            </a:pPr>
            <a:r>
              <a:rPr lang="en-US" sz="1125" dirty="0">
                <a:solidFill>
                  <a:srgbClr val="74808F"/>
                </a:solidFill>
                <a:latin typeface="JetBrains Mono" pitchFamily="34" charset="0"/>
                <a:ea typeface="JetBrains Mono" pitchFamily="34" charset="-122"/>
                <a:cs typeface="JetBrains Mono" pitchFamily="34" charset="-120"/>
              </a:rPr>
              <a:t>∞ phrasings · endless variation</a:t>
            </a:r>
            <a:endParaRPr lang="en-US" sz="1125" dirty="0"/>
          </a:p>
        </p:txBody>
      </p:sp>
      <p:sp>
        <p:nvSpPr>
          <p:cNvPr id="14" name="Shape 12"/>
          <p:cNvSpPr/>
          <p:nvPr/>
        </p:nvSpPr>
        <p:spPr>
          <a:xfrm>
            <a:off x="9334500" y="2294164"/>
            <a:ext cx="7810500" cy="6438900"/>
          </a:xfrm>
          <a:prstGeom prst="roundRect">
            <a:avLst>
              <a:gd name="adj" fmla="val 2367"/>
            </a:avLst>
          </a:prstGeom>
          <a:gradFill rotWithShape="1">
            <a:gsLst>
              <a:gs pos="0">
                <a:srgbClr val="131A23">
                  <a:alpha val="100000"/>
                </a:srgbClr>
              </a:gs>
              <a:gs pos="100000">
                <a:srgbClr val="10171F">
                  <a:alpha val="100000"/>
                </a:srgbClr>
              </a:gs>
            </a:gsLst>
            <a:lin ang="5400000" scaled="0"/>
          </a:gradFill>
          <a:ln w="9525">
            <a:solidFill>
              <a:srgbClr val="7A5AF8"/>
            </a:solidFill>
            <a:prstDash val="solid"/>
          </a:ln>
        </p:spPr>
      </p:sp>
      <p:sp>
        <p:nvSpPr>
          <p:cNvPr id="15" name="Text 13"/>
          <p:cNvSpPr/>
          <p:nvPr/>
        </p:nvSpPr>
        <p:spPr>
          <a:xfrm>
            <a:off x="9725025" y="2665639"/>
            <a:ext cx="7732395" cy="214313"/>
          </a:xfrm>
          <a:prstGeom prst="rect">
            <a:avLst/>
          </a:prstGeom>
          <a:noFill/>
          <a:ln/>
        </p:spPr>
        <p:txBody>
          <a:bodyPr wrap="square" lIns="25400" tIns="25400" rIns="25400" bIns="25400" rtlCol="0" anchor="t">
            <a:normAutofit/>
          </a:bodyPr>
          <a:lstStyle/>
          <a:p>
            <a:pPr algn="l" indent="0" marL="0">
              <a:buNone/>
            </a:pPr>
            <a:r>
              <a:rPr lang="en-US" sz="1050" spc="231" kern="0" dirty="0">
                <a:solidFill>
                  <a:srgbClr val="00D084"/>
                </a:solidFill>
                <a:latin typeface="JetBrains Mono" pitchFamily="34" charset="0"/>
                <a:ea typeface="JetBrains Mono" pitchFamily="34" charset="-122"/>
                <a:cs typeface="JetBrains Mono" pitchFamily="34" charset="-120"/>
              </a:rPr>
              <a:t>HR CONCEPTS · FINITE</a:t>
            </a:r>
            <a:endParaRPr lang="en-US" sz="1050" dirty="0"/>
          </a:p>
        </p:txBody>
      </p:sp>
      <p:sp>
        <p:nvSpPr>
          <p:cNvPr id="16" name="Shape 14"/>
          <p:cNvSpPr/>
          <p:nvPr/>
        </p:nvSpPr>
        <p:spPr>
          <a:xfrm>
            <a:off x="9725025" y="3070452"/>
            <a:ext cx="3448050" cy="566738"/>
          </a:xfrm>
          <a:prstGeom prst="roundRect">
            <a:avLst>
              <a:gd name="adj" fmla="val 16807"/>
            </a:avLst>
          </a:prstGeom>
          <a:solidFill>
            <a:srgbClr val="161F2B"/>
          </a:solidFill>
          <a:ln w="9525">
            <a:solidFill>
              <a:srgbClr val="2A3441"/>
            </a:solidFill>
            <a:prstDash val="solid"/>
          </a:ln>
        </p:spPr>
      </p:sp>
      <p:pic>
        <p:nvPicPr>
          <p:cNvPr id="1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906000" y="3249046"/>
            <a:ext cx="209550" cy="209550"/>
          </a:xfrm>
          <a:prstGeom prst="rect">
            <a:avLst/>
          </a:prstGeom>
        </p:spPr>
      </p:pic>
      <p:sp>
        <p:nvSpPr>
          <p:cNvPr id="18" name="Text 15"/>
          <p:cNvSpPr/>
          <p:nvPr/>
        </p:nvSpPr>
        <p:spPr>
          <a:xfrm>
            <a:off x="10229850" y="3232377"/>
            <a:ext cx="1000348" cy="280988"/>
          </a:xfrm>
          <a:prstGeom prst="rect">
            <a:avLst/>
          </a:prstGeom>
          <a:noFill/>
          <a:ln/>
        </p:spPr>
        <p:txBody>
          <a:bodyPr wrap="square" lIns="25400" tIns="25400" rIns="25400" bIns="25400" rtlCol="0" anchor="t">
            <a:normAutofit/>
          </a:bodyPr>
          <a:lstStyle/>
          <a:p>
            <a:pPr algn="l" indent="0" marL="0">
              <a:buNone/>
            </a:pPr>
            <a:r>
              <a:rPr lang="en-US" sz="1575" dirty="0">
                <a:solidFill>
                  <a:srgbClr val="FFFFFF"/>
                </a:solidFill>
                <a:latin typeface="Inter" pitchFamily="34" charset="0"/>
                <a:ea typeface="Inter" pitchFamily="34" charset="-122"/>
                <a:cs typeface="Inter" pitchFamily="34" charset="-120"/>
              </a:rPr>
              <a:t>Employee</a:t>
            </a:r>
            <a:endParaRPr lang="en-US" sz="1575" dirty="0"/>
          </a:p>
        </p:txBody>
      </p:sp>
      <p:sp>
        <p:nvSpPr>
          <p:cNvPr id="19" name="Shape 16"/>
          <p:cNvSpPr/>
          <p:nvPr/>
        </p:nvSpPr>
        <p:spPr>
          <a:xfrm>
            <a:off x="13306425" y="3070452"/>
            <a:ext cx="3448050" cy="566738"/>
          </a:xfrm>
          <a:prstGeom prst="roundRect">
            <a:avLst>
              <a:gd name="adj" fmla="val 16807"/>
            </a:avLst>
          </a:prstGeom>
          <a:solidFill>
            <a:srgbClr val="161F2B"/>
          </a:solidFill>
          <a:ln w="9525">
            <a:solidFill>
              <a:srgbClr val="2A3441"/>
            </a:solidFill>
            <a:prstDash val="solid"/>
          </a:ln>
        </p:spPr>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487400" y="3249046"/>
            <a:ext cx="209550" cy="209550"/>
          </a:xfrm>
          <a:prstGeom prst="rect">
            <a:avLst/>
          </a:prstGeom>
        </p:spPr>
      </p:pic>
      <p:sp>
        <p:nvSpPr>
          <p:cNvPr id="21" name="Text 17"/>
          <p:cNvSpPr/>
          <p:nvPr/>
        </p:nvSpPr>
        <p:spPr>
          <a:xfrm>
            <a:off x="13811250" y="3232377"/>
            <a:ext cx="714598" cy="280988"/>
          </a:xfrm>
          <a:prstGeom prst="rect">
            <a:avLst/>
          </a:prstGeom>
          <a:noFill/>
          <a:ln/>
        </p:spPr>
        <p:txBody>
          <a:bodyPr wrap="square" lIns="25400" tIns="25400" rIns="25400" bIns="25400" rtlCol="0" anchor="t">
            <a:normAutofit/>
          </a:bodyPr>
          <a:lstStyle/>
          <a:p>
            <a:pPr algn="l" indent="0" marL="0">
              <a:buNone/>
            </a:pPr>
            <a:r>
              <a:rPr lang="en-US" sz="1575" dirty="0">
                <a:solidFill>
                  <a:srgbClr val="FFFFFF"/>
                </a:solidFill>
                <a:latin typeface="Inter" pitchFamily="34" charset="0"/>
                <a:ea typeface="Inter" pitchFamily="34" charset="-122"/>
                <a:cs typeface="Inter" pitchFamily="34" charset="-120"/>
              </a:rPr>
              <a:t>Payroll</a:t>
            </a:r>
            <a:endParaRPr lang="en-US" sz="1575" dirty="0"/>
          </a:p>
        </p:txBody>
      </p:sp>
      <p:sp>
        <p:nvSpPr>
          <p:cNvPr id="22" name="Shape 18"/>
          <p:cNvSpPr/>
          <p:nvPr/>
        </p:nvSpPr>
        <p:spPr>
          <a:xfrm>
            <a:off x="9725025" y="3770539"/>
            <a:ext cx="3448050" cy="566738"/>
          </a:xfrm>
          <a:prstGeom prst="roundRect">
            <a:avLst>
              <a:gd name="adj" fmla="val 16807"/>
            </a:avLst>
          </a:prstGeom>
          <a:solidFill>
            <a:srgbClr val="161F2B"/>
          </a:solidFill>
          <a:ln w="9525">
            <a:solidFill>
              <a:srgbClr val="2A3441"/>
            </a:solidFill>
            <a:prstDash val="solid"/>
          </a:ln>
        </p:spPr>
      </p:sp>
      <p:pic>
        <p:nvPicPr>
          <p:cNvPr id="2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06000" y="3949133"/>
            <a:ext cx="209550" cy="209550"/>
          </a:xfrm>
          <a:prstGeom prst="rect">
            <a:avLst/>
          </a:prstGeom>
        </p:spPr>
      </p:pic>
      <p:sp>
        <p:nvSpPr>
          <p:cNvPr id="24" name="Text 19"/>
          <p:cNvSpPr/>
          <p:nvPr/>
        </p:nvSpPr>
        <p:spPr>
          <a:xfrm>
            <a:off x="10229850" y="3932464"/>
            <a:ext cx="1157883" cy="280988"/>
          </a:xfrm>
          <a:prstGeom prst="rect">
            <a:avLst/>
          </a:prstGeom>
          <a:noFill/>
          <a:ln/>
        </p:spPr>
        <p:txBody>
          <a:bodyPr wrap="square" lIns="25400" tIns="25400" rIns="25400" bIns="25400" rtlCol="0" anchor="t">
            <a:normAutofit/>
          </a:bodyPr>
          <a:lstStyle/>
          <a:p>
            <a:pPr algn="l" indent="0" marL="0">
              <a:buNone/>
            </a:pPr>
            <a:r>
              <a:rPr lang="en-US" sz="1575" dirty="0">
                <a:solidFill>
                  <a:srgbClr val="FFFFFF"/>
                </a:solidFill>
                <a:latin typeface="Inter" pitchFamily="34" charset="0"/>
                <a:ea typeface="Inter" pitchFamily="34" charset="-122"/>
                <a:cs typeface="Inter" pitchFamily="34" charset="-120"/>
              </a:rPr>
              <a:t>Attendance</a:t>
            </a:r>
            <a:endParaRPr lang="en-US" sz="1575" dirty="0"/>
          </a:p>
        </p:txBody>
      </p:sp>
      <p:sp>
        <p:nvSpPr>
          <p:cNvPr id="25" name="Shape 20"/>
          <p:cNvSpPr/>
          <p:nvPr/>
        </p:nvSpPr>
        <p:spPr>
          <a:xfrm>
            <a:off x="13306425" y="3770539"/>
            <a:ext cx="3448050" cy="566738"/>
          </a:xfrm>
          <a:prstGeom prst="roundRect">
            <a:avLst>
              <a:gd name="adj" fmla="val 16807"/>
            </a:avLst>
          </a:prstGeom>
          <a:solidFill>
            <a:srgbClr val="161F2B"/>
          </a:solidFill>
          <a:ln w="9525">
            <a:solidFill>
              <a:srgbClr val="2A3441"/>
            </a:solidFill>
            <a:prstDash val="solid"/>
          </a:ln>
        </p:spPr>
      </p:sp>
      <p:pic>
        <p:nvPicPr>
          <p:cNvPr id="2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487400" y="3949133"/>
            <a:ext cx="209550" cy="209550"/>
          </a:xfrm>
          <a:prstGeom prst="rect">
            <a:avLst/>
          </a:prstGeom>
        </p:spPr>
      </p:pic>
      <p:sp>
        <p:nvSpPr>
          <p:cNvPr id="27" name="Text 21"/>
          <p:cNvSpPr/>
          <p:nvPr/>
        </p:nvSpPr>
        <p:spPr>
          <a:xfrm>
            <a:off x="13811250" y="3932464"/>
            <a:ext cx="642417" cy="280988"/>
          </a:xfrm>
          <a:prstGeom prst="rect">
            <a:avLst/>
          </a:prstGeom>
          <a:noFill/>
          <a:ln/>
        </p:spPr>
        <p:txBody>
          <a:bodyPr wrap="square" lIns="25400" tIns="25400" rIns="25400" bIns="25400" rtlCol="0" anchor="t">
            <a:normAutofit/>
          </a:bodyPr>
          <a:lstStyle/>
          <a:p>
            <a:pPr algn="l" indent="0" marL="0">
              <a:buNone/>
            </a:pPr>
            <a:r>
              <a:rPr lang="en-US" sz="1575" dirty="0">
                <a:solidFill>
                  <a:srgbClr val="FFFFFF"/>
                </a:solidFill>
                <a:latin typeface="Inter" pitchFamily="34" charset="0"/>
                <a:ea typeface="Inter" pitchFamily="34" charset="-122"/>
                <a:cs typeface="Inter" pitchFamily="34" charset="-120"/>
              </a:rPr>
              <a:t>Leave</a:t>
            </a:r>
            <a:endParaRPr lang="en-US" sz="1575" dirty="0"/>
          </a:p>
        </p:txBody>
      </p:sp>
      <p:sp>
        <p:nvSpPr>
          <p:cNvPr id="28" name="Shape 22"/>
          <p:cNvSpPr/>
          <p:nvPr/>
        </p:nvSpPr>
        <p:spPr>
          <a:xfrm>
            <a:off x="9725025" y="4470627"/>
            <a:ext cx="3448050" cy="566738"/>
          </a:xfrm>
          <a:prstGeom prst="roundRect">
            <a:avLst>
              <a:gd name="adj" fmla="val 16807"/>
            </a:avLst>
          </a:prstGeom>
          <a:solidFill>
            <a:srgbClr val="161F2B"/>
          </a:solidFill>
          <a:ln w="9525">
            <a:solidFill>
              <a:srgbClr val="2A3441"/>
            </a:solidFill>
            <a:prstDash val="solid"/>
          </a:ln>
        </p:spPr>
      </p:sp>
      <p:pic>
        <p:nvPicPr>
          <p:cNvPr id="2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906000" y="4649221"/>
            <a:ext cx="209550" cy="209550"/>
          </a:xfrm>
          <a:prstGeom prst="rect">
            <a:avLst/>
          </a:prstGeom>
        </p:spPr>
      </p:pic>
      <p:sp>
        <p:nvSpPr>
          <p:cNvPr id="30" name="Text 23"/>
          <p:cNvSpPr/>
          <p:nvPr/>
        </p:nvSpPr>
        <p:spPr>
          <a:xfrm>
            <a:off x="10229850" y="4632552"/>
            <a:ext cx="938436" cy="280988"/>
          </a:xfrm>
          <a:prstGeom prst="rect">
            <a:avLst/>
          </a:prstGeom>
          <a:noFill/>
          <a:ln/>
        </p:spPr>
        <p:txBody>
          <a:bodyPr wrap="square" lIns="25400" tIns="25400" rIns="25400" bIns="25400" rtlCol="0" anchor="t">
            <a:normAutofit/>
          </a:bodyPr>
          <a:lstStyle/>
          <a:p>
            <a:pPr algn="l" indent="0" marL="0">
              <a:buNone/>
            </a:pPr>
            <a:r>
              <a:rPr lang="en-US" sz="1575" dirty="0">
                <a:solidFill>
                  <a:srgbClr val="FFFFFF"/>
                </a:solidFill>
                <a:latin typeface="Inter" pitchFamily="34" charset="0"/>
                <a:ea typeface="Inter" pitchFamily="34" charset="-122"/>
                <a:cs typeface="Inter" pitchFamily="34" charset="-120"/>
              </a:rPr>
              <a:t>Overtime</a:t>
            </a:r>
            <a:endParaRPr lang="en-US" sz="1575" dirty="0"/>
          </a:p>
        </p:txBody>
      </p:sp>
      <p:sp>
        <p:nvSpPr>
          <p:cNvPr id="31" name="Shape 24"/>
          <p:cNvSpPr/>
          <p:nvPr/>
        </p:nvSpPr>
        <p:spPr>
          <a:xfrm>
            <a:off x="13306425" y="4470627"/>
            <a:ext cx="3448050" cy="566738"/>
          </a:xfrm>
          <a:prstGeom prst="roundRect">
            <a:avLst>
              <a:gd name="adj" fmla="val 16807"/>
            </a:avLst>
          </a:prstGeom>
          <a:solidFill>
            <a:srgbClr val="161F2B"/>
          </a:solidFill>
          <a:ln w="9525">
            <a:solidFill>
              <a:srgbClr val="2A3441"/>
            </a:solidFill>
            <a:prstDash val="solid"/>
          </a:ln>
        </p:spPr>
      </p:sp>
      <p:pic>
        <p:nvPicPr>
          <p:cNvPr id="3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487400" y="4649221"/>
            <a:ext cx="209550" cy="209550"/>
          </a:xfrm>
          <a:prstGeom prst="rect">
            <a:avLst/>
          </a:prstGeom>
        </p:spPr>
      </p:pic>
      <p:sp>
        <p:nvSpPr>
          <p:cNvPr id="33" name="Text 25"/>
          <p:cNvSpPr/>
          <p:nvPr/>
        </p:nvSpPr>
        <p:spPr>
          <a:xfrm>
            <a:off x="13811250" y="4632552"/>
            <a:ext cx="752698" cy="280988"/>
          </a:xfrm>
          <a:prstGeom prst="rect">
            <a:avLst/>
          </a:prstGeom>
          <a:noFill/>
          <a:ln/>
        </p:spPr>
        <p:txBody>
          <a:bodyPr wrap="square" lIns="25400" tIns="25400" rIns="25400" bIns="25400" rtlCol="0" anchor="t">
            <a:normAutofit/>
          </a:bodyPr>
          <a:lstStyle/>
          <a:p>
            <a:pPr algn="l" indent="0" marL="0">
              <a:buNone/>
            </a:pPr>
            <a:r>
              <a:rPr lang="en-US" sz="1575" dirty="0">
                <a:solidFill>
                  <a:srgbClr val="FFFFFF"/>
                </a:solidFill>
                <a:latin typeface="Inter" pitchFamily="34" charset="0"/>
                <a:ea typeface="Inter" pitchFamily="34" charset="-122"/>
                <a:cs typeface="Inter" pitchFamily="34" charset="-120"/>
              </a:rPr>
              <a:t>No Pay</a:t>
            </a:r>
            <a:endParaRPr lang="en-US" sz="1575" dirty="0"/>
          </a:p>
        </p:txBody>
      </p:sp>
      <p:sp>
        <p:nvSpPr>
          <p:cNvPr id="34" name="Text 26"/>
          <p:cNvSpPr/>
          <p:nvPr/>
        </p:nvSpPr>
        <p:spPr>
          <a:xfrm>
            <a:off x="9725025" y="8171090"/>
            <a:ext cx="7732395" cy="228600"/>
          </a:xfrm>
          <a:prstGeom prst="rect">
            <a:avLst/>
          </a:prstGeom>
          <a:noFill/>
          <a:ln/>
        </p:spPr>
        <p:txBody>
          <a:bodyPr wrap="square" lIns="25400" tIns="25400" rIns="25400" bIns="25400" rtlCol="0" anchor="t">
            <a:normAutofit/>
          </a:bodyPr>
          <a:lstStyle/>
          <a:p>
            <a:pPr algn="l" indent="0" marL="0">
              <a:buNone/>
            </a:pPr>
            <a:r>
              <a:rPr lang="en-US" sz="1125" dirty="0">
                <a:solidFill>
                  <a:srgbClr val="00D084"/>
                </a:solidFill>
                <a:latin typeface="JetBrains Mono" pitchFamily="34" charset="0"/>
                <a:ea typeface="JetBrains Mono" pitchFamily="34" charset="-122"/>
                <a:cs typeface="JetBrains Mono" pitchFamily="34" charset="-120"/>
              </a:rPr>
              <a:t>a bounded, governed vocabulary</a:t>
            </a:r>
            <a:endParaRPr lang="en-US" sz="1125" dirty="0"/>
          </a:p>
        </p:txBody>
      </p:sp>
      <p:sp>
        <p:nvSpPr>
          <p:cNvPr id="35" name="Text 27"/>
          <p:cNvSpPr/>
          <p:nvPr/>
        </p:nvSpPr>
        <p:spPr>
          <a:xfrm>
            <a:off x="342900" y="9047551"/>
            <a:ext cx="17602200" cy="381000"/>
          </a:xfrm>
          <a:prstGeom prst="rect">
            <a:avLst/>
          </a:prstGeom>
          <a:noFill/>
          <a:ln/>
        </p:spPr>
        <p:txBody>
          <a:bodyPr wrap="square" lIns="25400" tIns="25400" rIns="25400" bIns="25400" rtlCol="0" anchor="t">
            <a:normAutofit/>
          </a:bodyPr>
          <a:lstStyle/>
          <a:p>
            <a:pPr algn="ctr" indent="0" marL="0">
              <a:buNone/>
            </a:pPr>
            <a:r>
              <a:rPr lang="en-US" sz="2250" b="1" dirty="0">
                <a:solidFill>
                  <a:srgbClr val="FFFFFF"/>
                </a:solidFill>
                <a:latin typeface="Inter" pitchFamily="34" charset="0"/>
                <a:ea typeface="Inter" pitchFamily="34" charset="-122"/>
                <a:cs typeface="Inter" pitchFamily="34" charset="-120"/>
              </a:rPr>
              <a:t>Natural language is infinite. </a:t>
            </a:r>
            <a:pPr algn="ctr" indent="0" marL="0">
              <a:buNone/>
            </a:pPr>
            <a:r>
              <a:rPr lang="en-US" sz="2250" b="1" dirty="0">
                <a:solidFill>
                  <a:srgbClr val="7A5AF8"/>
                </a:solidFill>
                <a:latin typeface="Inter" pitchFamily="34" charset="0"/>
                <a:ea typeface="Inter" pitchFamily="34" charset="-122"/>
                <a:cs typeface="Inter" pitchFamily="34" charset="-120"/>
              </a:rPr>
              <a:t>HR concepts are finite.</a:t>
            </a:r>
            <a:endParaRPr lang="en-US" sz="2250" dirty="0"/>
          </a:p>
        </p:txBody>
      </p:sp>
      <p:sp>
        <p:nvSpPr>
          <p:cNvPr id="36" name="Shape 28"/>
          <p:cNvSpPr/>
          <p:nvPr/>
        </p:nvSpPr>
        <p:spPr>
          <a:xfrm>
            <a:off x="1143000" y="9577388"/>
            <a:ext cx="16002000" cy="9525"/>
          </a:xfrm>
          <a:prstGeom prst="rect">
            <a:avLst/>
          </a:prstGeom>
          <a:solidFill>
            <a:srgbClr val="2A3441"/>
          </a:solidFill>
          <a:ln/>
        </p:spPr>
      </p:sp>
      <p:sp>
        <p:nvSpPr>
          <p:cNvPr id="37" name="Text 29"/>
          <p:cNvSpPr/>
          <p:nvPr/>
        </p:nvSpPr>
        <p:spPr>
          <a:xfrm>
            <a:off x="1143000" y="9739313"/>
            <a:ext cx="89349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MINT HR OS</a:t>
            </a:r>
            <a:endParaRPr lang="en-US" sz="975" dirty="0"/>
          </a:p>
        </p:txBody>
      </p:sp>
      <p:sp>
        <p:nvSpPr>
          <p:cNvPr id="38" name="Text 30"/>
          <p:cNvSpPr/>
          <p:nvPr/>
        </p:nvSpPr>
        <p:spPr>
          <a:xfrm>
            <a:off x="7795543" y="9739313"/>
            <a:ext cx="323632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HR &amp; Payroll Intelligence in Seconds</a:t>
            </a:r>
            <a:endParaRPr lang="en-US" sz="975" dirty="0"/>
          </a:p>
        </p:txBody>
      </p:sp>
      <p:sp>
        <p:nvSpPr>
          <p:cNvPr id="39" name="Text 31"/>
          <p:cNvSpPr/>
          <p:nvPr/>
        </p:nvSpPr>
        <p:spPr>
          <a:xfrm>
            <a:off x="16572905" y="9739313"/>
            <a:ext cx="648295"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05 / 17</a:t>
            </a:r>
            <a:endParaRPr lang="en-US" sz="9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1143000" y="800100"/>
            <a:ext cx="17602200" cy="214313"/>
          </a:xfrm>
          <a:prstGeom prst="rect">
            <a:avLst/>
          </a:prstGeom>
          <a:noFill/>
          <a:ln/>
        </p:spPr>
        <p:txBody>
          <a:bodyPr wrap="square" lIns="25400" tIns="25400" rIns="25400" bIns="25400" rtlCol="0" anchor="t">
            <a:normAutofit/>
          </a:bodyPr>
          <a:lstStyle/>
          <a:p>
            <a:pPr algn="l" indent="0" marL="0">
              <a:buNone/>
            </a:pPr>
            <a:r>
              <a:rPr lang="en-US" sz="1050" spc="336" kern="0" dirty="0">
                <a:solidFill>
                  <a:srgbClr val="00C2FF"/>
                </a:solidFill>
                <a:latin typeface="JetBrains Mono" pitchFamily="34" charset="0"/>
                <a:ea typeface="JetBrains Mono" pitchFamily="34" charset="-122"/>
                <a:cs typeface="JetBrains Mono" pitchFamily="34" charset="-120"/>
              </a:rPr>
              <a:t>06 / THE HR SEMANTIC LAYER</a:t>
            </a:r>
            <a:endParaRPr lang="en-US" sz="1050" dirty="0"/>
          </a:p>
        </p:txBody>
      </p:sp>
      <p:sp>
        <p:nvSpPr>
          <p:cNvPr id="3" name="Text 1"/>
          <p:cNvSpPr/>
          <p:nvPr/>
        </p:nvSpPr>
        <p:spPr>
          <a:xfrm>
            <a:off x="1143000" y="1110320"/>
            <a:ext cx="1760220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spc="-75" kern="0" dirty="0">
                <a:solidFill>
                  <a:srgbClr val="FFFFFF"/>
                </a:solidFill>
                <a:latin typeface="Inter" pitchFamily="34" charset="0"/>
                <a:ea typeface="Inter" pitchFamily="34" charset="-122"/>
                <a:cs typeface="Inter" pitchFamily="34" charset="-120"/>
              </a:rPr>
              <a:t>One governed layer between business terms and tables</a:t>
            </a:r>
            <a:endParaRPr lang="en-US" sz="3750" dirty="0"/>
          </a:p>
        </p:txBody>
      </p:sp>
      <p:sp>
        <p:nvSpPr>
          <p:cNvPr id="4" name="Shape 2"/>
          <p:cNvSpPr/>
          <p:nvPr/>
        </p:nvSpPr>
        <p:spPr>
          <a:xfrm>
            <a:off x="1143000" y="1800883"/>
            <a:ext cx="609600" cy="28575"/>
          </a:xfrm>
          <a:prstGeom prst="roundRect">
            <a:avLst>
              <a:gd name="adj" fmla="val 50000"/>
            </a:avLst>
          </a:prstGeom>
          <a:solidFill>
            <a:srgbClr val="7A5AF8"/>
          </a:solidFill>
          <a:ln/>
        </p:spPr>
      </p:sp>
      <p:sp>
        <p:nvSpPr>
          <p:cNvPr id="5" name="Shape 3"/>
          <p:cNvSpPr/>
          <p:nvPr/>
        </p:nvSpPr>
        <p:spPr>
          <a:xfrm>
            <a:off x="1143000" y="3955916"/>
            <a:ext cx="16002000" cy="942975"/>
          </a:xfrm>
          <a:prstGeom prst="roundRect">
            <a:avLst>
              <a:gd name="adj" fmla="val 14141"/>
            </a:avLst>
          </a:prstGeom>
          <a:solidFill>
            <a:srgbClr val="161F2B"/>
          </a:solidFill>
          <a:ln w="9525">
            <a:solidFill>
              <a:srgbClr val="2A3441"/>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95425" y="4303578"/>
            <a:ext cx="247650" cy="247650"/>
          </a:xfrm>
          <a:prstGeom prst="rect">
            <a:avLst/>
          </a:prstGeom>
        </p:spPr>
      </p:pic>
      <p:sp>
        <p:nvSpPr>
          <p:cNvPr id="7" name="Text 4"/>
          <p:cNvSpPr/>
          <p:nvPr/>
        </p:nvSpPr>
        <p:spPr>
          <a:xfrm>
            <a:off x="1876425" y="4298816"/>
            <a:ext cx="1712253" cy="295275"/>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solidFill>
                <a:latin typeface="Inter" pitchFamily="34" charset="0"/>
                <a:ea typeface="Inter" pitchFamily="34" charset="-122"/>
                <a:cs typeface="Inter" pitchFamily="34" charset="-120"/>
              </a:rPr>
              <a:t>Business terms</a:t>
            </a:r>
            <a:endParaRPr lang="en-US" sz="1650" dirty="0"/>
          </a:p>
        </p:txBody>
      </p:sp>
      <p:sp>
        <p:nvSpPr>
          <p:cNvPr id="8" name="Shape 5"/>
          <p:cNvSpPr/>
          <p:nvPr/>
        </p:nvSpPr>
        <p:spPr>
          <a:xfrm>
            <a:off x="4010025" y="4213091"/>
            <a:ext cx="1198141" cy="428625"/>
          </a:xfrm>
          <a:prstGeom prst="roundRect">
            <a:avLst>
              <a:gd name="adj" fmla="val 50000"/>
            </a:avLst>
          </a:prstGeom>
          <a:solidFill>
            <a:srgbClr val="10171F"/>
          </a:solidFill>
          <a:ln w="9525">
            <a:solidFill>
              <a:srgbClr val="2A3441"/>
            </a:solidFill>
            <a:prstDash val="solid"/>
          </a:ln>
        </p:spPr>
      </p:sp>
      <p:sp>
        <p:nvSpPr>
          <p:cNvPr id="9" name="Text 6"/>
          <p:cNvSpPr/>
          <p:nvPr/>
        </p:nvSpPr>
        <p:spPr>
          <a:xfrm>
            <a:off x="4191000" y="4317866"/>
            <a:ext cx="912391" cy="257175"/>
          </a:xfrm>
          <a:prstGeom prst="rect">
            <a:avLst/>
          </a:prstGeom>
          <a:noFill/>
          <a:ln/>
        </p:spPr>
        <p:txBody>
          <a:bodyPr wrap="square" lIns="25400" tIns="25400" rIns="25400" bIns="25400" rtlCol="0" anchor="t">
            <a:normAutofit/>
          </a:bodyPr>
          <a:lstStyle/>
          <a:p>
            <a:pPr algn="l" indent="0" marL="0">
              <a:buNone/>
            </a:pPr>
            <a:r>
              <a:rPr lang="en-US" sz="1425" dirty="0">
                <a:solidFill>
                  <a:srgbClr val="B7C0CD"/>
                </a:solidFill>
                <a:latin typeface="Inter" pitchFamily="34" charset="0"/>
                <a:ea typeface="Inter" pitchFamily="34" charset="-122"/>
                <a:cs typeface="Inter" pitchFamily="34" charset="-120"/>
              </a:rPr>
              <a:t>Employee</a:t>
            </a:r>
            <a:endParaRPr lang="en-US" sz="1425" dirty="0"/>
          </a:p>
        </p:txBody>
      </p:sp>
      <p:sp>
        <p:nvSpPr>
          <p:cNvPr id="10" name="Shape 7"/>
          <p:cNvSpPr/>
          <p:nvPr/>
        </p:nvSpPr>
        <p:spPr>
          <a:xfrm>
            <a:off x="5322466" y="4213091"/>
            <a:ext cx="939552" cy="428625"/>
          </a:xfrm>
          <a:prstGeom prst="roundRect">
            <a:avLst>
              <a:gd name="adj" fmla="val 50000"/>
            </a:avLst>
          </a:prstGeom>
          <a:solidFill>
            <a:srgbClr val="10171F"/>
          </a:solidFill>
          <a:ln w="9525">
            <a:solidFill>
              <a:srgbClr val="2A3441"/>
            </a:solidFill>
            <a:prstDash val="solid"/>
          </a:ln>
        </p:spPr>
      </p:sp>
      <p:sp>
        <p:nvSpPr>
          <p:cNvPr id="11" name="Text 8"/>
          <p:cNvSpPr/>
          <p:nvPr/>
        </p:nvSpPr>
        <p:spPr>
          <a:xfrm>
            <a:off x="5503441" y="4317866"/>
            <a:ext cx="653802" cy="257175"/>
          </a:xfrm>
          <a:prstGeom prst="rect">
            <a:avLst/>
          </a:prstGeom>
          <a:noFill/>
          <a:ln/>
        </p:spPr>
        <p:txBody>
          <a:bodyPr wrap="square" lIns="25400" tIns="25400" rIns="25400" bIns="25400" rtlCol="0" anchor="t">
            <a:normAutofit/>
          </a:bodyPr>
          <a:lstStyle/>
          <a:p>
            <a:pPr algn="l" indent="0" marL="0">
              <a:buNone/>
            </a:pPr>
            <a:r>
              <a:rPr lang="en-US" sz="1425" dirty="0">
                <a:solidFill>
                  <a:srgbClr val="B7C0CD"/>
                </a:solidFill>
                <a:latin typeface="Inter" pitchFamily="34" charset="0"/>
                <a:ea typeface="Inter" pitchFamily="34" charset="-122"/>
                <a:cs typeface="Inter" pitchFamily="34" charset="-120"/>
              </a:rPr>
              <a:t>Payroll</a:t>
            </a:r>
            <a:endParaRPr lang="en-US" sz="1425" dirty="0"/>
          </a:p>
        </p:txBody>
      </p:sp>
      <p:sp>
        <p:nvSpPr>
          <p:cNvPr id="12" name="Shape 9"/>
          <p:cNvSpPr/>
          <p:nvPr/>
        </p:nvSpPr>
        <p:spPr>
          <a:xfrm>
            <a:off x="6376318" y="4213091"/>
            <a:ext cx="1340644" cy="428625"/>
          </a:xfrm>
          <a:prstGeom prst="roundRect">
            <a:avLst>
              <a:gd name="adj" fmla="val 50000"/>
            </a:avLst>
          </a:prstGeom>
          <a:solidFill>
            <a:srgbClr val="10171F"/>
          </a:solidFill>
          <a:ln w="9525">
            <a:solidFill>
              <a:srgbClr val="2A3441"/>
            </a:solidFill>
            <a:prstDash val="solid"/>
          </a:ln>
        </p:spPr>
      </p:sp>
      <p:sp>
        <p:nvSpPr>
          <p:cNvPr id="13" name="Text 10"/>
          <p:cNvSpPr/>
          <p:nvPr/>
        </p:nvSpPr>
        <p:spPr>
          <a:xfrm>
            <a:off x="6557293" y="4317866"/>
            <a:ext cx="1054894" cy="257175"/>
          </a:xfrm>
          <a:prstGeom prst="rect">
            <a:avLst/>
          </a:prstGeom>
          <a:noFill/>
          <a:ln/>
        </p:spPr>
        <p:txBody>
          <a:bodyPr wrap="square" lIns="25400" tIns="25400" rIns="25400" bIns="25400" rtlCol="0" anchor="t">
            <a:normAutofit/>
          </a:bodyPr>
          <a:lstStyle/>
          <a:p>
            <a:pPr algn="l" indent="0" marL="0">
              <a:buNone/>
            </a:pPr>
            <a:r>
              <a:rPr lang="en-US" sz="1425" dirty="0">
                <a:solidFill>
                  <a:srgbClr val="B7C0CD"/>
                </a:solidFill>
                <a:latin typeface="Inter" pitchFamily="34" charset="0"/>
                <a:ea typeface="Inter" pitchFamily="34" charset="-122"/>
                <a:cs typeface="Inter" pitchFamily="34" charset="-120"/>
              </a:rPr>
              <a:t>Attendance</a:t>
            </a:r>
            <a:endParaRPr lang="en-US" sz="1425" dirty="0"/>
          </a:p>
        </p:txBody>
      </p:sp>
      <p:sp>
        <p:nvSpPr>
          <p:cNvPr id="14" name="Shape 11"/>
          <p:cNvSpPr/>
          <p:nvPr/>
        </p:nvSpPr>
        <p:spPr>
          <a:xfrm>
            <a:off x="7831262" y="4213091"/>
            <a:ext cx="1142107" cy="428625"/>
          </a:xfrm>
          <a:prstGeom prst="roundRect">
            <a:avLst>
              <a:gd name="adj" fmla="val 50000"/>
            </a:avLst>
          </a:prstGeom>
          <a:solidFill>
            <a:srgbClr val="10171F"/>
          </a:solidFill>
          <a:ln w="9525">
            <a:solidFill>
              <a:srgbClr val="2A3441"/>
            </a:solidFill>
            <a:prstDash val="solid"/>
          </a:ln>
        </p:spPr>
      </p:sp>
      <p:sp>
        <p:nvSpPr>
          <p:cNvPr id="15" name="Text 12"/>
          <p:cNvSpPr/>
          <p:nvPr/>
        </p:nvSpPr>
        <p:spPr>
          <a:xfrm>
            <a:off x="8012237" y="4317866"/>
            <a:ext cx="856357" cy="257175"/>
          </a:xfrm>
          <a:prstGeom prst="rect">
            <a:avLst/>
          </a:prstGeom>
          <a:noFill/>
          <a:ln/>
        </p:spPr>
        <p:txBody>
          <a:bodyPr wrap="square" lIns="25400" tIns="25400" rIns="25400" bIns="25400" rtlCol="0" anchor="t">
            <a:normAutofit/>
          </a:bodyPr>
          <a:lstStyle/>
          <a:p>
            <a:pPr algn="l" indent="0" marL="0">
              <a:buNone/>
            </a:pPr>
            <a:r>
              <a:rPr lang="en-US" sz="1425" dirty="0">
                <a:solidFill>
                  <a:srgbClr val="B7C0CD"/>
                </a:solidFill>
                <a:latin typeface="Inter" pitchFamily="34" charset="0"/>
                <a:ea typeface="Inter" pitchFamily="34" charset="-122"/>
                <a:cs typeface="Inter" pitchFamily="34" charset="-120"/>
              </a:rPr>
              <a:t>Overtime</a:t>
            </a:r>
            <a:endParaRPr lang="en-US" sz="1425" dirty="0"/>
          </a:p>
        </p:txBody>
      </p:sp>
      <p:pic>
        <p:nvPicPr>
          <p:cNvPr id="1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01125" y="5089391"/>
            <a:ext cx="285750" cy="285750"/>
          </a:xfrm>
          <a:prstGeom prst="rect">
            <a:avLst/>
          </a:prstGeom>
        </p:spPr>
      </p:pic>
      <p:sp>
        <p:nvSpPr>
          <p:cNvPr id="17" name="Shape 13"/>
          <p:cNvSpPr/>
          <p:nvPr/>
        </p:nvSpPr>
        <p:spPr>
          <a:xfrm>
            <a:off x="1143000" y="5570709"/>
            <a:ext cx="16002000" cy="1038225"/>
          </a:xfrm>
          <a:prstGeom prst="roundRect">
            <a:avLst>
              <a:gd name="adj" fmla="val 12844"/>
            </a:avLst>
          </a:prstGeom>
          <a:gradFill rotWithShape="1">
            <a:gsLst>
              <a:gs pos="0">
                <a:srgbClr val="7A5AF8">
                  <a:alpha val="14000"/>
                </a:srgbClr>
              </a:gs>
              <a:gs pos="100000">
                <a:srgbClr val="7A5AF8">
                  <a:alpha val="5000"/>
                </a:srgbClr>
              </a:gs>
            </a:gsLst>
            <a:lin ang="5400000" scaled="0"/>
          </a:gradFill>
          <a:ln w="9525">
            <a:solidFill>
              <a:srgbClr val="7A5AF8"/>
            </a:solidFill>
            <a:prstDash val="solid"/>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95425" y="5956471"/>
            <a:ext cx="266700" cy="266700"/>
          </a:xfrm>
          <a:prstGeom prst="rect">
            <a:avLst/>
          </a:prstGeom>
        </p:spPr>
      </p:pic>
      <p:sp>
        <p:nvSpPr>
          <p:cNvPr id="19" name="Text 14"/>
          <p:cNvSpPr/>
          <p:nvPr/>
        </p:nvSpPr>
        <p:spPr>
          <a:xfrm>
            <a:off x="1895475" y="5865984"/>
            <a:ext cx="1649306" cy="295275"/>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solidFill>
                <a:latin typeface="Inter" pitchFamily="34" charset="0"/>
                <a:ea typeface="Inter" pitchFamily="34" charset="-122"/>
                <a:cs typeface="Inter" pitchFamily="34" charset="-120"/>
              </a:rPr>
              <a:t>Semantic layer</a:t>
            </a:r>
            <a:endParaRPr lang="en-US" sz="1650" dirty="0"/>
          </a:p>
        </p:txBody>
      </p:sp>
      <p:sp>
        <p:nvSpPr>
          <p:cNvPr id="20" name="Text 15"/>
          <p:cNvSpPr/>
          <p:nvPr/>
        </p:nvSpPr>
        <p:spPr>
          <a:xfrm>
            <a:off x="1895475" y="6123159"/>
            <a:ext cx="1649306" cy="228600"/>
          </a:xfrm>
          <a:prstGeom prst="rect">
            <a:avLst/>
          </a:prstGeom>
          <a:noFill/>
          <a:ln/>
        </p:spPr>
        <p:txBody>
          <a:bodyPr wrap="square" lIns="25400" tIns="25400" rIns="25400" bIns="25400" rtlCol="0" anchor="t">
            <a:normAutofit/>
          </a:bodyPr>
          <a:lstStyle/>
          <a:p>
            <a:pPr algn="l" indent="0" marL="0">
              <a:buNone/>
            </a:pPr>
            <a:r>
              <a:rPr lang="en-US" sz="1125" dirty="0">
                <a:solidFill>
                  <a:srgbClr val="B7C0CD"/>
                </a:solidFill>
                <a:latin typeface="JetBrains Mono" pitchFamily="34" charset="0"/>
                <a:ea typeface="JetBrains Mono" pitchFamily="34" charset="-122"/>
                <a:cs typeface="JetBrains Mono" pitchFamily="34" charset="-120"/>
              </a:rPr>
              <a:t>governed mapping</a:t>
            </a:r>
            <a:endParaRPr lang="en-US" sz="1125" dirty="0"/>
          </a:p>
        </p:txBody>
      </p:sp>
      <p:sp>
        <p:nvSpPr>
          <p:cNvPr id="21" name="Text 16"/>
          <p:cNvSpPr/>
          <p:nvPr/>
        </p:nvSpPr>
        <p:spPr>
          <a:xfrm>
            <a:off x="5192018" y="5873128"/>
            <a:ext cx="807765" cy="242888"/>
          </a:xfrm>
          <a:prstGeom prst="rect">
            <a:avLst/>
          </a:prstGeom>
          <a:noFill/>
          <a:ln/>
        </p:spPr>
        <p:txBody>
          <a:bodyPr wrap="square" lIns="25400" tIns="25400" rIns="25400" bIns="25400" rtlCol="0" anchor="t">
            <a:normAutofit/>
          </a:bodyPr>
          <a:lstStyle/>
          <a:p>
            <a:pPr algn="l" indent="0" marL="0">
              <a:buNone/>
            </a:pPr>
            <a:r>
              <a:rPr lang="en-US" sz="1200" dirty="0">
                <a:solidFill>
                  <a:srgbClr val="FFFFFF"/>
                </a:solidFill>
                <a:latin typeface="JetBrains Mono" pitchFamily="34" charset="0"/>
                <a:ea typeface="JetBrains Mono" pitchFamily="34" charset="-122"/>
                <a:cs typeface="JetBrains Mono" pitchFamily="34" charset="-120"/>
              </a:rPr>
              <a:t>Employee</a:t>
            </a:r>
            <a:endParaRPr lang="en-US" sz="1200" dirty="0"/>
          </a:p>
        </p:txBody>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72113" y="6135065"/>
            <a:ext cx="171450" cy="171450"/>
          </a:xfrm>
          <a:prstGeom prst="rect">
            <a:avLst/>
          </a:prstGeom>
        </p:spPr>
      </p:pic>
      <p:sp>
        <p:nvSpPr>
          <p:cNvPr id="23" name="Text 17"/>
          <p:cNvSpPr/>
          <p:nvPr/>
        </p:nvSpPr>
        <p:spPr>
          <a:xfrm>
            <a:off x="8466758" y="5873128"/>
            <a:ext cx="716310" cy="242888"/>
          </a:xfrm>
          <a:prstGeom prst="rect">
            <a:avLst/>
          </a:prstGeom>
          <a:noFill/>
          <a:ln/>
        </p:spPr>
        <p:txBody>
          <a:bodyPr wrap="square" lIns="25400" tIns="25400" rIns="25400" bIns="25400" rtlCol="0" anchor="t">
            <a:normAutofit/>
          </a:bodyPr>
          <a:lstStyle/>
          <a:p>
            <a:pPr algn="l" indent="0" marL="0">
              <a:buNone/>
            </a:pPr>
            <a:r>
              <a:rPr lang="en-US" sz="1200" dirty="0">
                <a:solidFill>
                  <a:srgbClr val="FFFFFF"/>
                </a:solidFill>
                <a:latin typeface="JetBrains Mono" pitchFamily="34" charset="0"/>
                <a:ea typeface="JetBrains Mono" pitchFamily="34" charset="-122"/>
                <a:cs typeface="JetBrains Mono" pitchFamily="34" charset="-120"/>
              </a:rPr>
              <a:t>Payroll</a:t>
            </a:r>
            <a:endParaRPr lang="en-US" sz="1200" dirty="0"/>
          </a:p>
        </p:txBody>
      </p:sp>
      <p:pic>
        <p:nvPicPr>
          <p:cNvPr id="2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701088" y="6135065"/>
            <a:ext cx="171450" cy="171450"/>
          </a:xfrm>
          <a:prstGeom prst="rect">
            <a:avLst/>
          </a:prstGeom>
        </p:spPr>
      </p:pic>
      <p:sp>
        <p:nvSpPr>
          <p:cNvPr id="25" name="Text 18"/>
          <p:cNvSpPr/>
          <p:nvPr/>
        </p:nvSpPr>
        <p:spPr>
          <a:xfrm>
            <a:off x="11558588" y="5873128"/>
            <a:ext cx="990600" cy="242888"/>
          </a:xfrm>
          <a:prstGeom prst="rect">
            <a:avLst/>
          </a:prstGeom>
          <a:noFill/>
          <a:ln/>
        </p:spPr>
        <p:txBody>
          <a:bodyPr wrap="square" lIns="25400" tIns="25400" rIns="25400" bIns="25400" rtlCol="0" anchor="t">
            <a:normAutofit/>
          </a:bodyPr>
          <a:lstStyle/>
          <a:p>
            <a:pPr algn="l" indent="0" marL="0">
              <a:buNone/>
            </a:pPr>
            <a:r>
              <a:rPr lang="en-US" sz="1200" dirty="0">
                <a:solidFill>
                  <a:srgbClr val="FFFFFF"/>
                </a:solidFill>
                <a:latin typeface="JetBrains Mono" pitchFamily="34" charset="0"/>
                <a:ea typeface="JetBrains Mono" pitchFamily="34" charset="-122"/>
                <a:cs typeface="JetBrains Mono" pitchFamily="34" charset="-120"/>
              </a:rPr>
              <a:t>Attendance</a:t>
            </a:r>
            <a:endParaRPr lang="en-US" sz="1200" dirty="0"/>
          </a:p>
        </p:txBody>
      </p:sp>
      <p:pic>
        <p:nvPicPr>
          <p:cNvPr id="2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930063" y="6135065"/>
            <a:ext cx="171450" cy="171450"/>
          </a:xfrm>
          <a:prstGeom prst="rect">
            <a:avLst/>
          </a:prstGeom>
        </p:spPr>
      </p:pic>
      <p:sp>
        <p:nvSpPr>
          <p:cNvPr id="27" name="Text 19"/>
          <p:cNvSpPr/>
          <p:nvPr/>
        </p:nvSpPr>
        <p:spPr>
          <a:xfrm>
            <a:off x="14878943" y="5873128"/>
            <a:ext cx="807765" cy="242888"/>
          </a:xfrm>
          <a:prstGeom prst="rect">
            <a:avLst/>
          </a:prstGeom>
          <a:noFill/>
          <a:ln/>
        </p:spPr>
        <p:txBody>
          <a:bodyPr wrap="square" lIns="25400" tIns="25400" rIns="25400" bIns="25400" rtlCol="0" anchor="t">
            <a:normAutofit/>
          </a:bodyPr>
          <a:lstStyle/>
          <a:p>
            <a:pPr algn="l" indent="0" marL="0">
              <a:buNone/>
            </a:pPr>
            <a:r>
              <a:rPr lang="en-US" sz="1200" dirty="0">
                <a:solidFill>
                  <a:srgbClr val="FFFFFF"/>
                </a:solidFill>
                <a:latin typeface="JetBrains Mono" pitchFamily="34" charset="0"/>
                <a:ea typeface="JetBrains Mono" pitchFamily="34" charset="-122"/>
                <a:cs typeface="JetBrains Mono" pitchFamily="34" charset="-120"/>
              </a:rPr>
              <a:t>Overtime</a:t>
            </a:r>
            <a:endParaRPr lang="en-US" sz="1200" dirty="0"/>
          </a:p>
        </p:txBody>
      </p:sp>
      <p:pic>
        <p:nvPicPr>
          <p:cNvPr id="28"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5159038" y="6135065"/>
            <a:ext cx="171450" cy="171450"/>
          </a:xfrm>
          <a:prstGeom prst="rect">
            <a:avLst/>
          </a:prstGeom>
        </p:spPr>
      </p:pic>
      <p:sp>
        <p:nvSpPr>
          <p:cNvPr id="29" name="Shape 20"/>
          <p:cNvSpPr/>
          <p:nvPr/>
        </p:nvSpPr>
        <p:spPr>
          <a:xfrm>
            <a:off x="1143000" y="6809072"/>
            <a:ext cx="16002000" cy="990600"/>
          </a:xfrm>
          <a:prstGeom prst="roundRect">
            <a:avLst>
              <a:gd name="adj" fmla="val 13462"/>
            </a:avLst>
          </a:prstGeom>
          <a:solidFill>
            <a:srgbClr val="161F2B"/>
          </a:solidFill>
          <a:ln w="9525">
            <a:solidFill>
              <a:srgbClr val="2A3441"/>
            </a:solidFill>
            <a:prstDash val="solid"/>
          </a:ln>
        </p:spPr>
      </p:sp>
      <p:pic>
        <p:nvPicPr>
          <p:cNvPr id="30"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495425" y="7180547"/>
            <a:ext cx="247650" cy="247650"/>
          </a:xfrm>
          <a:prstGeom prst="rect">
            <a:avLst/>
          </a:prstGeom>
        </p:spPr>
      </p:pic>
      <p:sp>
        <p:nvSpPr>
          <p:cNvPr id="31" name="Text 21"/>
          <p:cNvSpPr/>
          <p:nvPr/>
        </p:nvSpPr>
        <p:spPr>
          <a:xfrm>
            <a:off x="1876425" y="7175784"/>
            <a:ext cx="1677955" cy="295275"/>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solidFill>
                <a:latin typeface="Inter" pitchFamily="34" charset="0"/>
                <a:ea typeface="Inter" pitchFamily="34" charset="-122"/>
                <a:cs typeface="Inter" pitchFamily="34" charset="-120"/>
              </a:rPr>
              <a:t>Physical tables</a:t>
            </a:r>
            <a:endParaRPr lang="en-US" sz="1650" dirty="0"/>
          </a:p>
        </p:txBody>
      </p:sp>
      <p:sp>
        <p:nvSpPr>
          <p:cNvPr id="32" name="Shape 22"/>
          <p:cNvSpPr/>
          <p:nvPr/>
        </p:nvSpPr>
        <p:spPr>
          <a:xfrm>
            <a:off x="4010025" y="7066247"/>
            <a:ext cx="3109913" cy="476250"/>
          </a:xfrm>
          <a:prstGeom prst="roundRect">
            <a:avLst>
              <a:gd name="adj" fmla="val 16000"/>
            </a:avLst>
          </a:prstGeom>
          <a:solidFill>
            <a:srgbClr val="10171F"/>
          </a:solidFill>
          <a:ln w="9525">
            <a:solidFill>
              <a:srgbClr val="2A3441"/>
            </a:solidFill>
            <a:prstDash val="solid"/>
          </a:ln>
        </p:spPr>
      </p:sp>
      <p:sp>
        <p:nvSpPr>
          <p:cNvPr id="33" name="Text 23"/>
          <p:cNvSpPr/>
          <p:nvPr/>
        </p:nvSpPr>
        <p:spPr>
          <a:xfrm>
            <a:off x="4125301" y="7190072"/>
            <a:ext cx="2879360" cy="266700"/>
          </a:xfrm>
          <a:prstGeom prst="rect">
            <a:avLst/>
          </a:prstGeom>
          <a:noFill/>
          <a:ln/>
        </p:spPr>
        <p:txBody>
          <a:bodyPr wrap="square" lIns="25400" tIns="25400" rIns="25400" bIns="25400" rtlCol="0" anchor="t">
            <a:normAutofit/>
          </a:bodyPr>
          <a:lstStyle/>
          <a:p>
            <a:pPr algn="ctr" indent="0" marL="0">
              <a:buNone/>
            </a:pPr>
            <a:r>
              <a:rPr lang="en-US" sz="1350" dirty="0">
                <a:solidFill>
                  <a:srgbClr val="00D084"/>
                </a:solidFill>
                <a:latin typeface="JetBrains Mono" pitchFamily="34" charset="0"/>
                <a:ea typeface="JetBrains Mono" pitchFamily="34" charset="-122"/>
                <a:cs typeface="JetBrains Mono" pitchFamily="34" charset="-120"/>
              </a:rPr>
              <a:t>dim_employee</a:t>
            </a:r>
            <a:endParaRPr lang="en-US" sz="1350" dirty="0"/>
          </a:p>
        </p:txBody>
      </p:sp>
      <p:sp>
        <p:nvSpPr>
          <p:cNvPr id="34" name="Shape 24"/>
          <p:cNvSpPr/>
          <p:nvPr/>
        </p:nvSpPr>
        <p:spPr>
          <a:xfrm>
            <a:off x="7234238" y="7066247"/>
            <a:ext cx="3109913" cy="476250"/>
          </a:xfrm>
          <a:prstGeom prst="roundRect">
            <a:avLst>
              <a:gd name="adj" fmla="val 16000"/>
            </a:avLst>
          </a:prstGeom>
          <a:solidFill>
            <a:srgbClr val="10171F"/>
          </a:solidFill>
          <a:ln w="9525">
            <a:solidFill>
              <a:srgbClr val="2A3441"/>
            </a:solidFill>
            <a:prstDash val="solid"/>
          </a:ln>
        </p:spPr>
      </p:sp>
      <p:sp>
        <p:nvSpPr>
          <p:cNvPr id="35" name="Text 25"/>
          <p:cNvSpPr/>
          <p:nvPr/>
        </p:nvSpPr>
        <p:spPr>
          <a:xfrm>
            <a:off x="7349514" y="7190072"/>
            <a:ext cx="2879360" cy="266700"/>
          </a:xfrm>
          <a:prstGeom prst="rect">
            <a:avLst/>
          </a:prstGeom>
          <a:noFill/>
          <a:ln/>
        </p:spPr>
        <p:txBody>
          <a:bodyPr wrap="square" lIns="25400" tIns="25400" rIns="25400" bIns="25400" rtlCol="0" anchor="t">
            <a:normAutofit/>
          </a:bodyPr>
          <a:lstStyle/>
          <a:p>
            <a:pPr algn="ctr" indent="0" marL="0">
              <a:buNone/>
            </a:pPr>
            <a:r>
              <a:rPr lang="en-US" sz="1350" dirty="0">
                <a:solidFill>
                  <a:srgbClr val="00D084"/>
                </a:solidFill>
                <a:latin typeface="JetBrains Mono" pitchFamily="34" charset="0"/>
                <a:ea typeface="JetBrains Mono" pitchFamily="34" charset="-122"/>
                <a:cs typeface="JetBrains Mono" pitchFamily="34" charset="-120"/>
              </a:rPr>
              <a:t>fct_payroll</a:t>
            </a:r>
            <a:endParaRPr lang="en-US" sz="1350" dirty="0"/>
          </a:p>
        </p:txBody>
      </p:sp>
      <p:sp>
        <p:nvSpPr>
          <p:cNvPr id="36" name="Shape 26"/>
          <p:cNvSpPr/>
          <p:nvPr/>
        </p:nvSpPr>
        <p:spPr>
          <a:xfrm>
            <a:off x="10458450" y="7066247"/>
            <a:ext cx="3109913" cy="476250"/>
          </a:xfrm>
          <a:prstGeom prst="roundRect">
            <a:avLst>
              <a:gd name="adj" fmla="val 16000"/>
            </a:avLst>
          </a:prstGeom>
          <a:solidFill>
            <a:srgbClr val="10171F"/>
          </a:solidFill>
          <a:ln w="9525">
            <a:solidFill>
              <a:srgbClr val="2A3441"/>
            </a:solidFill>
            <a:prstDash val="solid"/>
          </a:ln>
        </p:spPr>
      </p:sp>
      <p:sp>
        <p:nvSpPr>
          <p:cNvPr id="37" name="Text 27"/>
          <p:cNvSpPr/>
          <p:nvPr/>
        </p:nvSpPr>
        <p:spPr>
          <a:xfrm>
            <a:off x="10573726" y="7190072"/>
            <a:ext cx="2879360" cy="266700"/>
          </a:xfrm>
          <a:prstGeom prst="rect">
            <a:avLst/>
          </a:prstGeom>
          <a:noFill/>
          <a:ln/>
        </p:spPr>
        <p:txBody>
          <a:bodyPr wrap="square" lIns="25400" tIns="25400" rIns="25400" bIns="25400" rtlCol="0" anchor="t">
            <a:normAutofit/>
          </a:bodyPr>
          <a:lstStyle/>
          <a:p>
            <a:pPr algn="ctr" indent="0" marL="0">
              <a:buNone/>
            </a:pPr>
            <a:r>
              <a:rPr lang="en-US" sz="1350" dirty="0">
                <a:solidFill>
                  <a:srgbClr val="00D084"/>
                </a:solidFill>
                <a:latin typeface="JetBrains Mono" pitchFamily="34" charset="0"/>
                <a:ea typeface="JetBrains Mono" pitchFamily="34" charset="-122"/>
                <a:cs typeface="JetBrains Mono" pitchFamily="34" charset="-120"/>
              </a:rPr>
              <a:t>fct_attendance</a:t>
            </a:r>
            <a:endParaRPr lang="en-US" sz="1350" dirty="0"/>
          </a:p>
        </p:txBody>
      </p:sp>
      <p:sp>
        <p:nvSpPr>
          <p:cNvPr id="38" name="Shape 28"/>
          <p:cNvSpPr/>
          <p:nvPr/>
        </p:nvSpPr>
        <p:spPr>
          <a:xfrm>
            <a:off x="13682663" y="7066247"/>
            <a:ext cx="3109913" cy="476250"/>
          </a:xfrm>
          <a:prstGeom prst="roundRect">
            <a:avLst>
              <a:gd name="adj" fmla="val 16000"/>
            </a:avLst>
          </a:prstGeom>
          <a:solidFill>
            <a:srgbClr val="10171F"/>
          </a:solidFill>
          <a:ln w="9525">
            <a:solidFill>
              <a:srgbClr val="2A3441"/>
            </a:solidFill>
            <a:prstDash val="solid"/>
          </a:ln>
        </p:spPr>
      </p:sp>
      <p:sp>
        <p:nvSpPr>
          <p:cNvPr id="39" name="Text 29"/>
          <p:cNvSpPr/>
          <p:nvPr/>
        </p:nvSpPr>
        <p:spPr>
          <a:xfrm>
            <a:off x="13797939" y="7190072"/>
            <a:ext cx="2879360" cy="266700"/>
          </a:xfrm>
          <a:prstGeom prst="rect">
            <a:avLst/>
          </a:prstGeom>
          <a:noFill/>
          <a:ln/>
        </p:spPr>
        <p:txBody>
          <a:bodyPr wrap="square" lIns="25400" tIns="25400" rIns="25400" bIns="25400" rtlCol="0" anchor="t">
            <a:normAutofit/>
          </a:bodyPr>
          <a:lstStyle/>
          <a:p>
            <a:pPr algn="ctr" indent="0" marL="0">
              <a:buNone/>
            </a:pPr>
            <a:r>
              <a:rPr lang="en-US" sz="1350" dirty="0">
                <a:solidFill>
                  <a:srgbClr val="00D084"/>
                </a:solidFill>
                <a:latin typeface="JetBrains Mono" pitchFamily="34" charset="0"/>
                <a:ea typeface="JetBrains Mono" pitchFamily="34" charset="-122"/>
                <a:cs typeface="JetBrains Mono" pitchFamily="34" charset="-120"/>
              </a:rPr>
              <a:t>fct_overtime</a:t>
            </a:r>
            <a:endParaRPr lang="en-US" sz="1350" dirty="0"/>
          </a:p>
        </p:txBody>
      </p:sp>
      <p:sp>
        <p:nvSpPr>
          <p:cNvPr id="40" name="Shape 30"/>
          <p:cNvSpPr/>
          <p:nvPr/>
        </p:nvSpPr>
        <p:spPr>
          <a:xfrm>
            <a:off x="1143000" y="9577388"/>
            <a:ext cx="16002000" cy="9525"/>
          </a:xfrm>
          <a:prstGeom prst="rect">
            <a:avLst/>
          </a:prstGeom>
          <a:solidFill>
            <a:srgbClr val="2A3441"/>
          </a:solidFill>
          <a:ln/>
        </p:spPr>
      </p:sp>
      <p:sp>
        <p:nvSpPr>
          <p:cNvPr id="41" name="Text 31"/>
          <p:cNvSpPr/>
          <p:nvPr/>
        </p:nvSpPr>
        <p:spPr>
          <a:xfrm>
            <a:off x="1143000" y="9739313"/>
            <a:ext cx="89349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MINT HR OS</a:t>
            </a:r>
            <a:endParaRPr lang="en-US" sz="975" dirty="0"/>
          </a:p>
        </p:txBody>
      </p:sp>
      <p:sp>
        <p:nvSpPr>
          <p:cNvPr id="42" name="Text 32"/>
          <p:cNvSpPr/>
          <p:nvPr/>
        </p:nvSpPr>
        <p:spPr>
          <a:xfrm>
            <a:off x="7795543" y="9739313"/>
            <a:ext cx="323632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HR &amp; Payroll Intelligence in Seconds</a:t>
            </a:r>
            <a:endParaRPr lang="en-US" sz="975" dirty="0"/>
          </a:p>
        </p:txBody>
      </p:sp>
      <p:sp>
        <p:nvSpPr>
          <p:cNvPr id="43" name="Text 33"/>
          <p:cNvSpPr/>
          <p:nvPr/>
        </p:nvSpPr>
        <p:spPr>
          <a:xfrm>
            <a:off x="16572905" y="9739313"/>
            <a:ext cx="648295"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06 / 17</a:t>
            </a:r>
            <a:endParaRPr lang="en-US" sz="9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1143000" y="800100"/>
            <a:ext cx="17602200" cy="214313"/>
          </a:xfrm>
          <a:prstGeom prst="rect">
            <a:avLst/>
          </a:prstGeom>
          <a:noFill/>
          <a:ln/>
        </p:spPr>
        <p:txBody>
          <a:bodyPr wrap="square" lIns="25400" tIns="25400" rIns="25400" bIns="25400" rtlCol="0" anchor="t">
            <a:normAutofit/>
          </a:bodyPr>
          <a:lstStyle/>
          <a:p>
            <a:pPr algn="l" indent="0" marL="0">
              <a:buNone/>
            </a:pPr>
            <a:r>
              <a:rPr lang="en-US" sz="1050" spc="336" kern="0" dirty="0">
                <a:solidFill>
                  <a:srgbClr val="00C2FF"/>
                </a:solidFill>
                <a:latin typeface="JetBrains Mono" pitchFamily="34" charset="0"/>
                <a:ea typeface="JetBrains Mono" pitchFamily="34" charset="-122"/>
                <a:cs typeface="JetBrains Mono" pitchFamily="34" charset="-120"/>
              </a:rPr>
              <a:t>07 / THE GRAMMAR OF A QUESTION</a:t>
            </a:r>
            <a:endParaRPr lang="en-US" sz="1050" dirty="0"/>
          </a:p>
        </p:txBody>
      </p:sp>
      <p:sp>
        <p:nvSpPr>
          <p:cNvPr id="3" name="Text 1"/>
          <p:cNvSpPr/>
          <p:nvPr/>
        </p:nvSpPr>
        <p:spPr>
          <a:xfrm>
            <a:off x="1143000" y="1110062"/>
            <a:ext cx="1760220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spc="-75" kern="0" dirty="0">
                <a:solidFill>
                  <a:srgbClr val="FFFFFF"/>
                </a:solidFill>
                <a:latin typeface="Inter" pitchFamily="34" charset="0"/>
                <a:ea typeface="Inter" pitchFamily="34" charset="-122"/>
                <a:cs typeface="Inter" pitchFamily="34" charset="-120"/>
              </a:rPr>
              <a:t>Every HR question decomposes into five blocks</a:t>
            </a:r>
            <a:endParaRPr lang="en-US" sz="3750" dirty="0"/>
          </a:p>
        </p:txBody>
      </p:sp>
      <p:sp>
        <p:nvSpPr>
          <p:cNvPr id="4" name="Shape 2"/>
          <p:cNvSpPr/>
          <p:nvPr/>
        </p:nvSpPr>
        <p:spPr>
          <a:xfrm>
            <a:off x="1143000" y="1800624"/>
            <a:ext cx="609600" cy="28575"/>
          </a:xfrm>
          <a:prstGeom prst="roundRect">
            <a:avLst>
              <a:gd name="adj" fmla="val 50000"/>
            </a:avLst>
          </a:prstGeom>
          <a:solidFill>
            <a:srgbClr val="7A5AF8"/>
          </a:solidFill>
          <a:ln/>
        </p:spPr>
      </p:sp>
      <p:sp>
        <p:nvSpPr>
          <p:cNvPr id="5" name="Shape 3"/>
          <p:cNvSpPr/>
          <p:nvPr/>
        </p:nvSpPr>
        <p:spPr>
          <a:xfrm>
            <a:off x="1143000" y="4590283"/>
            <a:ext cx="3032745" cy="2635077"/>
          </a:xfrm>
          <a:prstGeom prst="roundRect">
            <a:avLst>
              <a:gd name="adj" fmla="val 5061"/>
            </a:avLst>
          </a:prstGeom>
          <a:solidFill>
            <a:srgbClr val="161F2B"/>
          </a:solidFill>
          <a:ln/>
        </p:spPr>
      </p:sp>
      <p:sp>
        <p:nvSpPr>
          <p:cNvPr id="6" name="Shape 4"/>
          <p:cNvSpPr/>
          <p:nvPr/>
        </p:nvSpPr>
        <p:spPr>
          <a:xfrm>
            <a:off x="1143000" y="7215835"/>
            <a:ext cx="3032745" cy="9525"/>
          </a:xfrm>
          <a:prstGeom prst="rect">
            <a:avLst/>
          </a:prstGeom>
          <a:solidFill>
            <a:srgbClr val="2A3441"/>
          </a:solidFill>
          <a:ln/>
        </p:spPr>
      </p:sp>
      <p:sp>
        <p:nvSpPr>
          <p:cNvPr id="7" name="Shape 5"/>
          <p:cNvSpPr/>
          <p:nvPr/>
        </p:nvSpPr>
        <p:spPr>
          <a:xfrm>
            <a:off x="1143000" y="4590283"/>
            <a:ext cx="3032745" cy="38100"/>
          </a:xfrm>
          <a:prstGeom prst="rect">
            <a:avLst/>
          </a:prstGeom>
          <a:solidFill>
            <a:srgbClr val="7A5AF8"/>
          </a:solidFill>
          <a:ln/>
        </p:spPr>
      </p:sp>
      <p:sp>
        <p:nvSpPr>
          <p:cNvPr id="8" name="Shape 6"/>
          <p:cNvSpPr/>
          <p:nvPr/>
        </p:nvSpPr>
        <p:spPr>
          <a:xfrm>
            <a:off x="1143000" y="4590283"/>
            <a:ext cx="9525" cy="2635077"/>
          </a:xfrm>
          <a:prstGeom prst="rect">
            <a:avLst/>
          </a:prstGeom>
          <a:solidFill>
            <a:srgbClr val="2A3441"/>
          </a:solidFill>
          <a:ln/>
        </p:spPr>
      </p:sp>
      <p:sp>
        <p:nvSpPr>
          <p:cNvPr id="9" name="Shape 7"/>
          <p:cNvSpPr/>
          <p:nvPr/>
        </p:nvSpPr>
        <p:spPr>
          <a:xfrm>
            <a:off x="4166220" y="4590283"/>
            <a:ext cx="9525" cy="2635077"/>
          </a:xfrm>
          <a:prstGeom prst="rect">
            <a:avLst/>
          </a:prstGeom>
          <a:solidFill>
            <a:srgbClr val="2A3441"/>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00175" y="4933184"/>
            <a:ext cx="323850" cy="323850"/>
          </a:xfrm>
          <a:prstGeom prst="rect">
            <a:avLst/>
          </a:prstGeom>
        </p:spPr>
      </p:pic>
      <p:sp>
        <p:nvSpPr>
          <p:cNvPr id="11" name="Text 8"/>
          <p:cNvSpPr/>
          <p:nvPr/>
        </p:nvSpPr>
        <p:spPr>
          <a:xfrm>
            <a:off x="1400175" y="5428484"/>
            <a:ext cx="2770235" cy="204787"/>
          </a:xfrm>
          <a:prstGeom prst="rect">
            <a:avLst/>
          </a:prstGeom>
          <a:noFill/>
          <a:ln/>
        </p:spPr>
        <p:txBody>
          <a:bodyPr wrap="square" lIns="25400" tIns="25400" rIns="25400" bIns="25400" rtlCol="0" anchor="t">
            <a:normAutofit/>
          </a:bodyPr>
          <a:lstStyle/>
          <a:p>
            <a:pPr algn="l" indent="0" marL="0">
              <a:buNone/>
            </a:pPr>
            <a:r>
              <a:rPr lang="en-US" sz="975" spc="195" kern="0" dirty="0">
                <a:solidFill>
                  <a:srgbClr val="74808F"/>
                </a:solidFill>
                <a:latin typeface="JetBrains Mono" pitchFamily="34" charset="0"/>
                <a:ea typeface="JetBrains Mono" pitchFamily="34" charset="-122"/>
                <a:cs typeface="JetBrains Mono" pitchFamily="34" charset="-120"/>
              </a:rPr>
              <a:t>01</a:t>
            </a:r>
            <a:endParaRPr lang="en-US" sz="975" dirty="0"/>
          </a:p>
        </p:txBody>
      </p:sp>
      <p:sp>
        <p:nvSpPr>
          <p:cNvPr id="12" name="Text 9"/>
          <p:cNvSpPr/>
          <p:nvPr/>
        </p:nvSpPr>
        <p:spPr>
          <a:xfrm>
            <a:off x="1400175" y="5633271"/>
            <a:ext cx="2770235" cy="338138"/>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Inter" pitchFamily="34" charset="0"/>
                <a:ea typeface="Inter" pitchFamily="34" charset="-122"/>
                <a:cs typeface="Inter" pitchFamily="34" charset="-120"/>
              </a:rPr>
              <a:t>Subject</a:t>
            </a:r>
            <a:endParaRPr lang="en-US" sz="1950" dirty="0"/>
          </a:p>
        </p:txBody>
      </p:sp>
      <p:sp>
        <p:nvSpPr>
          <p:cNvPr id="13" name="Text 10"/>
          <p:cNvSpPr/>
          <p:nvPr/>
        </p:nvSpPr>
        <p:spPr>
          <a:xfrm>
            <a:off x="1400175" y="6104759"/>
            <a:ext cx="2770235" cy="272876"/>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B7C0CD"/>
                </a:solidFill>
                <a:latin typeface="Inter" pitchFamily="34" charset="0"/>
                <a:ea typeface="Inter" pitchFamily="34" charset="-122"/>
                <a:cs typeface="Inter" pitchFamily="34" charset="-120"/>
              </a:rPr>
              <a:t>The entity in focus</a:t>
            </a:r>
            <a:endParaRPr lang="en-US" sz="1275" dirty="0"/>
          </a:p>
        </p:txBody>
      </p:sp>
      <p:sp>
        <p:nvSpPr>
          <p:cNvPr id="14" name="Shape 11"/>
          <p:cNvSpPr/>
          <p:nvPr/>
        </p:nvSpPr>
        <p:spPr>
          <a:xfrm>
            <a:off x="1400175" y="6510985"/>
            <a:ext cx="2518395" cy="400050"/>
          </a:xfrm>
          <a:prstGeom prst="roundRect">
            <a:avLst>
              <a:gd name="adj" fmla="val 19048"/>
            </a:avLst>
          </a:prstGeom>
          <a:solidFill>
            <a:srgbClr val="10171F"/>
          </a:solidFill>
          <a:ln w="9525">
            <a:solidFill>
              <a:srgbClr val="2A3441"/>
            </a:solidFill>
            <a:prstDash val="solid"/>
          </a:ln>
        </p:spPr>
      </p:sp>
      <p:sp>
        <p:nvSpPr>
          <p:cNvPr id="15" name="Text 12"/>
          <p:cNvSpPr/>
          <p:nvPr/>
        </p:nvSpPr>
        <p:spPr>
          <a:xfrm>
            <a:off x="1524000" y="6615760"/>
            <a:ext cx="2346945" cy="228600"/>
          </a:xfrm>
          <a:prstGeom prst="rect">
            <a:avLst/>
          </a:prstGeom>
          <a:noFill/>
          <a:ln/>
        </p:spPr>
        <p:txBody>
          <a:bodyPr wrap="square" lIns="25400" tIns="25400" rIns="25400" bIns="25400" rtlCol="0" anchor="t">
            <a:normAutofit/>
          </a:bodyPr>
          <a:lstStyle/>
          <a:p>
            <a:pPr algn="l" indent="0" marL="0">
              <a:buNone/>
            </a:pPr>
            <a:r>
              <a:rPr lang="en-US" sz="1125" dirty="0">
                <a:solidFill>
                  <a:srgbClr val="00C2FF"/>
                </a:solidFill>
                <a:latin typeface="JetBrains Mono" pitchFamily="34" charset="0"/>
                <a:ea typeface="JetBrains Mono" pitchFamily="34" charset="-122"/>
                <a:cs typeface="JetBrains Mono" pitchFamily="34" charset="-120"/>
              </a:rPr>
              <a:t>Employee · Overtime</a:t>
            </a:r>
            <a:endParaRPr lang="en-US" sz="1125" dirty="0"/>
          </a:p>
        </p:txBody>
      </p:sp>
      <p:sp>
        <p:nvSpPr>
          <p:cNvPr id="16" name="Shape 13"/>
          <p:cNvSpPr/>
          <p:nvPr/>
        </p:nvSpPr>
        <p:spPr>
          <a:xfrm>
            <a:off x="4385295" y="4590283"/>
            <a:ext cx="3032745" cy="2635077"/>
          </a:xfrm>
          <a:prstGeom prst="roundRect">
            <a:avLst>
              <a:gd name="adj" fmla="val 5061"/>
            </a:avLst>
          </a:prstGeom>
          <a:solidFill>
            <a:srgbClr val="161F2B"/>
          </a:solidFill>
          <a:ln/>
        </p:spPr>
      </p:sp>
      <p:sp>
        <p:nvSpPr>
          <p:cNvPr id="17" name="Shape 14"/>
          <p:cNvSpPr/>
          <p:nvPr/>
        </p:nvSpPr>
        <p:spPr>
          <a:xfrm>
            <a:off x="4385295" y="7215835"/>
            <a:ext cx="3032745" cy="9525"/>
          </a:xfrm>
          <a:prstGeom prst="rect">
            <a:avLst/>
          </a:prstGeom>
          <a:solidFill>
            <a:srgbClr val="2A3441"/>
          </a:solidFill>
          <a:ln/>
        </p:spPr>
      </p:sp>
      <p:sp>
        <p:nvSpPr>
          <p:cNvPr id="18" name="Shape 15"/>
          <p:cNvSpPr/>
          <p:nvPr/>
        </p:nvSpPr>
        <p:spPr>
          <a:xfrm>
            <a:off x="4385295" y="4590283"/>
            <a:ext cx="3032745" cy="38100"/>
          </a:xfrm>
          <a:prstGeom prst="rect">
            <a:avLst/>
          </a:prstGeom>
          <a:solidFill>
            <a:srgbClr val="00C2FF"/>
          </a:solidFill>
          <a:ln/>
        </p:spPr>
      </p:sp>
      <p:sp>
        <p:nvSpPr>
          <p:cNvPr id="19" name="Shape 16"/>
          <p:cNvSpPr/>
          <p:nvPr/>
        </p:nvSpPr>
        <p:spPr>
          <a:xfrm>
            <a:off x="4385295" y="4590283"/>
            <a:ext cx="9525" cy="2635077"/>
          </a:xfrm>
          <a:prstGeom prst="rect">
            <a:avLst/>
          </a:prstGeom>
          <a:solidFill>
            <a:srgbClr val="2A3441"/>
          </a:solidFill>
          <a:ln/>
        </p:spPr>
      </p:sp>
      <p:sp>
        <p:nvSpPr>
          <p:cNvPr id="20" name="Shape 17"/>
          <p:cNvSpPr/>
          <p:nvPr/>
        </p:nvSpPr>
        <p:spPr>
          <a:xfrm>
            <a:off x="7408515" y="4590283"/>
            <a:ext cx="9525" cy="2635077"/>
          </a:xfrm>
          <a:prstGeom prst="rect">
            <a:avLst/>
          </a:prstGeom>
          <a:solidFill>
            <a:srgbClr val="2A3441"/>
          </a:solidFill>
          <a:ln/>
        </p:spPr>
      </p:sp>
      <p:pic>
        <p:nvPicPr>
          <p:cNvPr id="2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42470" y="4933184"/>
            <a:ext cx="323850" cy="323850"/>
          </a:xfrm>
          <a:prstGeom prst="rect">
            <a:avLst/>
          </a:prstGeom>
        </p:spPr>
      </p:pic>
      <p:sp>
        <p:nvSpPr>
          <p:cNvPr id="22" name="Text 18"/>
          <p:cNvSpPr/>
          <p:nvPr/>
        </p:nvSpPr>
        <p:spPr>
          <a:xfrm>
            <a:off x="4642470" y="5428484"/>
            <a:ext cx="2770235" cy="204787"/>
          </a:xfrm>
          <a:prstGeom prst="rect">
            <a:avLst/>
          </a:prstGeom>
          <a:noFill/>
          <a:ln/>
        </p:spPr>
        <p:txBody>
          <a:bodyPr wrap="square" lIns="25400" tIns="25400" rIns="25400" bIns="25400" rtlCol="0" anchor="t">
            <a:normAutofit/>
          </a:bodyPr>
          <a:lstStyle/>
          <a:p>
            <a:pPr algn="l" indent="0" marL="0">
              <a:buNone/>
            </a:pPr>
            <a:r>
              <a:rPr lang="en-US" sz="975" spc="195" kern="0" dirty="0">
                <a:solidFill>
                  <a:srgbClr val="74808F"/>
                </a:solidFill>
                <a:latin typeface="JetBrains Mono" pitchFamily="34" charset="0"/>
                <a:ea typeface="JetBrains Mono" pitchFamily="34" charset="-122"/>
                <a:cs typeface="JetBrains Mono" pitchFamily="34" charset="-120"/>
              </a:rPr>
              <a:t>02</a:t>
            </a:r>
            <a:endParaRPr lang="en-US" sz="975" dirty="0"/>
          </a:p>
        </p:txBody>
      </p:sp>
      <p:sp>
        <p:nvSpPr>
          <p:cNvPr id="23" name="Text 19"/>
          <p:cNvSpPr/>
          <p:nvPr/>
        </p:nvSpPr>
        <p:spPr>
          <a:xfrm>
            <a:off x="4642470" y="5633271"/>
            <a:ext cx="2770235" cy="338138"/>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Inter" pitchFamily="34" charset="0"/>
                <a:ea typeface="Inter" pitchFamily="34" charset="-122"/>
                <a:cs typeface="Inter" pitchFamily="34" charset="-120"/>
              </a:rPr>
              <a:t>Measure</a:t>
            </a:r>
            <a:endParaRPr lang="en-US" sz="1950" dirty="0"/>
          </a:p>
        </p:txBody>
      </p:sp>
      <p:sp>
        <p:nvSpPr>
          <p:cNvPr id="24" name="Text 20"/>
          <p:cNvSpPr/>
          <p:nvPr/>
        </p:nvSpPr>
        <p:spPr>
          <a:xfrm>
            <a:off x="4642470" y="6104759"/>
            <a:ext cx="2770235" cy="272876"/>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B7C0CD"/>
                </a:solidFill>
                <a:latin typeface="Inter" pitchFamily="34" charset="0"/>
                <a:ea typeface="Inter" pitchFamily="34" charset="-122"/>
                <a:cs typeface="Inter" pitchFamily="34" charset="-120"/>
              </a:rPr>
              <a:t>What gets aggregated</a:t>
            </a:r>
            <a:endParaRPr lang="en-US" sz="1275" dirty="0"/>
          </a:p>
        </p:txBody>
      </p:sp>
      <p:sp>
        <p:nvSpPr>
          <p:cNvPr id="25" name="Shape 21"/>
          <p:cNvSpPr/>
          <p:nvPr/>
        </p:nvSpPr>
        <p:spPr>
          <a:xfrm>
            <a:off x="4642470" y="6510985"/>
            <a:ext cx="2518395" cy="400050"/>
          </a:xfrm>
          <a:prstGeom prst="roundRect">
            <a:avLst>
              <a:gd name="adj" fmla="val 19048"/>
            </a:avLst>
          </a:prstGeom>
          <a:solidFill>
            <a:srgbClr val="10171F"/>
          </a:solidFill>
          <a:ln w="9525">
            <a:solidFill>
              <a:srgbClr val="2A3441"/>
            </a:solidFill>
            <a:prstDash val="solid"/>
          </a:ln>
        </p:spPr>
      </p:sp>
      <p:sp>
        <p:nvSpPr>
          <p:cNvPr id="26" name="Text 22"/>
          <p:cNvSpPr/>
          <p:nvPr/>
        </p:nvSpPr>
        <p:spPr>
          <a:xfrm>
            <a:off x="4766295" y="6615760"/>
            <a:ext cx="2346945" cy="228600"/>
          </a:xfrm>
          <a:prstGeom prst="rect">
            <a:avLst/>
          </a:prstGeom>
          <a:noFill/>
          <a:ln/>
        </p:spPr>
        <p:txBody>
          <a:bodyPr wrap="square" lIns="25400" tIns="25400" rIns="25400" bIns="25400" rtlCol="0" anchor="t">
            <a:normAutofit/>
          </a:bodyPr>
          <a:lstStyle/>
          <a:p>
            <a:pPr algn="l" indent="0" marL="0">
              <a:buNone/>
            </a:pPr>
            <a:r>
              <a:rPr lang="en-US" sz="1125" dirty="0">
                <a:solidFill>
                  <a:srgbClr val="00C2FF"/>
                </a:solidFill>
                <a:latin typeface="JetBrains Mono" pitchFamily="34" charset="0"/>
                <a:ea typeface="JetBrains Mono" pitchFamily="34" charset="-122"/>
                <a:cs typeface="JetBrains Mono" pitchFamily="34" charset="-120"/>
              </a:rPr>
              <a:t>sum(hours) · count(*)</a:t>
            </a:r>
            <a:endParaRPr lang="en-US" sz="1125" dirty="0"/>
          </a:p>
        </p:txBody>
      </p:sp>
      <p:sp>
        <p:nvSpPr>
          <p:cNvPr id="27" name="Shape 23"/>
          <p:cNvSpPr/>
          <p:nvPr/>
        </p:nvSpPr>
        <p:spPr>
          <a:xfrm>
            <a:off x="7627590" y="4594675"/>
            <a:ext cx="3032745" cy="2635077"/>
          </a:xfrm>
          <a:prstGeom prst="roundRect">
            <a:avLst>
              <a:gd name="adj" fmla="val 5061"/>
            </a:avLst>
          </a:prstGeom>
          <a:solidFill>
            <a:srgbClr val="161F2B"/>
          </a:solidFill>
          <a:ln/>
        </p:spPr>
      </p:sp>
      <p:sp>
        <p:nvSpPr>
          <p:cNvPr id="28" name="Shape 24"/>
          <p:cNvSpPr/>
          <p:nvPr/>
        </p:nvSpPr>
        <p:spPr>
          <a:xfrm>
            <a:off x="7627590" y="7220227"/>
            <a:ext cx="3032745" cy="9525"/>
          </a:xfrm>
          <a:prstGeom prst="rect">
            <a:avLst/>
          </a:prstGeom>
          <a:solidFill>
            <a:srgbClr val="2A3441"/>
          </a:solidFill>
          <a:ln/>
        </p:spPr>
      </p:sp>
      <p:sp>
        <p:nvSpPr>
          <p:cNvPr id="29" name="Shape 25"/>
          <p:cNvSpPr/>
          <p:nvPr/>
        </p:nvSpPr>
        <p:spPr>
          <a:xfrm>
            <a:off x="7627590" y="4594675"/>
            <a:ext cx="3032745" cy="38100"/>
          </a:xfrm>
          <a:prstGeom prst="rect">
            <a:avLst/>
          </a:prstGeom>
          <a:solidFill>
            <a:srgbClr val="00D084"/>
          </a:solidFill>
          <a:ln/>
        </p:spPr>
      </p:sp>
      <p:sp>
        <p:nvSpPr>
          <p:cNvPr id="30" name="Shape 26"/>
          <p:cNvSpPr/>
          <p:nvPr/>
        </p:nvSpPr>
        <p:spPr>
          <a:xfrm>
            <a:off x="7627590" y="4594675"/>
            <a:ext cx="9525" cy="2635077"/>
          </a:xfrm>
          <a:prstGeom prst="rect">
            <a:avLst/>
          </a:prstGeom>
          <a:solidFill>
            <a:srgbClr val="2A3441"/>
          </a:solidFill>
          <a:ln/>
        </p:spPr>
      </p:sp>
      <p:sp>
        <p:nvSpPr>
          <p:cNvPr id="31" name="Shape 27"/>
          <p:cNvSpPr/>
          <p:nvPr/>
        </p:nvSpPr>
        <p:spPr>
          <a:xfrm>
            <a:off x="10650810" y="4594675"/>
            <a:ext cx="9525" cy="2635077"/>
          </a:xfrm>
          <a:prstGeom prst="rect">
            <a:avLst/>
          </a:prstGeom>
          <a:solidFill>
            <a:srgbClr val="2A3441"/>
          </a:solidFill>
          <a:ln/>
        </p:spPr>
      </p:sp>
      <p:pic>
        <p:nvPicPr>
          <p:cNvPr id="3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84765" y="4937575"/>
            <a:ext cx="323850" cy="323850"/>
          </a:xfrm>
          <a:prstGeom prst="rect">
            <a:avLst/>
          </a:prstGeom>
        </p:spPr>
      </p:pic>
      <p:sp>
        <p:nvSpPr>
          <p:cNvPr id="33" name="Text 28"/>
          <p:cNvSpPr/>
          <p:nvPr/>
        </p:nvSpPr>
        <p:spPr>
          <a:xfrm>
            <a:off x="7884765" y="5432875"/>
            <a:ext cx="2770235" cy="204787"/>
          </a:xfrm>
          <a:prstGeom prst="rect">
            <a:avLst/>
          </a:prstGeom>
          <a:noFill/>
          <a:ln/>
        </p:spPr>
        <p:txBody>
          <a:bodyPr wrap="square" lIns="25400" tIns="25400" rIns="25400" bIns="25400" rtlCol="0" anchor="t">
            <a:normAutofit/>
          </a:bodyPr>
          <a:lstStyle/>
          <a:p>
            <a:pPr algn="l" indent="0" marL="0">
              <a:buNone/>
            </a:pPr>
            <a:r>
              <a:rPr lang="en-US" sz="975" spc="195" kern="0" dirty="0">
                <a:solidFill>
                  <a:srgbClr val="74808F"/>
                </a:solidFill>
                <a:latin typeface="JetBrains Mono" pitchFamily="34" charset="0"/>
                <a:ea typeface="JetBrains Mono" pitchFamily="34" charset="-122"/>
                <a:cs typeface="JetBrains Mono" pitchFamily="34" charset="-120"/>
              </a:rPr>
              <a:t>03</a:t>
            </a:r>
            <a:endParaRPr lang="en-US" sz="975" dirty="0"/>
          </a:p>
        </p:txBody>
      </p:sp>
      <p:sp>
        <p:nvSpPr>
          <p:cNvPr id="34" name="Text 29"/>
          <p:cNvSpPr/>
          <p:nvPr/>
        </p:nvSpPr>
        <p:spPr>
          <a:xfrm>
            <a:off x="7884765" y="5637663"/>
            <a:ext cx="2770235" cy="338138"/>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Inter" pitchFamily="34" charset="0"/>
                <a:ea typeface="Inter" pitchFamily="34" charset="-122"/>
                <a:cs typeface="Inter" pitchFamily="34" charset="-120"/>
              </a:rPr>
              <a:t>Grouping</a:t>
            </a:r>
            <a:endParaRPr lang="en-US" sz="1950" dirty="0"/>
          </a:p>
        </p:txBody>
      </p:sp>
      <p:sp>
        <p:nvSpPr>
          <p:cNvPr id="35" name="Text 30"/>
          <p:cNvSpPr/>
          <p:nvPr/>
        </p:nvSpPr>
        <p:spPr>
          <a:xfrm>
            <a:off x="7884765" y="6109150"/>
            <a:ext cx="2770235" cy="272876"/>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B7C0CD"/>
                </a:solidFill>
                <a:latin typeface="Inter" pitchFamily="34" charset="0"/>
                <a:ea typeface="Inter" pitchFamily="34" charset="-122"/>
                <a:cs typeface="Inter" pitchFamily="34" charset="-120"/>
              </a:rPr>
              <a:t>The breakdown axis</a:t>
            </a:r>
            <a:endParaRPr lang="en-US" sz="1275" dirty="0"/>
          </a:p>
        </p:txBody>
      </p:sp>
      <p:sp>
        <p:nvSpPr>
          <p:cNvPr id="36" name="Shape 31"/>
          <p:cNvSpPr/>
          <p:nvPr/>
        </p:nvSpPr>
        <p:spPr>
          <a:xfrm>
            <a:off x="7884765" y="6515377"/>
            <a:ext cx="2518395" cy="400050"/>
          </a:xfrm>
          <a:prstGeom prst="roundRect">
            <a:avLst>
              <a:gd name="adj" fmla="val 19048"/>
            </a:avLst>
          </a:prstGeom>
          <a:solidFill>
            <a:srgbClr val="10171F"/>
          </a:solidFill>
          <a:ln w="9525">
            <a:solidFill>
              <a:srgbClr val="2A3441"/>
            </a:solidFill>
            <a:prstDash val="solid"/>
          </a:ln>
        </p:spPr>
      </p:sp>
      <p:sp>
        <p:nvSpPr>
          <p:cNvPr id="37" name="Text 32"/>
          <p:cNvSpPr/>
          <p:nvPr/>
        </p:nvSpPr>
        <p:spPr>
          <a:xfrm>
            <a:off x="8008590" y="6620152"/>
            <a:ext cx="2346945" cy="228600"/>
          </a:xfrm>
          <a:prstGeom prst="rect">
            <a:avLst/>
          </a:prstGeom>
          <a:noFill/>
          <a:ln/>
        </p:spPr>
        <p:txBody>
          <a:bodyPr wrap="square" lIns="25400" tIns="25400" rIns="25400" bIns="25400" rtlCol="0" anchor="t">
            <a:normAutofit/>
          </a:bodyPr>
          <a:lstStyle/>
          <a:p>
            <a:pPr algn="l" indent="0" marL="0">
              <a:buNone/>
            </a:pPr>
            <a:r>
              <a:rPr lang="en-US" sz="1125" dirty="0">
                <a:solidFill>
                  <a:srgbClr val="00C2FF"/>
                </a:solidFill>
                <a:latin typeface="JetBrains Mono" pitchFamily="34" charset="0"/>
                <a:ea typeface="JetBrains Mono" pitchFamily="34" charset="-122"/>
                <a:cs typeface="JetBrains Mono" pitchFamily="34" charset="-120"/>
              </a:rPr>
              <a:t>by department · branch</a:t>
            </a:r>
            <a:endParaRPr lang="en-US" sz="1125" dirty="0"/>
          </a:p>
        </p:txBody>
      </p:sp>
      <p:sp>
        <p:nvSpPr>
          <p:cNvPr id="38" name="Shape 33"/>
          <p:cNvSpPr/>
          <p:nvPr/>
        </p:nvSpPr>
        <p:spPr>
          <a:xfrm>
            <a:off x="10869885" y="4594675"/>
            <a:ext cx="3032745" cy="2635077"/>
          </a:xfrm>
          <a:prstGeom prst="roundRect">
            <a:avLst>
              <a:gd name="adj" fmla="val 5061"/>
            </a:avLst>
          </a:prstGeom>
          <a:solidFill>
            <a:srgbClr val="161F2B"/>
          </a:solidFill>
          <a:ln/>
        </p:spPr>
      </p:sp>
      <p:sp>
        <p:nvSpPr>
          <p:cNvPr id="39" name="Shape 34"/>
          <p:cNvSpPr/>
          <p:nvPr/>
        </p:nvSpPr>
        <p:spPr>
          <a:xfrm>
            <a:off x="10869885" y="7220227"/>
            <a:ext cx="3032745" cy="9525"/>
          </a:xfrm>
          <a:prstGeom prst="rect">
            <a:avLst/>
          </a:prstGeom>
          <a:solidFill>
            <a:srgbClr val="2A3441"/>
          </a:solidFill>
          <a:ln/>
        </p:spPr>
      </p:sp>
      <p:sp>
        <p:nvSpPr>
          <p:cNvPr id="40" name="Shape 35"/>
          <p:cNvSpPr/>
          <p:nvPr/>
        </p:nvSpPr>
        <p:spPr>
          <a:xfrm>
            <a:off x="10869885" y="4594675"/>
            <a:ext cx="3032745" cy="38100"/>
          </a:xfrm>
          <a:prstGeom prst="rect">
            <a:avLst/>
          </a:prstGeom>
          <a:solidFill>
            <a:srgbClr val="FFB020"/>
          </a:solidFill>
          <a:ln/>
        </p:spPr>
      </p:sp>
      <p:sp>
        <p:nvSpPr>
          <p:cNvPr id="41" name="Shape 36"/>
          <p:cNvSpPr/>
          <p:nvPr/>
        </p:nvSpPr>
        <p:spPr>
          <a:xfrm>
            <a:off x="10869885" y="4594675"/>
            <a:ext cx="9525" cy="2635077"/>
          </a:xfrm>
          <a:prstGeom prst="rect">
            <a:avLst/>
          </a:prstGeom>
          <a:solidFill>
            <a:srgbClr val="2A3441"/>
          </a:solidFill>
          <a:ln/>
        </p:spPr>
      </p:sp>
      <p:sp>
        <p:nvSpPr>
          <p:cNvPr id="42" name="Shape 37"/>
          <p:cNvSpPr/>
          <p:nvPr/>
        </p:nvSpPr>
        <p:spPr>
          <a:xfrm>
            <a:off x="13893105" y="4594675"/>
            <a:ext cx="9525" cy="2635077"/>
          </a:xfrm>
          <a:prstGeom prst="rect">
            <a:avLst/>
          </a:prstGeom>
          <a:solidFill>
            <a:srgbClr val="2A3441"/>
          </a:solidFill>
          <a:ln/>
        </p:spPr>
      </p:sp>
      <p:pic>
        <p:nvPicPr>
          <p:cNvPr id="4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27060" y="4937575"/>
            <a:ext cx="323850" cy="323850"/>
          </a:xfrm>
          <a:prstGeom prst="rect">
            <a:avLst/>
          </a:prstGeom>
        </p:spPr>
      </p:pic>
      <p:sp>
        <p:nvSpPr>
          <p:cNvPr id="44" name="Text 38"/>
          <p:cNvSpPr/>
          <p:nvPr/>
        </p:nvSpPr>
        <p:spPr>
          <a:xfrm>
            <a:off x="11127060" y="5432875"/>
            <a:ext cx="2770235" cy="204787"/>
          </a:xfrm>
          <a:prstGeom prst="rect">
            <a:avLst/>
          </a:prstGeom>
          <a:noFill/>
          <a:ln/>
        </p:spPr>
        <p:txBody>
          <a:bodyPr wrap="square" lIns="25400" tIns="25400" rIns="25400" bIns="25400" rtlCol="0" anchor="t">
            <a:normAutofit/>
          </a:bodyPr>
          <a:lstStyle/>
          <a:p>
            <a:pPr algn="l" indent="0" marL="0">
              <a:buNone/>
            </a:pPr>
            <a:r>
              <a:rPr lang="en-US" sz="975" spc="195" kern="0" dirty="0">
                <a:solidFill>
                  <a:srgbClr val="74808F"/>
                </a:solidFill>
                <a:latin typeface="JetBrains Mono" pitchFamily="34" charset="0"/>
                <a:ea typeface="JetBrains Mono" pitchFamily="34" charset="-122"/>
                <a:cs typeface="JetBrains Mono" pitchFamily="34" charset="-120"/>
              </a:rPr>
              <a:t>04</a:t>
            </a:r>
            <a:endParaRPr lang="en-US" sz="975" dirty="0"/>
          </a:p>
        </p:txBody>
      </p:sp>
      <p:sp>
        <p:nvSpPr>
          <p:cNvPr id="45" name="Text 39"/>
          <p:cNvSpPr/>
          <p:nvPr/>
        </p:nvSpPr>
        <p:spPr>
          <a:xfrm>
            <a:off x="11127060" y="5637663"/>
            <a:ext cx="2770235" cy="338138"/>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Inter" pitchFamily="34" charset="0"/>
                <a:ea typeface="Inter" pitchFamily="34" charset="-122"/>
                <a:cs typeface="Inter" pitchFamily="34" charset="-120"/>
              </a:rPr>
              <a:t>Filter</a:t>
            </a:r>
            <a:endParaRPr lang="en-US" sz="1950" dirty="0"/>
          </a:p>
        </p:txBody>
      </p:sp>
      <p:sp>
        <p:nvSpPr>
          <p:cNvPr id="46" name="Text 40"/>
          <p:cNvSpPr/>
          <p:nvPr/>
        </p:nvSpPr>
        <p:spPr>
          <a:xfrm>
            <a:off x="11127060" y="6109150"/>
            <a:ext cx="2770235" cy="272876"/>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B7C0CD"/>
                </a:solidFill>
                <a:latin typeface="Inter" pitchFamily="34" charset="0"/>
                <a:ea typeface="Inter" pitchFamily="34" charset="-122"/>
                <a:cs typeface="Inter" pitchFamily="34" charset="-120"/>
              </a:rPr>
              <a:t>The condition applied</a:t>
            </a:r>
            <a:endParaRPr lang="en-US" sz="1275" dirty="0"/>
          </a:p>
        </p:txBody>
      </p:sp>
      <p:sp>
        <p:nvSpPr>
          <p:cNvPr id="47" name="Shape 41"/>
          <p:cNvSpPr/>
          <p:nvPr/>
        </p:nvSpPr>
        <p:spPr>
          <a:xfrm>
            <a:off x="11127060" y="6515377"/>
            <a:ext cx="2518395" cy="400050"/>
          </a:xfrm>
          <a:prstGeom prst="roundRect">
            <a:avLst>
              <a:gd name="adj" fmla="val 19048"/>
            </a:avLst>
          </a:prstGeom>
          <a:solidFill>
            <a:srgbClr val="10171F"/>
          </a:solidFill>
          <a:ln w="9525">
            <a:solidFill>
              <a:srgbClr val="2A3441"/>
            </a:solidFill>
            <a:prstDash val="solid"/>
          </a:ln>
        </p:spPr>
      </p:sp>
      <p:sp>
        <p:nvSpPr>
          <p:cNvPr id="48" name="Text 42"/>
          <p:cNvSpPr/>
          <p:nvPr/>
        </p:nvSpPr>
        <p:spPr>
          <a:xfrm>
            <a:off x="11250885" y="6620152"/>
            <a:ext cx="2346945" cy="228600"/>
          </a:xfrm>
          <a:prstGeom prst="rect">
            <a:avLst/>
          </a:prstGeom>
          <a:noFill/>
          <a:ln/>
        </p:spPr>
        <p:txBody>
          <a:bodyPr wrap="square" lIns="25400" tIns="25400" rIns="25400" bIns="25400" rtlCol="0" anchor="t">
            <a:normAutofit/>
          </a:bodyPr>
          <a:lstStyle/>
          <a:p>
            <a:pPr algn="l" indent="0" marL="0">
              <a:buNone/>
            </a:pPr>
            <a:r>
              <a:rPr lang="en-US" sz="1125" dirty="0">
                <a:solidFill>
                  <a:srgbClr val="00C2FF"/>
                </a:solidFill>
                <a:latin typeface="JetBrains Mono" pitchFamily="34" charset="0"/>
                <a:ea typeface="JetBrains Mono" pitchFamily="34" charset="-122"/>
                <a:cs typeface="JetBrains Mono" pitchFamily="34" charset="-120"/>
              </a:rPr>
              <a:t>attendance &lt; 80%</a:t>
            </a:r>
            <a:endParaRPr lang="en-US" sz="1125" dirty="0"/>
          </a:p>
        </p:txBody>
      </p:sp>
      <p:sp>
        <p:nvSpPr>
          <p:cNvPr id="49" name="Shape 43"/>
          <p:cNvSpPr/>
          <p:nvPr/>
        </p:nvSpPr>
        <p:spPr>
          <a:xfrm>
            <a:off x="14112180" y="4603116"/>
            <a:ext cx="3032745" cy="2635076"/>
          </a:xfrm>
          <a:prstGeom prst="roundRect">
            <a:avLst>
              <a:gd name="adj" fmla="val 5061"/>
            </a:avLst>
          </a:prstGeom>
          <a:solidFill>
            <a:srgbClr val="161F2B"/>
          </a:solidFill>
          <a:ln/>
        </p:spPr>
      </p:sp>
      <p:sp>
        <p:nvSpPr>
          <p:cNvPr id="50" name="Shape 44"/>
          <p:cNvSpPr/>
          <p:nvPr/>
        </p:nvSpPr>
        <p:spPr>
          <a:xfrm>
            <a:off x="14112180" y="7228667"/>
            <a:ext cx="3032745" cy="9525"/>
          </a:xfrm>
          <a:prstGeom prst="rect">
            <a:avLst/>
          </a:prstGeom>
          <a:solidFill>
            <a:srgbClr val="2A3441"/>
          </a:solidFill>
          <a:ln/>
        </p:spPr>
      </p:sp>
      <p:sp>
        <p:nvSpPr>
          <p:cNvPr id="51" name="Shape 45"/>
          <p:cNvSpPr/>
          <p:nvPr/>
        </p:nvSpPr>
        <p:spPr>
          <a:xfrm>
            <a:off x="14112180" y="4603116"/>
            <a:ext cx="3032745" cy="38100"/>
          </a:xfrm>
          <a:prstGeom prst="rect">
            <a:avLst/>
          </a:prstGeom>
          <a:solidFill>
            <a:srgbClr val="7A5AF8"/>
          </a:solidFill>
          <a:ln/>
        </p:spPr>
      </p:sp>
      <p:sp>
        <p:nvSpPr>
          <p:cNvPr id="52" name="Shape 46"/>
          <p:cNvSpPr/>
          <p:nvPr/>
        </p:nvSpPr>
        <p:spPr>
          <a:xfrm>
            <a:off x="14112180" y="4603116"/>
            <a:ext cx="9525" cy="2635076"/>
          </a:xfrm>
          <a:prstGeom prst="rect">
            <a:avLst/>
          </a:prstGeom>
          <a:solidFill>
            <a:srgbClr val="2A3441"/>
          </a:solidFill>
          <a:ln/>
        </p:spPr>
      </p:sp>
      <p:sp>
        <p:nvSpPr>
          <p:cNvPr id="53" name="Shape 47"/>
          <p:cNvSpPr/>
          <p:nvPr/>
        </p:nvSpPr>
        <p:spPr>
          <a:xfrm>
            <a:off x="17135401" y="4603116"/>
            <a:ext cx="9525" cy="2635076"/>
          </a:xfrm>
          <a:prstGeom prst="rect">
            <a:avLst/>
          </a:prstGeom>
          <a:solidFill>
            <a:srgbClr val="2A3441"/>
          </a:solidFill>
          <a:ln/>
        </p:spPr>
      </p:sp>
      <p:pic>
        <p:nvPicPr>
          <p:cNvPr id="5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369355" y="4946016"/>
            <a:ext cx="323850" cy="323850"/>
          </a:xfrm>
          <a:prstGeom prst="rect">
            <a:avLst/>
          </a:prstGeom>
        </p:spPr>
      </p:pic>
      <p:sp>
        <p:nvSpPr>
          <p:cNvPr id="55" name="Text 48"/>
          <p:cNvSpPr/>
          <p:nvPr/>
        </p:nvSpPr>
        <p:spPr>
          <a:xfrm>
            <a:off x="14369355" y="5441316"/>
            <a:ext cx="2770235" cy="204787"/>
          </a:xfrm>
          <a:prstGeom prst="rect">
            <a:avLst/>
          </a:prstGeom>
          <a:noFill/>
          <a:ln/>
        </p:spPr>
        <p:txBody>
          <a:bodyPr wrap="square" lIns="25400" tIns="25400" rIns="25400" bIns="25400" rtlCol="0" anchor="t">
            <a:normAutofit/>
          </a:bodyPr>
          <a:lstStyle/>
          <a:p>
            <a:pPr algn="l" indent="0" marL="0">
              <a:buNone/>
            </a:pPr>
            <a:r>
              <a:rPr lang="en-US" sz="975" spc="195" kern="0" dirty="0">
                <a:solidFill>
                  <a:srgbClr val="74808F"/>
                </a:solidFill>
                <a:latin typeface="JetBrains Mono" pitchFamily="34" charset="0"/>
                <a:ea typeface="JetBrains Mono" pitchFamily="34" charset="-122"/>
                <a:cs typeface="JetBrains Mono" pitchFamily="34" charset="-120"/>
              </a:rPr>
              <a:t>05</a:t>
            </a:r>
            <a:endParaRPr lang="en-US" sz="975" dirty="0"/>
          </a:p>
        </p:txBody>
      </p:sp>
      <p:sp>
        <p:nvSpPr>
          <p:cNvPr id="56" name="Text 49"/>
          <p:cNvSpPr/>
          <p:nvPr/>
        </p:nvSpPr>
        <p:spPr>
          <a:xfrm>
            <a:off x="14369355" y="5646104"/>
            <a:ext cx="2770235" cy="338138"/>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Inter" pitchFamily="34" charset="0"/>
                <a:ea typeface="Inter" pitchFamily="34" charset="-122"/>
                <a:cs typeface="Inter" pitchFamily="34" charset="-120"/>
              </a:rPr>
              <a:t>Time</a:t>
            </a:r>
            <a:endParaRPr lang="en-US" sz="1950" dirty="0"/>
          </a:p>
        </p:txBody>
      </p:sp>
      <p:sp>
        <p:nvSpPr>
          <p:cNvPr id="57" name="Text 50"/>
          <p:cNvSpPr/>
          <p:nvPr/>
        </p:nvSpPr>
        <p:spPr>
          <a:xfrm>
            <a:off x="14369355" y="6117591"/>
            <a:ext cx="2770235" cy="272876"/>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B7C0CD"/>
                </a:solidFill>
                <a:latin typeface="Inter" pitchFamily="34" charset="0"/>
                <a:ea typeface="Inter" pitchFamily="34" charset="-122"/>
                <a:cs typeface="Inter" pitchFamily="34" charset="-120"/>
              </a:rPr>
              <a:t>The period window</a:t>
            </a:r>
            <a:endParaRPr lang="en-US" sz="1275" dirty="0"/>
          </a:p>
        </p:txBody>
      </p:sp>
      <p:sp>
        <p:nvSpPr>
          <p:cNvPr id="58" name="Shape 51"/>
          <p:cNvSpPr/>
          <p:nvPr/>
        </p:nvSpPr>
        <p:spPr>
          <a:xfrm>
            <a:off x="14369355" y="6523817"/>
            <a:ext cx="2518395" cy="400050"/>
          </a:xfrm>
          <a:prstGeom prst="roundRect">
            <a:avLst>
              <a:gd name="adj" fmla="val 19048"/>
            </a:avLst>
          </a:prstGeom>
          <a:solidFill>
            <a:srgbClr val="10171F"/>
          </a:solidFill>
          <a:ln w="9525">
            <a:solidFill>
              <a:srgbClr val="2A3441"/>
            </a:solidFill>
            <a:prstDash val="solid"/>
          </a:ln>
        </p:spPr>
      </p:sp>
      <p:sp>
        <p:nvSpPr>
          <p:cNvPr id="59" name="Text 52"/>
          <p:cNvSpPr/>
          <p:nvPr/>
        </p:nvSpPr>
        <p:spPr>
          <a:xfrm>
            <a:off x="14493180" y="6628592"/>
            <a:ext cx="2346945" cy="228600"/>
          </a:xfrm>
          <a:prstGeom prst="rect">
            <a:avLst/>
          </a:prstGeom>
          <a:noFill/>
          <a:ln/>
        </p:spPr>
        <p:txBody>
          <a:bodyPr wrap="square" lIns="25400" tIns="25400" rIns="25400" bIns="25400" rtlCol="0" anchor="t">
            <a:normAutofit/>
          </a:bodyPr>
          <a:lstStyle/>
          <a:p>
            <a:pPr algn="l" indent="0" marL="0">
              <a:buNone/>
            </a:pPr>
            <a:r>
              <a:rPr lang="en-US" sz="1125" dirty="0">
                <a:solidFill>
                  <a:srgbClr val="00C2FF"/>
                </a:solidFill>
                <a:latin typeface="JetBrains Mono" pitchFamily="34" charset="0"/>
                <a:ea typeface="JetBrains Mono" pitchFamily="34" charset="-122"/>
                <a:cs typeface="JetBrains Mono" pitchFamily="34" charset="-120"/>
              </a:rPr>
              <a:t>current_month · YTD</a:t>
            </a:r>
            <a:endParaRPr lang="en-US" sz="1125" dirty="0"/>
          </a:p>
        </p:txBody>
      </p:sp>
      <p:sp>
        <p:nvSpPr>
          <p:cNvPr id="60" name="Shape 53"/>
          <p:cNvSpPr/>
          <p:nvPr/>
        </p:nvSpPr>
        <p:spPr>
          <a:xfrm>
            <a:off x="1143000" y="9577388"/>
            <a:ext cx="16002000" cy="9525"/>
          </a:xfrm>
          <a:prstGeom prst="rect">
            <a:avLst/>
          </a:prstGeom>
          <a:solidFill>
            <a:srgbClr val="2A3441"/>
          </a:solidFill>
          <a:ln/>
        </p:spPr>
      </p:sp>
      <p:sp>
        <p:nvSpPr>
          <p:cNvPr id="61" name="Text 54"/>
          <p:cNvSpPr/>
          <p:nvPr/>
        </p:nvSpPr>
        <p:spPr>
          <a:xfrm>
            <a:off x="1143000" y="9739313"/>
            <a:ext cx="89349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MINT HR OS</a:t>
            </a:r>
            <a:endParaRPr lang="en-US" sz="975" dirty="0"/>
          </a:p>
        </p:txBody>
      </p:sp>
      <p:sp>
        <p:nvSpPr>
          <p:cNvPr id="62" name="Text 55"/>
          <p:cNvSpPr/>
          <p:nvPr/>
        </p:nvSpPr>
        <p:spPr>
          <a:xfrm>
            <a:off x="7795543" y="9739313"/>
            <a:ext cx="323632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HR &amp; Payroll Intelligence in Seconds</a:t>
            </a:r>
            <a:endParaRPr lang="en-US" sz="975" dirty="0"/>
          </a:p>
        </p:txBody>
      </p:sp>
      <p:sp>
        <p:nvSpPr>
          <p:cNvPr id="63" name="Text 56"/>
          <p:cNvSpPr/>
          <p:nvPr/>
        </p:nvSpPr>
        <p:spPr>
          <a:xfrm>
            <a:off x="16572905" y="9739313"/>
            <a:ext cx="648295"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07 / 17</a:t>
            </a:r>
            <a:endParaRPr lang="en-US" sz="9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1143000" y="800100"/>
            <a:ext cx="17602200" cy="214313"/>
          </a:xfrm>
          <a:prstGeom prst="rect">
            <a:avLst/>
          </a:prstGeom>
          <a:noFill/>
          <a:ln/>
        </p:spPr>
        <p:txBody>
          <a:bodyPr wrap="square" lIns="25400" tIns="25400" rIns="25400" bIns="25400" rtlCol="0" anchor="t">
            <a:normAutofit/>
          </a:bodyPr>
          <a:lstStyle/>
          <a:p>
            <a:pPr algn="l" indent="0" marL="0">
              <a:buNone/>
            </a:pPr>
            <a:r>
              <a:rPr lang="en-US" sz="1050" spc="336" kern="0" dirty="0">
                <a:solidFill>
                  <a:srgbClr val="00C2FF"/>
                </a:solidFill>
                <a:latin typeface="JetBrains Mono" pitchFamily="34" charset="0"/>
                <a:ea typeface="JetBrains Mono" pitchFamily="34" charset="-122"/>
                <a:cs typeface="JetBrains Mono" pitchFamily="34" charset="-120"/>
              </a:rPr>
              <a:t>08 / STEP 1 — UNDERSTANDING THE QUESTION</a:t>
            </a:r>
            <a:endParaRPr lang="en-US" sz="1050" dirty="0"/>
          </a:p>
        </p:txBody>
      </p:sp>
      <p:sp>
        <p:nvSpPr>
          <p:cNvPr id="3" name="Text 1"/>
          <p:cNvSpPr/>
          <p:nvPr/>
        </p:nvSpPr>
        <p:spPr>
          <a:xfrm>
            <a:off x="1143000" y="1110310"/>
            <a:ext cx="1760220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spc="-75" kern="0" dirty="0">
                <a:solidFill>
                  <a:srgbClr val="FFFFFF"/>
                </a:solidFill>
                <a:latin typeface="Inter" pitchFamily="34" charset="0"/>
                <a:ea typeface="Inter" pitchFamily="34" charset="-122"/>
                <a:cs typeface="Inter" pitchFamily="34" charset="-120"/>
              </a:rPr>
              <a:t>Extract the concepts that actually carry meaning</a:t>
            </a:r>
            <a:endParaRPr lang="en-US" sz="3750" dirty="0"/>
          </a:p>
        </p:txBody>
      </p:sp>
      <p:sp>
        <p:nvSpPr>
          <p:cNvPr id="4" name="Shape 2"/>
          <p:cNvSpPr/>
          <p:nvPr/>
        </p:nvSpPr>
        <p:spPr>
          <a:xfrm>
            <a:off x="1143000" y="1800873"/>
            <a:ext cx="609600" cy="28575"/>
          </a:xfrm>
          <a:prstGeom prst="roundRect">
            <a:avLst>
              <a:gd name="adj" fmla="val 50000"/>
            </a:avLst>
          </a:prstGeom>
          <a:solidFill>
            <a:srgbClr val="7A5AF8"/>
          </a:solidFill>
          <a:ln/>
        </p:spPr>
      </p:sp>
      <p:sp>
        <p:nvSpPr>
          <p:cNvPr id="5" name="Shape 3"/>
          <p:cNvSpPr/>
          <p:nvPr/>
        </p:nvSpPr>
        <p:spPr>
          <a:xfrm>
            <a:off x="1143000" y="2517617"/>
            <a:ext cx="16002000" cy="1057275"/>
          </a:xfrm>
          <a:prstGeom prst="roundRect">
            <a:avLst>
              <a:gd name="adj" fmla="val 12613"/>
            </a:avLst>
          </a:prstGeom>
          <a:solidFill>
            <a:srgbClr val="161F2B"/>
          </a:solidFill>
          <a:ln w="9525">
            <a:solidFill>
              <a:srgbClr val="2A3441"/>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33525" y="2903379"/>
            <a:ext cx="285750" cy="285750"/>
          </a:xfrm>
          <a:prstGeom prst="rect">
            <a:avLst/>
          </a:prstGeom>
        </p:spPr>
      </p:pic>
      <p:sp>
        <p:nvSpPr>
          <p:cNvPr id="7" name="Text 4"/>
          <p:cNvSpPr/>
          <p:nvPr/>
        </p:nvSpPr>
        <p:spPr>
          <a:xfrm>
            <a:off x="2009775" y="2850992"/>
            <a:ext cx="7126828" cy="428625"/>
          </a:xfrm>
          <a:prstGeom prst="rect">
            <a:avLst/>
          </a:prstGeom>
          <a:noFill/>
          <a:ln/>
        </p:spPr>
        <p:txBody>
          <a:bodyPr wrap="square" lIns="25400" tIns="25400" rIns="25400" bIns="25400" rtlCol="0" anchor="t">
            <a:normAutofit/>
          </a:bodyPr>
          <a:lstStyle/>
          <a:p>
            <a:pPr algn="l" indent="0" marL="0">
              <a:buNone/>
            </a:pPr>
            <a:r>
              <a:rPr lang="en-US" sz="2550" dirty="0">
                <a:solidFill>
                  <a:srgbClr val="FFFFFF"/>
                </a:solidFill>
                <a:latin typeface="Inter" pitchFamily="34" charset="0"/>
                <a:ea typeface="Inter" pitchFamily="34" charset="-122"/>
                <a:cs typeface="Inter" pitchFamily="34" charset="-120"/>
              </a:rPr>
              <a:t>Show </a:t>
            </a:r>
            <a:pPr algn="l" indent="0" marL="0">
              <a:buNone/>
            </a:pPr>
            <a:r>
              <a:rPr lang="en-US" sz="2550" dirty="0">
                <a:solidFill>
                  <a:srgbClr val="FFB020"/>
                </a:solidFill>
                <a:latin typeface="Inter" pitchFamily="34" charset="0"/>
                <a:ea typeface="Inter" pitchFamily="34" charset="-122"/>
                <a:cs typeface="Inter" pitchFamily="34" charset="-120"/>
              </a:rPr>
              <a:t>overtime </a:t>
            </a:r>
            <a:pPr algn="l" indent="0" marL="0">
              <a:buNone/>
            </a:pPr>
            <a:r>
              <a:rPr lang="en-US" sz="2550" dirty="0">
                <a:solidFill>
                  <a:srgbClr val="FFFFFF"/>
                </a:solidFill>
                <a:latin typeface="Inter" pitchFamily="34" charset="0"/>
                <a:ea typeface="Inter" pitchFamily="34" charset="-122"/>
                <a:cs typeface="Inter" pitchFamily="34" charset="-120"/>
              </a:rPr>
              <a:t>by </a:t>
            </a:r>
            <a:pPr algn="l" indent="0" marL="0">
              <a:buNone/>
            </a:pPr>
            <a:r>
              <a:rPr lang="en-US" sz="2550" dirty="0">
                <a:solidFill>
                  <a:srgbClr val="00D084"/>
                </a:solidFill>
                <a:latin typeface="Inter" pitchFamily="34" charset="0"/>
                <a:ea typeface="Inter" pitchFamily="34" charset="-122"/>
                <a:cs typeface="Inter" pitchFamily="34" charset="-120"/>
              </a:rPr>
              <a:t>department </a:t>
            </a:r>
            <a:pPr algn="l" indent="0" marL="0">
              <a:buNone/>
            </a:pPr>
            <a:r>
              <a:rPr lang="en-US" sz="2550" dirty="0">
                <a:solidFill>
                  <a:srgbClr val="00C2FF"/>
                </a:solidFill>
                <a:latin typeface="Inter" pitchFamily="34" charset="0"/>
                <a:ea typeface="Inter" pitchFamily="34" charset="-122"/>
                <a:cs typeface="Inter" pitchFamily="34" charset="-120"/>
              </a:rPr>
              <a:t>this month</a:t>
            </a:r>
            <a:pPr algn="l" indent="0" marL="0">
              <a:buNone/>
            </a:pPr>
            <a:r>
              <a:rPr lang="en-US" sz="2550" dirty="0">
                <a:solidFill>
                  <a:srgbClr val="FFFFFF"/>
                </a:solidFill>
                <a:latin typeface="Inter" pitchFamily="34" charset="0"/>
                <a:ea typeface="Inter" pitchFamily="34" charset="-122"/>
                <a:cs typeface="Inter" pitchFamily="34" charset="-120"/>
              </a:rPr>
              <a:t>.</a:t>
            </a:r>
            <a:endParaRPr lang="en-US" sz="25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38950" y="3656137"/>
            <a:ext cx="266700" cy="266700"/>
          </a:xfrm>
          <a:prstGeom prst="rect">
            <a:avLst/>
          </a:prstGeom>
        </p:spPr>
      </p:pic>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10650" y="3656137"/>
            <a:ext cx="266700" cy="266700"/>
          </a:xfrm>
          <a:prstGeom prst="rect">
            <a:avLst/>
          </a:prstGeom>
        </p:spPr>
      </p:pic>
      <p:pic>
        <p:nvPicPr>
          <p:cNvPr id="1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82350" y="3656137"/>
            <a:ext cx="266700" cy="266700"/>
          </a:xfrm>
          <a:prstGeom prst="rect">
            <a:avLst/>
          </a:prstGeom>
        </p:spPr>
      </p:pic>
      <p:sp>
        <p:nvSpPr>
          <p:cNvPr id="11" name="Shape 5"/>
          <p:cNvSpPr/>
          <p:nvPr/>
        </p:nvSpPr>
        <p:spPr>
          <a:xfrm>
            <a:off x="1143000" y="4008633"/>
            <a:ext cx="5156150" cy="1476375"/>
          </a:xfrm>
          <a:prstGeom prst="roundRect">
            <a:avLst>
              <a:gd name="adj" fmla="val 9032"/>
            </a:avLst>
          </a:prstGeom>
          <a:solidFill>
            <a:srgbClr val="161F2B"/>
          </a:solidFill>
          <a:ln w="9525">
            <a:solidFill>
              <a:srgbClr val="FFB020"/>
            </a:solidFill>
            <a:prstDash val="solid"/>
          </a:ln>
        </p:spPr>
      </p:sp>
      <p:sp>
        <p:nvSpPr>
          <p:cNvPr id="12" name="Text 6"/>
          <p:cNvSpPr/>
          <p:nvPr/>
        </p:nvSpPr>
        <p:spPr>
          <a:xfrm>
            <a:off x="1457325" y="4303908"/>
            <a:ext cx="4980250" cy="214313"/>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FFB020"/>
                </a:solidFill>
                <a:latin typeface="JetBrains Mono" pitchFamily="34" charset="0"/>
                <a:ea typeface="JetBrains Mono" pitchFamily="34" charset="-122"/>
                <a:cs typeface="JetBrains Mono" pitchFamily="34" charset="-120"/>
              </a:rPr>
              <a:t>MEASURE</a:t>
            </a:r>
            <a:endParaRPr lang="en-US" sz="1050" dirty="0"/>
          </a:p>
        </p:txBody>
      </p:sp>
      <p:sp>
        <p:nvSpPr>
          <p:cNvPr id="13" name="Text 7"/>
          <p:cNvSpPr/>
          <p:nvPr/>
        </p:nvSpPr>
        <p:spPr>
          <a:xfrm>
            <a:off x="1457325" y="4575371"/>
            <a:ext cx="498025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Inter" pitchFamily="34" charset="0"/>
                <a:ea typeface="Inter" pitchFamily="34" charset="-122"/>
                <a:cs typeface="Inter" pitchFamily="34" charset="-120"/>
              </a:rPr>
              <a:t>Overtime</a:t>
            </a:r>
            <a:endParaRPr lang="en-US" sz="2250" dirty="0"/>
          </a:p>
        </p:txBody>
      </p:sp>
      <p:sp>
        <p:nvSpPr>
          <p:cNvPr id="14" name="Text 8"/>
          <p:cNvSpPr/>
          <p:nvPr/>
        </p:nvSpPr>
        <p:spPr>
          <a:xfrm>
            <a:off x="1457325" y="4994471"/>
            <a:ext cx="4980250" cy="233362"/>
          </a:xfrm>
          <a:prstGeom prst="rect">
            <a:avLst/>
          </a:prstGeom>
          <a:noFill/>
          <a:ln/>
        </p:spPr>
        <p:txBody>
          <a:bodyPr wrap="square" lIns="25400" tIns="25400" rIns="25400" bIns="25400" rtlCol="0" anchor="t">
            <a:normAutofit/>
          </a:bodyPr>
          <a:lstStyle/>
          <a:p>
            <a:pPr algn="l" indent="0" marL="0">
              <a:buNone/>
            </a:pPr>
            <a:r>
              <a:rPr lang="en-US" sz="1275" dirty="0">
                <a:solidFill>
                  <a:srgbClr val="B7C0CD"/>
                </a:solidFill>
                <a:latin typeface="Inter" pitchFamily="34" charset="0"/>
                <a:ea typeface="Inter" pitchFamily="34" charset="-122"/>
                <a:cs typeface="Inter" pitchFamily="34" charset="-120"/>
              </a:rPr>
              <a:t>the quantity to aggregate</a:t>
            </a:r>
            <a:endParaRPr lang="en-US" sz="1275" dirty="0"/>
          </a:p>
        </p:txBody>
      </p:sp>
      <p:sp>
        <p:nvSpPr>
          <p:cNvPr id="15" name="Shape 9"/>
          <p:cNvSpPr/>
          <p:nvPr/>
        </p:nvSpPr>
        <p:spPr>
          <a:xfrm>
            <a:off x="6565850" y="4008633"/>
            <a:ext cx="5156225" cy="1476375"/>
          </a:xfrm>
          <a:prstGeom prst="roundRect">
            <a:avLst>
              <a:gd name="adj" fmla="val 9032"/>
            </a:avLst>
          </a:prstGeom>
          <a:solidFill>
            <a:srgbClr val="161F2B"/>
          </a:solidFill>
          <a:ln w="9525">
            <a:solidFill>
              <a:srgbClr val="00D084"/>
            </a:solidFill>
            <a:prstDash val="solid"/>
          </a:ln>
        </p:spPr>
      </p:sp>
      <p:sp>
        <p:nvSpPr>
          <p:cNvPr id="16" name="Text 10"/>
          <p:cNvSpPr/>
          <p:nvPr/>
        </p:nvSpPr>
        <p:spPr>
          <a:xfrm>
            <a:off x="6880175" y="4303908"/>
            <a:ext cx="4980332" cy="214313"/>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00D084"/>
                </a:solidFill>
                <a:latin typeface="JetBrains Mono" pitchFamily="34" charset="0"/>
                <a:ea typeface="JetBrains Mono" pitchFamily="34" charset="-122"/>
                <a:cs typeface="JetBrains Mono" pitchFamily="34" charset="-120"/>
              </a:rPr>
              <a:t>GROUPING</a:t>
            </a:r>
            <a:endParaRPr lang="en-US" sz="1050" dirty="0"/>
          </a:p>
        </p:txBody>
      </p:sp>
      <p:sp>
        <p:nvSpPr>
          <p:cNvPr id="17" name="Text 11"/>
          <p:cNvSpPr/>
          <p:nvPr/>
        </p:nvSpPr>
        <p:spPr>
          <a:xfrm>
            <a:off x="6880175" y="4575371"/>
            <a:ext cx="4980332"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Inter" pitchFamily="34" charset="0"/>
                <a:ea typeface="Inter" pitchFamily="34" charset="-122"/>
                <a:cs typeface="Inter" pitchFamily="34" charset="-120"/>
              </a:rPr>
              <a:t>Department</a:t>
            </a:r>
            <a:endParaRPr lang="en-US" sz="2250" dirty="0"/>
          </a:p>
        </p:txBody>
      </p:sp>
      <p:sp>
        <p:nvSpPr>
          <p:cNvPr id="18" name="Text 12"/>
          <p:cNvSpPr/>
          <p:nvPr/>
        </p:nvSpPr>
        <p:spPr>
          <a:xfrm>
            <a:off x="6880175" y="4994471"/>
            <a:ext cx="4980332" cy="233362"/>
          </a:xfrm>
          <a:prstGeom prst="rect">
            <a:avLst/>
          </a:prstGeom>
          <a:noFill/>
          <a:ln/>
        </p:spPr>
        <p:txBody>
          <a:bodyPr wrap="square" lIns="25400" tIns="25400" rIns="25400" bIns="25400" rtlCol="0" anchor="t">
            <a:normAutofit/>
          </a:bodyPr>
          <a:lstStyle/>
          <a:p>
            <a:pPr algn="l" indent="0" marL="0">
              <a:buNone/>
            </a:pPr>
            <a:r>
              <a:rPr lang="en-US" sz="1275" dirty="0">
                <a:solidFill>
                  <a:srgbClr val="B7C0CD"/>
                </a:solidFill>
                <a:latin typeface="Inter" pitchFamily="34" charset="0"/>
                <a:ea typeface="Inter" pitchFamily="34" charset="-122"/>
                <a:cs typeface="Inter" pitchFamily="34" charset="-120"/>
              </a:rPr>
              <a:t>the breakdown axis</a:t>
            </a:r>
            <a:endParaRPr lang="en-US" sz="1275" dirty="0"/>
          </a:p>
        </p:txBody>
      </p:sp>
      <p:sp>
        <p:nvSpPr>
          <p:cNvPr id="19" name="Shape 13"/>
          <p:cNvSpPr/>
          <p:nvPr/>
        </p:nvSpPr>
        <p:spPr>
          <a:xfrm>
            <a:off x="11988775" y="4008633"/>
            <a:ext cx="5156150" cy="1476375"/>
          </a:xfrm>
          <a:prstGeom prst="roundRect">
            <a:avLst>
              <a:gd name="adj" fmla="val 9032"/>
            </a:avLst>
          </a:prstGeom>
          <a:solidFill>
            <a:srgbClr val="161F2B"/>
          </a:solidFill>
          <a:ln w="9525">
            <a:solidFill>
              <a:srgbClr val="00C2FF"/>
            </a:solidFill>
            <a:prstDash val="solid"/>
          </a:ln>
        </p:spPr>
      </p:sp>
      <p:sp>
        <p:nvSpPr>
          <p:cNvPr id="20" name="Text 14"/>
          <p:cNvSpPr/>
          <p:nvPr/>
        </p:nvSpPr>
        <p:spPr>
          <a:xfrm>
            <a:off x="12303100" y="4303908"/>
            <a:ext cx="4980250" cy="214313"/>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00C2FF"/>
                </a:solidFill>
                <a:latin typeface="JetBrains Mono" pitchFamily="34" charset="0"/>
                <a:ea typeface="JetBrains Mono" pitchFamily="34" charset="-122"/>
                <a:cs typeface="JetBrains Mono" pitchFamily="34" charset="-120"/>
              </a:rPr>
              <a:t>TIME</a:t>
            </a:r>
            <a:endParaRPr lang="en-US" sz="1050" dirty="0"/>
          </a:p>
        </p:txBody>
      </p:sp>
      <p:sp>
        <p:nvSpPr>
          <p:cNvPr id="21" name="Text 15"/>
          <p:cNvSpPr/>
          <p:nvPr/>
        </p:nvSpPr>
        <p:spPr>
          <a:xfrm>
            <a:off x="12303100" y="4575371"/>
            <a:ext cx="498025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Inter" pitchFamily="34" charset="0"/>
                <a:ea typeface="Inter" pitchFamily="34" charset="-122"/>
                <a:cs typeface="Inter" pitchFamily="34" charset="-120"/>
              </a:rPr>
              <a:t>Current month</a:t>
            </a:r>
            <a:endParaRPr lang="en-US" sz="2250" dirty="0"/>
          </a:p>
        </p:txBody>
      </p:sp>
      <p:sp>
        <p:nvSpPr>
          <p:cNvPr id="22" name="Text 16"/>
          <p:cNvSpPr/>
          <p:nvPr/>
        </p:nvSpPr>
        <p:spPr>
          <a:xfrm>
            <a:off x="12303100" y="4994471"/>
            <a:ext cx="4980250" cy="233362"/>
          </a:xfrm>
          <a:prstGeom prst="rect">
            <a:avLst/>
          </a:prstGeom>
          <a:noFill/>
          <a:ln/>
        </p:spPr>
        <p:txBody>
          <a:bodyPr wrap="square" lIns="25400" tIns="25400" rIns="25400" bIns="25400" rtlCol="0" anchor="t">
            <a:normAutofit/>
          </a:bodyPr>
          <a:lstStyle/>
          <a:p>
            <a:pPr algn="l" indent="0" marL="0">
              <a:buNone/>
            </a:pPr>
            <a:r>
              <a:rPr lang="en-US" sz="1275" dirty="0">
                <a:solidFill>
                  <a:srgbClr val="B7C0CD"/>
                </a:solidFill>
                <a:latin typeface="Inter" pitchFamily="34" charset="0"/>
                <a:ea typeface="Inter" pitchFamily="34" charset="-122"/>
                <a:cs typeface="Inter" pitchFamily="34" charset="-120"/>
              </a:rPr>
              <a:t>the period window</a:t>
            </a:r>
            <a:endParaRPr lang="en-US" sz="1275" dirty="0"/>
          </a:p>
        </p:txBody>
      </p:sp>
      <p:pic>
        <p:nvPicPr>
          <p:cNvPr id="2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43000" y="9187257"/>
            <a:ext cx="209550" cy="209550"/>
          </a:xfrm>
          <a:prstGeom prst="rect">
            <a:avLst/>
          </a:prstGeom>
        </p:spPr>
      </p:pic>
      <p:sp>
        <p:nvSpPr>
          <p:cNvPr id="24" name="Text 17"/>
          <p:cNvSpPr/>
          <p:nvPr/>
        </p:nvSpPr>
        <p:spPr>
          <a:xfrm>
            <a:off x="1466850" y="9175351"/>
            <a:ext cx="8513432" cy="271463"/>
          </a:xfrm>
          <a:prstGeom prst="rect">
            <a:avLst/>
          </a:prstGeom>
          <a:noFill/>
          <a:ln/>
        </p:spPr>
        <p:txBody>
          <a:bodyPr wrap="square" lIns="0" tIns="0" rIns="0" bIns="0" rtlCol="0" anchor="t">
            <a:normAutofit/>
          </a:bodyPr>
          <a:lstStyle/>
          <a:p>
            <a:pPr algn="l" indent="0" marL="0">
              <a:buNone/>
            </a:pPr>
            <a:r>
              <a:rPr lang="en-US" sz="1500" dirty="0">
                <a:solidFill>
                  <a:srgbClr val="B7C0CD"/>
                </a:solidFill>
                <a:latin typeface="Inter" pitchFamily="34" charset="0"/>
                <a:ea typeface="Inter" pitchFamily="34" charset="-122"/>
                <a:cs typeface="Inter" pitchFamily="34" charset="-120"/>
              </a:rPr>
              <a:t>This is the only step where language understanding is required — and its output is reusable.</a:t>
            </a:r>
            <a:endParaRPr lang="en-US" sz="1500" dirty="0"/>
          </a:p>
        </p:txBody>
      </p:sp>
      <p:sp>
        <p:nvSpPr>
          <p:cNvPr id="25" name="Shape 18"/>
          <p:cNvSpPr/>
          <p:nvPr/>
        </p:nvSpPr>
        <p:spPr>
          <a:xfrm>
            <a:off x="1143000" y="9577388"/>
            <a:ext cx="16002000" cy="9525"/>
          </a:xfrm>
          <a:prstGeom prst="rect">
            <a:avLst/>
          </a:prstGeom>
          <a:solidFill>
            <a:srgbClr val="2A3441"/>
          </a:solidFill>
          <a:ln/>
        </p:spPr>
      </p:sp>
      <p:sp>
        <p:nvSpPr>
          <p:cNvPr id="26" name="Text 19"/>
          <p:cNvSpPr/>
          <p:nvPr/>
        </p:nvSpPr>
        <p:spPr>
          <a:xfrm>
            <a:off x="1143000" y="9739313"/>
            <a:ext cx="89349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MINT HR OS</a:t>
            </a:r>
            <a:endParaRPr lang="en-US" sz="975" dirty="0"/>
          </a:p>
        </p:txBody>
      </p:sp>
      <p:sp>
        <p:nvSpPr>
          <p:cNvPr id="27" name="Text 20"/>
          <p:cNvSpPr/>
          <p:nvPr/>
        </p:nvSpPr>
        <p:spPr>
          <a:xfrm>
            <a:off x="7795543" y="9739313"/>
            <a:ext cx="323632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HR &amp; Payroll Intelligence in Seconds</a:t>
            </a:r>
            <a:endParaRPr lang="en-US" sz="975" dirty="0"/>
          </a:p>
        </p:txBody>
      </p:sp>
      <p:sp>
        <p:nvSpPr>
          <p:cNvPr id="28" name="Text 21"/>
          <p:cNvSpPr/>
          <p:nvPr/>
        </p:nvSpPr>
        <p:spPr>
          <a:xfrm>
            <a:off x="16572905" y="9739313"/>
            <a:ext cx="648295"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08 / 17</a:t>
            </a:r>
            <a:endParaRPr lang="en-US" sz="9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1143000" y="800100"/>
            <a:ext cx="17602200" cy="214313"/>
          </a:xfrm>
          <a:prstGeom prst="rect">
            <a:avLst/>
          </a:prstGeom>
          <a:noFill/>
          <a:ln/>
        </p:spPr>
        <p:txBody>
          <a:bodyPr wrap="square" lIns="25400" tIns="25400" rIns="25400" bIns="25400" rtlCol="0" anchor="t">
            <a:normAutofit/>
          </a:bodyPr>
          <a:lstStyle/>
          <a:p>
            <a:pPr algn="l" indent="0" marL="0">
              <a:buNone/>
            </a:pPr>
            <a:r>
              <a:rPr lang="en-US" sz="1050" spc="336" kern="0" dirty="0">
                <a:solidFill>
                  <a:srgbClr val="00C2FF"/>
                </a:solidFill>
                <a:latin typeface="JetBrains Mono" pitchFamily="34" charset="0"/>
                <a:ea typeface="JetBrains Mono" pitchFamily="34" charset="-122"/>
                <a:cs typeface="JetBrains Mono" pitchFamily="34" charset="-120"/>
              </a:rPr>
              <a:t>09 / STEP 2 — SEMANTIC MAPPING</a:t>
            </a:r>
            <a:endParaRPr lang="en-US" sz="1050" dirty="0"/>
          </a:p>
        </p:txBody>
      </p:sp>
      <p:sp>
        <p:nvSpPr>
          <p:cNvPr id="3" name="Text 1"/>
          <p:cNvSpPr/>
          <p:nvPr/>
        </p:nvSpPr>
        <p:spPr>
          <a:xfrm>
            <a:off x="1143000" y="1110064"/>
            <a:ext cx="17602200" cy="538162"/>
          </a:xfrm>
          <a:prstGeom prst="rect">
            <a:avLst/>
          </a:prstGeom>
          <a:noFill/>
          <a:ln/>
        </p:spPr>
        <p:txBody>
          <a:bodyPr wrap="square" lIns="25400" tIns="25400" rIns="25400" bIns="25400" rtlCol="0" anchor="t">
            <a:normAutofit/>
          </a:bodyPr>
          <a:lstStyle/>
          <a:p>
            <a:pPr algn="l" indent="0" marL="0">
              <a:lnSpc>
                <a:spcPct val="105000"/>
              </a:lnSpc>
              <a:buNone/>
            </a:pPr>
            <a:r>
              <a:rPr lang="en-US" sz="3750" b="1" spc="-75" kern="0" dirty="0">
                <a:solidFill>
                  <a:srgbClr val="FFFFFF"/>
                </a:solidFill>
                <a:latin typeface="Inter" pitchFamily="34" charset="0"/>
                <a:ea typeface="Inter" pitchFamily="34" charset="-122"/>
                <a:cs typeface="Inter" pitchFamily="34" charset="-120"/>
              </a:rPr>
              <a:t>Resolve each concept to a concrete table and column</a:t>
            </a:r>
            <a:endParaRPr lang="en-US" sz="3750" dirty="0"/>
          </a:p>
        </p:txBody>
      </p:sp>
      <p:sp>
        <p:nvSpPr>
          <p:cNvPr id="4" name="Shape 2"/>
          <p:cNvSpPr/>
          <p:nvPr/>
        </p:nvSpPr>
        <p:spPr>
          <a:xfrm>
            <a:off x="1143000" y="1800626"/>
            <a:ext cx="609600" cy="28575"/>
          </a:xfrm>
          <a:prstGeom prst="roundRect">
            <a:avLst>
              <a:gd name="adj" fmla="val 50000"/>
            </a:avLst>
          </a:prstGeom>
          <a:solidFill>
            <a:srgbClr val="7A5AF8"/>
          </a:solidFill>
          <a:ln/>
        </p:spPr>
      </p:sp>
      <p:sp>
        <p:nvSpPr>
          <p:cNvPr id="5" name="Text 3"/>
          <p:cNvSpPr/>
          <p:nvPr/>
        </p:nvSpPr>
        <p:spPr>
          <a:xfrm>
            <a:off x="5254526" y="4748196"/>
            <a:ext cx="1398828"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Inter" pitchFamily="34" charset="0"/>
                <a:ea typeface="Inter" pitchFamily="34" charset="-122"/>
                <a:cs typeface="Inter" pitchFamily="34" charset="-120"/>
              </a:rPr>
              <a:t>Overtime</a:t>
            </a:r>
            <a:endParaRPr lang="en-US" sz="22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78588" y="4786296"/>
            <a:ext cx="266700" cy="266700"/>
          </a:xfrm>
          <a:prstGeom prst="rect">
            <a:avLst/>
          </a:prstGeom>
        </p:spPr>
      </p:pic>
      <p:sp>
        <p:nvSpPr>
          <p:cNvPr id="7" name="Shape 4"/>
          <p:cNvSpPr/>
          <p:nvPr/>
        </p:nvSpPr>
        <p:spPr>
          <a:xfrm>
            <a:off x="7250088" y="4910121"/>
            <a:ext cx="1143000" cy="19050"/>
          </a:xfrm>
          <a:prstGeom prst="rect">
            <a:avLst/>
          </a:prstGeom>
          <a:gradFill rotWithShape="1">
            <a:gsLst>
              <a:gs pos="0">
                <a:srgbClr val="FFB020">
                  <a:alpha val="100000"/>
                </a:srgbClr>
              </a:gs>
              <a:gs pos="100000">
                <a:srgbClr val="00C2FF">
                  <a:alpha val="100000"/>
                </a:srgbClr>
              </a:gs>
            </a:gsLst>
            <a:lin ang="0" scaled="0"/>
          </a:gradFill>
          <a:ln/>
        </p:spPr>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88338" y="4805346"/>
            <a:ext cx="228600" cy="228600"/>
          </a:xfrm>
          <a:prstGeom prst="rect">
            <a:avLst/>
          </a:prstGeom>
        </p:spPr>
      </p:pic>
      <p:sp>
        <p:nvSpPr>
          <p:cNvPr id="9" name="Shape 5"/>
          <p:cNvSpPr/>
          <p:nvPr/>
        </p:nvSpPr>
        <p:spPr>
          <a:xfrm>
            <a:off x="9021812" y="4588652"/>
            <a:ext cx="8123188" cy="661988"/>
          </a:xfrm>
          <a:prstGeom prst="roundRect">
            <a:avLst>
              <a:gd name="adj" fmla="val 14388"/>
            </a:avLst>
          </a:prstGeom>
          <a:solidFill>
            <a:srgbClr val="161F2B"/>
          </a:solidFill>
          <a:ln w="9525">
            <a:solidFill>
              <a:srgbClr val="2A3441"/>
            </a:solidFill>
            <a:prstDash val="solid"/>
          </a:ln>
        </p:spPr>
      </p:sp>
      <p:sp>
        <p:nvSpPr>
          <p:cNvPr id="10" name="Text 6"/>
          <p:cNvSpPr/>
          <p:nvPr/>
        </p:nvSpPr>
        <p:spPr>
          <a:xfrm>
            <a:off x="9278987" y="4769627"/>
            <a:ext cx="7852534" cy="338138"/>
          </a:xfrm>
          <a:prstGeom prst="rect">
            <a:avLst/>
          </a:prstGeom>
          <a:noFill/>
          <a:ln/>
        </p:spPr>
        <p:txBody>
          <a:bodyPr wrap="square" lIns="25400" tIns="25400" rIns="25400" bIns="25400" rtlCol="0" anchor="t">
            <a:normAutofit/>
          </a:bodyPr>
          <a:lstStyle/>
          <a:p>
            <a:pPr algn="l" indent="0" marL="0">
              <a:buNone/>
            </a:pPr>
            <a:r>
              <a:rPr lang="en-US" sz="1800" dirty="0">
                <a:solidFill>
                  <a:srgbClr val="00D084"/>
                </a:solidFill>
                <a:latin typeface="JetBrains Mono" pitchFamily="34" charset="0"/>
                <a:ea typeface="JetBrains Mono" pitchFamily="34" charset="-122"/>
                <a:cs typeface="JetBrains Mono" pitchFamily="34" charset="-120"/>
              </a:rPr>
              <a:t>fct_employee_overtime</a:t>
            </a:r>
            <a:endParaRPr lang="en-US" sz="1800" dirty="0"/>
          </a:p>
        </p:txBody>
      </p:sp>
      <p:sp>
        <p:nvSpPr>
          <p:cNvPr id="11" name="Text 7"/>
          <p:cNvSpPr/>
          <p:nvPr/>
        </p:nvSpPr>
        <p:spPr>
          <a:xfrm>
            <a:off x="4884018" y="5700332"/>
            <a:ext cx="1806386"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Inter" pitchFamily="34" charset="0"/>
                <a:ea typeface="Inter" pitchFamily="34" charset="-122"/>
                <a:cs typeface="Inter" pitchFamily="34" charset="-120"/>
              </a:rPr>
              <a:t>Department</a:t>
            </a:r>
            <a:endParaRPr lang="en-US" sz="22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78588" y="5738432"/>
            <a:ext cx="266700" cy="266700"/>
          </a:xfrm>
          <a:prstGeom prst="rect">
            <a:avLst/>
          </a:prstGeom>
        </p:spPr>
      </p:pic>
      <p:sp>
        <p:nvSpPr>
          <p:cNvPr id="13" name="Shape 8"/>
          <p:cNvSpPr/>
          <p:nvPr/>
        </p:nvSpPr>
        <p:spPr>
          <a:xfrm>
            <a:off x="7250088" y="5862257"/>
            <a:ext cx="1143000" cy="19050"/>
          </a:xfrm>
          <a:prstGeom prst="rect">
            <a:avLst/>
          </a:prstGeom>
          <a:gradFill rotWithShape="1">
            <a:gsLst>
              <a:gs pos="0">
                <a:srgbClr val="00D084">
                  <a:alpha val="100000"/>
                </a:srgbClr>
              </a:gs>
              <a:gs pos="100000">
                <a:srgbClr val="00C2FF">
                  <a:alpha val="100000"/>
                </a:srgbClr>
              </a:gs>
            </a:gsLst>
            <a:lin ang="0" scaled="0"/>
          </a:gradFill>
          <a:ln/>
        </p:spPr>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88338" y="5757482"/>
            <a:ext cx="228600" cy="228600"/>
          </a:xfrm>
          <a:prstGeom prst="rect">
            <a:avLst/>
          </a:prstGeom>
        </p:spPr>
      </p:pic>
      <p:sp>
        <p:nvSpPr>
          <p:cNvPr id="15" name="Shape 9"/>
          <p:cNvSpPr/>
          <p:nvPr/>
        </p:nvSpPr>
        <p:spPr>
          <a:xfrm>
            <a:off x="9021812" y="5540788"/>
            <a:ext cx="8123188" cy="661988"/>
          </a:xfrm>
          <a:prstGeom prst="roundRect">
            <a:avLst>
              <a:gd name="adj" fmla="val 14388"/>
            </a:avLst>
          </a:prstGeom>
          <a:solidFill>
            <a:srgbClr val="161F2B"/>
          </a:solidFill>
          <a:ln w="9525">
            <a:solidFill>
              <a:srgbClr val="2A3441"/>
            </a:solidFill>
            <a:prstDash val="solid"/>
          </a:ln>
        </p:spPr>
      </p:sp>
      <p:sp>
        <p:nvSpPr>
          <p:cNvPr id="16" name="Text 10"/>
          <p:cNvSpPr/>
          <p:nvPr/>
        </p:nvSpPr>
        <p:spPr>
          <a:xfrm>
            <a:off x="9278987" y="5721763"/>
            <a:ext cx="7852534" cy="338138"/>
          </a:xfrm>
          <a:prstGeom prst="rect">
            <a:avLst/>
          </a:prstGeom>
          <a:noFill/>
          <a:ln/>
        </p:spPr>
        <p:txBody>
          <a:bodyPr wrap="square" lIns="25400" tIns="25400" rIns="25400" bIns="25400" rtlCol="0" anchor="t">
            <a:normAutofit/>
          </a:bodyPr>
          <a:lstStyle/>
          <a:p>
            <a:pPr algn="l" indent="0" marL="0">
              <a:buNone/>
            </a:pPr>
            <a:r>
              <a:rPr lang="en-US" sz="1800" dirty="0">
                <a:solidFill>
                  <a:srgbClr val="00D084"/>
                </a:solidFill>
                <a:latin typeface="JetBrains Mono" pitchFamily="34" charset="0"/>
                <a:ea typeface="JetBrains Mono" pitchFamily="34" charset="-122"/>
                <a:cs typeface="JetBrains Mono" pitchFamily="34" charset="-120"/>
              </a:rPr>
              <a:t>dim_employee.department</a:t>
            </a:r>
            <a:endParaRPr lang="en-US" sz="1800" dirty="0"/>
          </a:p>
        </p:txBody>
      </p:sp>
      <p:sp>
        <p:nvSpPr>
          <p:cNvPr id="17" name="Text 11"/>
          <p:cNvSpPr/>
          <p:nvPr/>
        </p:nvSpPr>
        <p:spPr>
          <a:xfrm>
            <a:off x="4518124" y="6656522"/>
            <a:ext cx="220887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Inter" pitchFamily="34" charset="0"/>
                <a:ea typeface="Inter" pitchFamily="34" charset="-122"/>
                <a:cs typeface="Inter" pitchFamily="34" charset="-120"/>
              </a:rPr>
              <a:t>Current month</a:t>
            </a:r>
            <a:endParaRPr lang="en-US" sz="2250" dirty="0"/>
          </a:p>
        </p:txBody>
      </p:sp>
      <p:pic>
        <p:nvPicPr>
          <p:cNvPr id="1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8588" y="6694622"/>
            <a:ext cx="266700" cy="266700"/>
          </a:xfrm>
          <a:prstGeom prst="rect">
            <a:avLst/>
          </a:prstGeom>
        </p:spPr>
      </p:pic>
      <p:sp>
        <p:nvSpPr>
          <p:cNvPr id="19" name="Shape 12"/>
          <p:cNvSpPr/>
          <p:nvPr/>
        </p:nvSpPr>
        <p:spPr>
          <a:xfrm>
            <a:off x="7250088" y="6818447"/>
            <a:ext cx="1143000" cy="19050"/>
          </a:xfrm>
          <a:prstGeom prst="rect">
            <a:avLst/>
          </a:prstGeom>
          <a:gradFill rotWithShape="1">
            <a:gsLst>
              <a:gs pos="0">
                <a:srgbClr val="00C2FF">
                  <a:alpha val="100000"/>
                </a:srgbClr>
              </a:gs>
              <a:gs pos="100000">
                <a:srgbClr val="00C2FF">
                  <a:alpha val="100000"/>
                </a:srgbClr>
              </a:gs>
            </a:gsLst>
            <a:lin ang="0" scaled="0"/>
          </a:gradFill>
          <a:ln/>
        </p:spPr>
      </p:sp>
      <p:pic>
        <p:nvPicPr>
          <p:cNvPr id="2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488338" y="6713672"/>
            <a:ext cx="228600" cy="228600"/>
          </a:xfrm>
          <a:prstGeom prst="rect">
            <a:avLst/>
          </a:prstGeom>
        </p:spPr>
      </p:pic>
      <p:sp>
        <p:nvSpPr>
          <p:cNvPr id="21" name="Shape 13"/>
          <p:cNvSpPr/>
          <p:nvPr/>
        </p:nvSpPr>
        <p:spPr>
          <a:xfrm>
            <a:off x="9021812" y="6496978"/>
            <a:ext cx="8123188" cy="661988"/>
          </a:xfrm>
          <a:prstGeom prst="roundRect">
            <a:avLst>
              <a:gd name="adj" fmla="val 14388"/>
            </a:avLst>
          </a:prstGeom>
          <a:solidFill>
            <a:srgbClr val="161F2B"/>
          </a:solidFill>
          <a:ln w="9525">
            <a:solidFill>
              <a:srgbClr val="2A3441"/>
            </a:solidFill>
            <a:prstDash val="solid"/>
          </a:ln>
        </p:spPr>
      </p:sp>
      <p:sp>
        <p:nvSpPr>
          <p:cNvPr id="22" name="Text 14"/>
          <p:cNvSpPr/>
          <p:nvPr/>
        </p:nvSpPr>
        <p:spPr>
          <a:xfrm>
            <a:off x="9278987" y="6677953"/>
            <a:ext cx="7852534" cy="338138"/>
          </a:xfrm>
          <a:prstGeom prst="rect">
            <a:avLst/>
          </a:prstGeom>
          <a:noFill/>
          <a:ln/>
        </p:spPr>
        <p:txBody>
          <a:bodyPr wrap="square" lIns="25400" tIns="25400" rIns="25400" bIns="25400" rtlCol="0" anchor="t">
            <a:normAutofit/>
          </a:bodyPr>
          <a:lstStyle/>
          <a:p>
            <a:pPr algn="l" indent="0" marL="0">
              <a:buNone/>
            </a:pPr>
            <a:r>
              <a:rPr lang="en-US" sz="1800" dirty="0">
                <a:solidFill>
                  <a:srgbClr val="00D084"/>
                </a:solidFill>
                <a:latin typeface="JetBrains Mono" pitchFamily="34" charset="0"/>
                <a:ea typeface="JetBrains Mono" pitchFamily="34" charset="-122"/>
                <a:cs typeface="JetBrains Mono" pitchFamily="34" charset="-120"/>
              </a:rPr>
              <a:t>payroll_period = current</a:t>
            </a:r>
            <a:endParaRPr lang="en-US" sz="1800" dirty="0"/>
          </a:p>
        </p:txBody>
      </p:sp>
      <p:pic>
        <p:nvPicPr>
          <p:cNvPr id="23"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43000" y="9182453"/>
            <a:ext cx="209550" cy="209550"/>
          </a:xfrm>
          <a:prstGeom prst="rect">
            <a:avLst/>
          </a:prstGeom>
        </p:spPr>
      </p:pic>
      <p:sp>
        <p:nvSpPr>
          <p:cNvPr id="24" name="Text 15"/>
          <p:cNvSpPr/>
          <p:nvPr/>
        </p:nvSpPr>
        <p:spPr>
          <a:xfrm>
            <a:off x="1466850" y="9170547"/>
            <a:ext cx="10193446" cy="271463"/>
          </a:xfrm>
          <a:prstGeom prst="rect">
            <a:avLst/>
          </a:prstGeom>
          <a:noFill/>
          <a:ln/>
        </p:spPr>
        <p:txBody>
          <a:bodyPr wrap="square" lIns="0" tIns="0" rIns="0" bIns="0" rtlCol="0" anchor="t">
            <a:normAutofit/>
          </a:bodyPr>
          <a:lstStyle/>
          <a:p>
            <a:pPr algn="l" indent="0" marL="0">
              <a:buNone/>
            </a:pPr>
            <a:r>
              <a:rPr lang="en-US" sz="1500" dirty="0">
                <a:solidFill>
                  <a:srgbClr val="B7C0CD"/>
                </a:solidFill>
                <a:latin typeface="Inter" pitchFamily="34" charset="0"/>
                <a:ea typeface="Inter" pitchFamily="34" charset="-122"/>
                <a:cs typeface="Inter" pitchFamily="34" charset="-120"/>
              </a:rPr>
              <a:t>Mappings are governed and versioned — analysts speak business terms, the layer owns the physical schema.</a:t>
            </a:r>
            <a:endParaRPr lang="en-US" sz="1500" dirty="0"/>
          </a:p>
        </p:txBody>
      </p:sp>
      <p:sp>
        <p:nvSpPr>
          <p:cNvPr id="25" name="Shape 16"/>
          <p:cNvSpPr/>
          <p:nvPr/>
        </p:nvSpPr>
        <p:spPr>
          <a:xfrm>
            <a:off x="1143000" y="9577388"/>
            <a:ext cx="16002000" cy="9525"/>
          </a:xfrm>
          <a:prstGeom prst="rect">
            <a:avLst/>
          </a:prstGeom>
          <a:solidFill>
            <a:srgbClr val="2A3441"/>
          </a:solidFill>
          <a:ln/>
        </p:spPr>
      </p:sp>
      <p:sp>
        <p:nvSpPr>
          <p:cNvPr id="26" name="Text 17"/>
          <p:cNvSpPr/>
          <p:nvPr/>
        </p:nvSpPr>
        <p:spPr>
          <a:xfrm>
            <a:off x="1143000" y="9739313"/>
            <a:ext cx="89349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MINT HR OS</a:t>
            </a:r>
            <a:endParaRPr lang="en-US" sz="975" dirty="0"/>
          </a:p>
        </p:txBody>
      </p:sp>
      <p:sp>
        <p:nvSpPr>
          <p:cNvPr id="27" name="Text 18"/>
          <p:cNvSpPr/>
          <p:nvPr/>
        </p:nvSpPr>
        <p:spPr>
          <a:xfrm>
            <a:off x="7795543" y="9739313"/>
            <a:ext cx="323632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HR &amp; Payroll Intelligence in Seconds</a:t>
            </a:r>
            <a:endParaRPr lang="en-US" sz="975" dirty="0"/>
          </a:p>
        </p:txBody>
      </p:sp>
      <p:sp>
        <p:nvSpPr>
          <p:cNvPr id="28" name="Text 19"/>
          <p:cNvSpPr/>
          <p:nvPr/>
        </p:nvSpPr>
        <p:spPr>
          <a:xfrm>
            <a:off x="16572905" y="9739313"/>
            <a:ext cx="648295"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09 / 17</a:t>
            </a:r>
            <a:endParaRPr lang="en-US" sz="9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1143000" y="800100"/>
            <a:ext cx="17602200" cy="214313"/>
          </a:xfrm>
          <a:prstGeom prst="rect">
            <a:avLst/>
          </a:prstGeom>
          <a:noFill/>
          <a:ln/>
        </p:spPr>
        <p:txBody>
          <a:bodyPr wrap="square" lIns="25400" tIns="25400" rIns="25400" bIns="25400" rtlCol="0" anchor="t">
            <a:normAutofit/>
          </a:bodyPr>
          <a:lstStyle/>
          <a:p>
            <a:pPr algn="l" indent="0" marL="0">
              <a:buNone/>
            </a:pPr>
            <a:r>
              <a:rPr lang="en-US" sz="1050" spc="336" kern="0" dirty="0">
                <a:solidFill>
                  <a:srgbClr val="00C2FF"/>
                </a:solidFill>
                <a:latin typeface="JetBrains Mono" pitchFamily="34" charset="0"/>
                <a:ea typeface="JetBrains Mono" pitchFamily="34" charset="-122"/>
                <a:cs typeface="JetBrains Mono" pitchFamily="34" charset="-120"/>
              </a:rPr>
              <a:t>10 / STEP 3 — THE BUSINESS SPECIFICATION</a:t>
            </a:r>
            <a:endParaRPr lang="en-US" sz="1050" dirty="0"/>
          </a:p>
        </p:txBody>
      </p:sp>
      <p:sp>
        <p:nvSpPr>
          <p:cNvPr id="3" name="Text 1"/>
          <p:cNvSpPr/>
          <p:nvPr/>
        </p:nvSpPr>
        <p:spPr>
          <a:xfrm>
            <a:off x="1143000" y="1110306"/>
            <a:ext cx="1760220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spc="-75" kern="0" dirty="0">
                <a:solidFill>
                  <a:srgbClr val="FFFFFF"/>
                </a:solidFill>
                <a:latin typeface="Inter" pitchFamily="34" charset="0"/>
                <a:ea typeface="Inter" pitchFamily="34" charset="-122"/>
                <a:cs typeface="Inter" pitchFamily="34" charset="-120"/>
              </a:rPr>
              <a:t>The intent becomes a small, explicit artefact</a:t>
            </a:r>
            <a:endParaRPr lang="en-US" sz="3750" dirty="0"/>
          </a:p>
        </p:txBody>
      </p:sp>
      <p:sp>
        <p:nvSpPr>
          <p:cNvPr id="4" name="Shape 2"/>
          <p:cNvSpPr/>
          <p:nvPr/>
        </p:nvSpPr>
        <p:spPr>
          <a:xfrm>
            <a:off x="1143000" y="1800869"/>
            <a:ext cx="609600" cy="28575"/>
          </a:xfrm>
          <a:prstGeom prst="roundRect">
            <a:avLst>
              <a:gd name="adj" fmla="val 50000"/>
            </a:avLst>
          </a:prstGeom>
          <a:solidFill>
            <a:srgbClr val="7A5AF8"/>
          </a:solidFill>
          <a:ln/>
        </p:spPr>
      </p:sp>
      <p:sp>
        <p:nvSpPr>
          <p:cNvPr id="5" name="Shape 3"/>
          <p:cNvSpPr/>
          <p:nvPr/>
        </p:nvSpPr>
        <p:spPr>
          <a:xfrm>
            <a:off x="1143000" y="4160669"/>
            <a:ext cx="8929985" cy="3419475"/>
          </a:xfrm>
          <a:prstGeom prst="roundRect">
            <a:avLst>
              <a:gd name="adj" fmla="val 3900"/>
            </a:avLst>
          </a:prstGeom>
          <a:solidFill>
            <a:srgbClr val="10171F"/>
          </a:solidFill>
          <a:ln w="9525">
            <a:solidFill>
              <a:srgbClr val="2A3441"/>
            </a:solidFill>
            <a:prstDash val="solid"/>
          </a:ln>
        </p:spPr>
      </p:sp>
      <p:sp>
        <p:nvSpPr>
          <p:cNvPr id="6" name="Shape 4"/>
          <p:cNvSpPr/>
          <p:nvPr/>
        </p:nvSpPr>
        <p:spPr>
          <a:xfrm>
            <a:off x="1152525" y="4170194"/>
            <a:ext cx="8910935" cy="490538"/>
          </a:xfrm>
          <a:prstGeom prst="rect">
            <a:avLst/>
          </a:prstGeom>
          <a:solidFill>
            <a:srgbClr val="161F2B"/>
          </a:solidFill>
          <a:ln/>
        </p:spPr>
      </p:sp>
      <p:sp>
        <p:nvSpPr>
          <p:cNvPr id="7" name="Shape 5"/>
          <p:cNvSpPr/>
          <p:nvPr/>
        </p:nvSpPr>
        <p:spPr>
          <a:xfrm>
            <a:off x="1152525" y="4651206"/>
            <a:ext cx="8910935" cy="9525"/>
          </a:xfrm>
          <a:prstGeom prst="rect">
            <a:avLst/>
          </a:prstGeom>
          <a:solidFill>
            <a:srgbClr val="2A3441"/>
          </a:solidFill>
          <a:ln/>
        </p:spPr>
      </p:sp>
      <p:sp>
        <p:nvSpPr>
          <p:cNvPr id="8" name="Shape 6"/>
          <p:cNvSpPr/>
          <p:nvPr/>
        </p:nvSpPr>
        <p:spPr>
          <a:xfrm>
            <a:off x="1362075" y="4353550"/>
            <a:ext cx="114300" cy="114300"/>
          </a:xfrm>
          <a:prstGeom prst="ellipse">
            <a:avLst/>
          </a:prstGeom>
          <a:solidFill>
            <a:srgbClr val="FF5F56"/>
          </a:solidFill>
          <a:ln/>
        </p:spPr>
      </p:sp>
      <p:sp>
        <p:nvSpPr>
          <p:cNvPr id="9" name="Shape 7"/>
          <p:cNvSpPr/>
          <p:nvPr/>
        </p:nvSpPr>
        <p:spPr>
          <a:xfrm>
            <a:off x="1571625" y="4353550"/>
            <a:ext cx="114300" cy="114300"/>
          </a:xfrm>
          <a:prstGeom prst="ellipse">
            <a:avLst/>
          </a:prstGeom>
          <a:solidFill>
            <a:srgbClr val="FFBD2E"/>
          </a:solidFill>
          <a:ln/>
        </p:spPr>
      </p:sp>
      <p:sp>
        <p:nvSpPr>
          <p:cNvPr id="10" name="Shape 8"/>
          <p:cNvSpPr/>
          <p:nvPr/>
        </p:nvSpPr>
        <p:spPr>
          <a:xfrm>
            <a:off x="1781175" y="4353550"/>
            <a:ext cx="114300" cy="114300"/>
          </a:xfrm>
          <a:prstGeom prst="ellipse">
            <a:avLst/>
          </a:prstGeom>
          <a:solidFill>
            <a:srgbClr val="27C93F"/>
          </a:solidFill>
          <a:ln/>
        </p:spPr>
      </p:sp>
      <p:sp>
        <p:nvSpPr>
          <p:cNvPr id="11" name="Text 9"/>
          <p:cNvSpPr/>
          <p:nvPr/>
        </p:nvSpPr>
        <p:spPr>
          <a:xfrm>
            <a:off x="2085975" y="4322594"/>
            <a:ext cx="1584231" cy="214313"/>
          </a:xfrm>
          <a:prstGeom prst="rect">
            <a:avLst/>
          </a:prstGeom>
          <a:noFill/>
          <a:ln/>
        </p:spPr>
        <p:txBody>
          <a:bodyPr wrap="square" lIns="25400" tIns="25400" rIns="25400" bIns="25400" rtlCol="0" anchor="t">
            <a:normAutofit/>
          </a:bodyPr>
          <a:lstStyle/>
          <a:p>
            <a:pPr algn="l" indent="0" marL="0">
              <a:buNone/>
            </a:pPr>
            <a:r>
              <a:rPr lang="en-US" sz="1050" dirty="0">
                <a:solidFill>
                  <a:srgbClr val="74808F"/>
                </a:solidFill>
                <a:latin typeface="JetBrains Mono" pitchFamily="34" charset="0"/>
                <a:ea typeface="JetBrains Mono" pitchFamily="34" charset="-122"/>
                <a:cs typeface="JetBrains Mono" pitchFamily="34" charset="-120"/>
              </a:rPr>
              <a:t>specification.json</a:t>
            </a:r>
            <a:endParaRPr lang="en-US" sz="1050" dirty="0"/>
          </a:p>
        </p:txBody>
      </p:sp>
      <p:sp>
        <p:nvSpPr>
          <p:cNvPr id="12" name="Text 10"/>
          <p:cNvSpPr/>
          <p:nvPr/>
        </p:nvSpPr>
        <p:spPr>
          <a:xfrm>
            <a:off x="1514475" y="4984581"/>
            <a:ext cx="8454363" cy="2300287"/>
          </a:xfrm>
          <a:prstGeom prst="rect">
            <a:avLst/>
          </a:prstGeom>
          <a:noFill/>
          <a:ln/>
        </p:spPr>
        <p:txBody>
          <a:bodyPr wrap="none" lIns="25400" tIns="25400" rIns="25400" bIns="25400" rtlCol="0" anchor="t">
            <a:normAutofit/>
          </a:bodyPr>
          <a:lstStyle/>
          <a:p>
            <a:pPr algn="l" indent="0" marL="0">
              <a:lnSpc>
                <a:spcPct val="190000"/>
              </a:lnSpc>
              <a:buNone/>
            </a:pPr>
            <a:r>
              <a:rPr lang="en-US" sz="1875" dirty="0">
                <a:solidFill>
                  <a:srgbClr val="74808F"/>
                </a:solidFill>
                <a:latin typeface="JetBrains Mono" pitchFamily="34" charset="0"/>
                <a:ea typeface="JetBrains Mono" pitchFamily="34" charset="-122"/>
                <a:cs typeface="JetBrains Mono" pitchFamily="34" charset="-120"/>
              </a:rPr>
              <a:t>{ </a:t>
            </a:r>
            <a:pPr algn="l" indent="0" marL="0">
              <a:lnSpc>
                <a:spcPct val="190000"/>
              </a:lnSpc>
              <a:buNone/>
            </a:pPr>
            <a:r>
              <a:rPr lang="en-US" sz="1875" dirty="0">
                <a:solidFill>
                  <a:srgbClr val="B7C0CD"/>
                </a:solidFill>
                <a:latin typeface="JetBrains Mono" pitchFamily="34" charset="0"/>
                <a:ea typeface="JetBrains Mono" pitchFamily="34" charset="-122"/>
                <a:cs typeface="JetBrains Mono" pitchFamily="34" charset="-120"/>
              </a:rPr>
              <a:t>  </a:t>
            </a:r>
            <a:pPr algn="l" indent="0" marL="0">
              <a:lnSpc>
                <a:spcPct val="190000"/>
              </a:lnSpc>
              <a:buNone/>
            </a:pPr>
            <a:r>
              <a:rPr lang="en-US" sz="1875" dirty="0">
                <a:solidFill>
                  <a:srgbClr val="00C2FF"/>
                </a:solidFill>
                <a:latin typeface="JetBrains Mono" pitchFamily="34" charset="0"/>
                <a:ea typeface="JetBrains Mono" pitchFamily="34" charset="-122"/>
                <a:cs typeface="JetBrains Mono" pitchFamily="34" charset="-120"/>
              </a:rPr>
              <a:t>"entity"</a:t>
            </a:r>
            <a:pPr algn="l" indent="0" marL="0">
              <a:lnSpc>
                <a:spcPct val="190000"/>
              </a:lnSpc>
              <a:buNone/>
            </a:pPr>
            <a:r>
              <a:rPr lang="en-US" sz="1875" dirty="0">
                <a:solidFill>
                  <a:srgbClr val="B7C0CD"/>
                </a:solidFill>
                <a:latin typeface="JetBrains Mono" pitchFamily="34" charset="0"/>
                <a:ea typeface="JetBrains Mono" pitchFamily="34" charset="-122"/>
                <a:cs typeface="JetBrains Mono" pitchFamily="34" charset="-120"/>
              </a:rPr>
              <a:t>:    </a:t>
            </a:r>
            <a:pPr algn="l" indent="0" marL="0">
              <a:lnSpc>
                <a:spcPct val="190000"/>
              </a:lnSpc>
              <a:buNone/>
            </a:pPr>
            <a:r>
              <a:rPr lang="en-US" sz="1875" dirty="0">
                <a:solidFill>
                  <a:srgbClr val="00D084"/>
                </a:solidFill>
                <a:latin typeface="JetBrains Mono" pitchFamily="34" charset="0"/>
                <a:ea typeface="JetBrains Mono" pitchFamily="34" charset="-122"/>
                <a:cs typeface="JetBrains Mono" pitchFamily="34" charset="-120"/>
              </a:rPr>
              <a:t>"overtime" </a:t>
            </a:r>
            <a:pPr algn="l" indent="0" marL="0">
              <a:lnSpc>
                <a:spcPct val="190000"/>
              </a:lnSpc>
              <a:buNone/>
            </a:pPr>
            <a:r>
              <a:rPr lang="en-US" sz="1875" dirty="0">
                <a:solidFill>
                  <a:srgbClr val="B7C0CD"/>
                </a:solidFill>
                <a:latin typeface="JetBrains Mono" pitchFamily="34" charset="0"/>
                <a:ea typeface="JetBrains Mono" pitchFamily="34" charset="-122"/>
                <a:cs typeface="JetBrains Mono" pitchFamily="34" charset="-120"/>
              </a:rPr>
              <a:t>,</a:t>
            </a:r>
            <a:endParaRPr lang="en-US" sz="1875" dirty="0"/>
          </a:p>
          <a:p>
            <a:pPr algn="l" indent="0" marL="0">
              <a:lnSpc>
                <a:spcPct val="190000"/>
              </a:lnSpc>
              <a:buNone/>
            </a:pPr>
            <a:r>
              <a:rPr lang="en-US" sz="1875" dirty="0">
                <a:solidFill>
                  <a:srgbClr val="B7C0CD"/>
                </a:solidFill>
                <a:latin typeface="JetBrains Mono" pitchFamily="34" charset="0"/>
                <a:ea typeface="JetBrains Mono" pitchFamily="34" charset="-122"/>
                <a:cs typeface="JetBrains Mono" pitchFamily="34" charset="-120"/>
              </a:rPr>
              <a:t>   </a:t>
            </a:r>
            <a:endParaRPr lang="en-US" sz="1875" dirty="0"/>
          </a:p>
          <a:p>
            <a:pPr algn="l" indent="0" marL="0">
              <a:lnSpc>
                <a:spcPct val="190000"/>
              </a:lnSpc>
              <a:buNone/>
            </a:pPr>
            <a:r>
              <a:rPr lang="en-US" sz="1875" dirty="0">
                <a:solidFill>
                  <a:srgbClr val="00C2FF"/>
                </a:solidFill>
                <a:latin typeface="JetBrains Mono" pitchFamily="34" charset="0"/>
                <a:ea typeface="JetBrains Mono" pitchFamily="34" charset="-122"/>
                <a:cs typeface="JetBrains Mono" pitchFamily="34" charset="-120"/>
              </a:rPr>
              <a:t>"measure"</a:t>
            </a:r>
            <a:pPr algn="l" indent="0" marL="0">
              <a:lnSpc>
                <a:spcPct val="190000"/>
              </a:lnSpc>
              <a:buNone/>
            </a:pPr>
            <a:r>
              <a:rPr lang="en-US" sz="1875" dirty="0">
                <a:solidFill>
                  <a:srgbClr val="B7C0CD"/>
                </a:solidFill>
                <a:latin typeface="JetBrains Mono" pitchFamily="34" charset="0"/>
                <a:ea typeface="JetBrains Mono" pitchFamily="34" charset="-122"/>
                <a:cs typeface="JetBrains Mono" pitchFamily="34" charset="-120"/>
              </a:rPr>
              <a:t>:   </a:t>
            </a:r>
            <a:pPr algn="l" indent="0" marL="0">
              <a:lnSpc>
                <a:spcPct val="190000"/>
              </a:lnSpc>
              <a:buNone/>
            </a:pPr>
            <a:r>
              <a:rPr lang="en-US" sz="1875" dirty="0">
                <a:solidFill>
                  <a:srgbClr val="00D084"/>
                </a:solidFill>
                <a:latin typeface="JetBrains Mono" pitchFamily="34" charset="0"/>
                <a:ea typeface="JetBrains Mono" pitchFamily="34" charset="-122"/>
                <a:cs typeface="JetBrains Mono" pitchFamily="34" charset="-120"/>
              </a:rPr>
              <a:t>"sum(hours)" </a:t>
            </a:r>
            <a:pPr algn="l" indent="0" marL="0">
              <a:lnSpc>
                <a:spcPct val="190000"/>
              </a:lnSpc>
              <a:buNone/>
            </a:pPr>
            <a:r>
              <a:rPr lang="en-US" sz="1875" dirty="0">
                <a:solidFill>
                  <a:srgbClr val="B7C0CD"/>
                </a:solidFill>
                <a:latin typeface="JetBrains Mono" pitchFamily="34" charset="0"/>
                <a:ea typeface="JetBrains Mono" pitchFamily="34" charset="-122"/>
                <a:cs typeface="JetBrains Mono" pitchFamily="34" charset="-120"/>
              </a:rPr>
              <a:t>,</a:t>
            </a:r>
            <a:endParaRPr lang="en-US" sz="1875" dirty="0"/>
          </a:p>
          <a:p>
            <a:pPr algn="l" indent="0" marL="0">
              <a:lnSpc>
                <a:spcPct val="190000"/>
              </a:lnSpc>
              <a:buNone/>
            </a:pPr>
            <a:r>
              <a:rPr lang="en-US" sz="1875" dirty="0">
                <a:solidFill>
                  <a:srgbClr val="B7C0CD"/>
                </a:solidFill>
                <a:latin typeface="JetBrains Mono" pitchFamily="34" charset="0"/>
                <a:ea typeface="JetBrains Mono" pitchFamily="34" charset="-122"/>
                <a:cs typeface="JetBrains Mono" pitchFamily="34" charset="-120"/>
              </a:rPr>
              <a:t>   </a:t>
            </a:r>
            <a:endParaRPr lang="en-US" sz="1875" dirty="0"/>
          </a:p>
          <a:p>
            <a:pPr algn="l" indent="0" marL="0">
              <a:lnSpc>
                <a:spcPct val="190000"/>
              </a:lnSpc>
              <a:buNone/>
            </a:pPr>
            <a:r>
              <a:rPr lang="en-US" sz="1875" dirty="0">
                <a:solidFill>
                  <a:srgbClr val="00C2FF"/>
                </a:solidFill>
                <a:latin typeface="JetBrains Mono" pitchFamily="34" charset="0"/>
                <a:ea typeface="JetBrains Mono" pitchFamily="34" charset="-122"/>
                <a:cs typeface="JetBrains Mono" pitchFamily="34" charset="-120"/>
              </a:rPr>
              <a:t>"groupBy"</a:t>
            </a:r>
            <a:pPr algn="l" indent="0" marL="0">
              <a:lnSpc>
                <a:spcPct val="190000"/>
              </a:lnSpc>
              <a:buNone/>
            </a:pPr>
            <a:r>
              <a:rPr lang="en-US" sz="1875" dirty="0">
                <a:solidFill>
                  <a:srgbClr val="B7C0CD"/>
                </a:solidFill>
                <a:latin typeface="JetBrains Mono" pitchFamily="34" charset="0"/>
                <a:ea typeface="JetBrains Mono" pitchFamily="34" charset="-122"/>
                <a:cs typeface="JetBrains Mono" pitchFamily="34" charset="-120"/>
              </a:rPr>
              <a:t>:   </a:t>
            </a:r>
            <a:pPr algn="l" indent="0" marL="0">
              <a:lnSpc>
                <a:spcPct val="190000"/>
              </a:lnSpc>
              <a:buNone/>
            </a:pPr>
            <a:r>
              <a:rPr lang="en-US" sz="1875" dirty="0">
                <a:solidFill>
                  <a:srgbClr val="00D084"/>
                </a:solidFill>
                <a:latin typeface="JetBrains Mono" pitchFamily="34" charset="0"/>
                <a:ea typeface="JetBrains Mono" pitchFamily="34" charset="-122"/>
                <a:cs typeface="JetBrains Mono" pitchFamily="34" charset="-120"/>
              </a:rPr>
              <a:t>"department" </a:t>
            </a:r>
            <a:pPr algn="l" indent="0" marL="0">
              <a:lnSpc>
                <a:spcPct val="190000"/>
              </a:lnSpc>
              <a:buNone/>
            </a:pPr>
            <a:r>
              <a:rPr lang="en-US" sz="1875" dirty="0">
                <a:solidFill>
                  <a:srgbClr val="B7C0CD"/>
                </a:solidFill>
                <a:latin typeface="JetBrains Mono" pitchFamily="34" charset="0"/>
                <a:ea typeface="JetBrains Mono" pitchFamily="34" charset="-122"/>
                <a:cs typeface="JetBrains Mono" pitchFamily="34" charset="-120"/>
              </a:rPr>
              <a:t>,</a:t>
            </a:r>
            <a:endParaRPr lang="en-US" sz="1875" dirty="0"/>
          </a:p>
          <a:p>
            <a:pPr algn="l" indent="0" marL="0">
              <a:lnSpc>
                <a:spcPct val="190000"/>
              </a:lnSpc>
              <a:buNone/>
            </a:pPr>
            <a:r>
              <a:rPr lang="en-US" sz="1875" dirty="0">
                <a:solidFill>
                  <a:srgbClr val="B7C0CD"/>
                </a:solidFill>
                <a:latin typeface="JetBrains Mono" pitchFamily="34" charset="0"/>
                <a:ea typeface="JetBrains Mono" pitchFamily="34" charset="-122"/>
                <a:cs typeface="JetBrains Mono" pitchFamily="34" charset="-120"/>
              </a:rPr>
              <a:t>   </a:t>
            </a:r>
            <a:endParaRPr lang="en-US" sz="1875" dirty="0"/>
          </a:p>
          <a:p>
            <a:pPr algn="l" indent="0" marL="0">
              <a:lnSpc>
                <a:spcPct val="190000"/>
              </a:lnSpc>
              <a:buNone/>
            </a:pPr>
            <a:r>
              <a:rPr lang="en-US" sz="1875" dirty="0">
                <a:solidFill>
                  <a:srgbClr val="00C2FF"/>
                </a:solidFill>
                <a:latin typeface="JetBrains Mono" pitchFamily="34" charset="0"/>
                <a:ea typeface="JetBrains Mono" pitchFamily="34" charset="-122"/>
                <a:cs typeface="JetBrains Mono" pitchFamily="34" charset="-120"/>
              </a:rPr>
              <a:t>"period"</a:t>
            </a:r>
            <a:pPr algn="l" indent="0" marL="0">
              <a:lnSpc>
                <a:spcPct val="190000"/>
              </a:lnSpc>
              <a:buNone/>
            </a:pPr>
            <a:r>
              <a:rPr lang="en-US" sz="1875" dirty="0">
                <a:solidFill>
                  <a:srgbClr val="B7C0CD"/>
                </a:solidFill>
                <a:latin typeface="JetBrains Mono" pitchFamily="34" charset="0"/>
                <a:ea typeface="JetBrains Mono" pitchFamily="34" charset="-122"/>
                <a:cs typeface="JetBrains Mono" pitchFamily="34" charset="-120"/>
              </a:rPr>
              <a:t>:    </a:t>
            </a:r>
            <a:pPr algn="l" indent="0" marL="0">
              <a:lnSpc>
                <a:spcPct val="190000"/>
              </a:lnSpc>
              <a:buNone/>
            </a:pPr>
            <a:r>
              <a:rPr lang="en-US" sz="1875" dirty="0">
                <a:solidFill>
                  <a:srgbClr val="00D084"/>
                </a:solidFill>
                <a:latin typeface="JetBrains Mono" pitchFamily="34" charset="0"/>
                <a:ea typeface="JetBrains Mono" pitchFamily="34" charset="-122"/>
                <a:cs typeface="JetBrains Mono" pitchFamily="34" charset="-120"/>
              </a:rPr>
              <a:t>"current_month"</a:t>
            </a:r>
            <a:pPr algn="l" indent="0" marL="0">
              <a:lnSpc>
                <a:spcPct val="190000"/>
              </a:lnSpc>
              <a:buNone/>
            </a:pPr>
            <a:r>
              <a:rPr lang="en-US" sz="1875" dirty="0">
                <a:solidFill>
                  <a:srgbClr val="74808F"/>
                </a:solidFill>
                <a:latin typeface="JetBrains Mono" pitchFamily="34" charset="0"/>
                <a:ea typeface="JetBrains Mono" pitchFamily="34" charset="-122"/>
                <a:cs typeface="JetBrains Mono" pitchFamily="34" charset="-120"/>
              </a:rPr>
              <a:t>}</a:t>
            </a:r>
            <a:endParaRPr lang="en-US" sz="1875" dirty="0"/>
          </a:p>
        </p:txBody>
      </p:sp>
      <p:sp>
        <p:nvSpPr>
          <p:cNvPr id="13" name="Shape 11"/>
          <p:cNvSpPr/>
          <p:nvPr/>
        </p:nvSpPr>
        <p:spPr>
          <a:xfrm>
            <a:off x="10530185" y="3732316"/>
            <a:ext cx="6614815" cy="942975"/>
          </a:xfrm>
          <a:prstGeom prst="roundRect">
            <a:avLst>
              <a:gd name="adj" fmla="val 12121"/>
            </a:avLst>
          </a:prstGeom>
          <a:solidFill>
            <a:srgbClr val="161F2B"/>
          </a:solidFill>
          <a:ln w="9525">
            <a:solidFill>
              <a:srgbClr val="2A3441"/>
            </a:solidFill>
            <a:prstDash val="solid"/>
          </a:ln>
        </p:spPr>
      </p:sp>
      <p:pic>
        <p:nvPicPr>
          <p:cNvPr id="1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06410" y="4060928"/>
            <a:ext cx="285750" cy="285750"/>
          </a:xfrm>
          <a:prstGeom prst="rect">
            <a:avLst/>
          </a:prstGeom>
        </p:spPr>
      </p:pic>
      <p:sp>
        <p:nvSpPr>
          <p:cNvPr id="15" name="Text 12"/>
          <p:cNvSpPr/>
          <p:nvPr/>
        </p:nvSpPr>
        <p:spPr>
          <a:xfrm>
            <a:off x="11263610" y="3970441"/>
            <a:ext cx="2703441" cy="319088"/>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Inter" pitchFamily="34" charset="0"/>
                <a:ea typeface="Inter" pitchFamily="34" charset="-122"/>
                <a:cs typeface="Inter" pitchFamily="34" charset="-120"/>
              </a:rPr>
              <a:t>Safe</a:t>
            </a:r>
            <a:endParaRPr lang="en-US" sz="1800" dirty="0"/>
          </a:p>
        </p:txBody>
      </p:sp>
      <p:sp>
        <p:nvSpPr>
          <p:cNvPr id="16" name="Text 13"/>
          <p:cNvSpPr/>
          <p:nvPr/>
        </p:nvSpPr>
        <p:spPr>
          <a:xfrm>
            <a:off x="11263610" y="4251428"/>
            <a:ext cx="2703441" cy="223838"/>
          </a:xfrm>
          <a:prstGeom prst="rect">
            <a:avLst/>
          </a:prstGeom>
          <a:noFill/>
          <a:ln/>
        </p:spPr>
        <p:txBody>
          <a:bodyPr wrap="square" lIns="25400" tIns="25400" rIns="25400" bIns="25400" rtlCol="0" anchor="t">
            <a:normAutofit/>
          </a:bodyPr>
          <a:lstStyle/>
          <a:p>
            <a:pPr algn="l" indent="0" marL="0">
              <a:buNone/>
            </a:pPr>
            <a:r>
              <a:rPr lang="en-US" sz="1200" dirty="0">
                <a:solidFill>
                  <a:srgbClr val="B7C0CD"/>
                </a:solidFill>
                <a:latin typeface="Inter" pitchFamily="34" charset="0"/>
                <a:ea typeface="Inter" pitchFamily="34" charset="-122"/>
                <a:cs typeface="Inter" pitchFamily="34" charset="-120"/>
              </a:rPr>
              <a:t>no executable code in the artefact</a:t>
            </a:r>
            <a:endParaRPr lang="en-US" sz="1200" dirty="0"/>
          </a:p>
        </p:txBody>
      </p:sp>
      <p:sp>
        <p:nvSpPr>
          <p:cNvPr id="17" name="Shape 14"/>
          <p:cNvSpPr/>
          <p:nvPr/>
        </p:nvSpPr>
        <p:spPr>
          <a:xfrm>
            <a:off x="10530185" y="4846741"/>
            <a:ext cx="6614815" cy="942975"/>
          </a:xfrm>
          <a:prstGeom prst="roundRect">
            <a:avLst>
              <a:gd name="adj" fmla="val 12121"/>
            </a:avLst>
          </a:prstGeom>
          <a:solidFill>
            <a:srgbClr val="161F2B"/>
          </a:solidFill>
          <a:ln w="9525">
            <a:solidFill>
              <a:srgbClr val="2A3441"/>
            </a:solidFill>
            <a:prstDash val="solid"/>
          </a:ln>
        </p:spPr>
      </p:sp>
      <p:pic>
        <p:nvPicPr>
          <p:cNvPr id="1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06410" y="5175353"/>
            <a:ext cx="285750" cy="285750"/>
          </a:xfrm>
          <a:prstGeom prst="rect">
            <a:avLst/>
          </a:prstGeom>
        </p:spPr>
      </p:pic>
      <p:sp>
        <p:nvSpPr>
          <p:cNvPr id="19" name="Text 15"/>
          <p:cNvSpPr/>
          <p:nvPr/>
        </p:nvSpPr>
        <p:spPr>
          <a:xfrm>
            <a:off x="11263610" y="5084866"/>
            <a:ext cx="2247342" cy="319088"/>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Inter" pitchFamily="34" charset="0"/>
                <a:ea typeface="Inter" pitchFamily="34" charset="-122"/>
                <a:cs typeface="Inter" pitchFamily="34" charset="-120"/>
              </a:rPr>
              <a:t>Reusable</a:t>
            </a:r>
            <a:endParaRPr lang="en-US" sz="1800" dirty="0"/>
          </a:p>
        </p:txBody>
      </p:sp>
      <p:sp>
        <p:nvSpPr>
          <p:cNvPr id="20" name="Text 16"/>
          <p:cNvSpPr/>
          <p:nvPr/>
        </p:nvSpPr>
        <p:spPr>
          <a:xfrm>
            <a:off x="11263610" y="5365853"/>
            <a:ext cx="2247342" cy="223838"/>
          </a:xfrm>
          <a:prstGeom prst="rect">
            <a:avLst/>
          </a:prstGeom>
          <a:noFill/>
          <a:ln/>
        </p:spPr>
        <p:txBody>
          <a:bodyPr wrap="square" lIns="25400" tIns="25400" rIns="25400" bIns="25400" rtlCol="0" anchor="t">
            <a:normAutofit/>
          </a:bodyPr>
          <a:lstStyle/>
          <a:p>
            <a:pPr algn="l" indent="0" marL="0">
              <a:buNone/>
            </a:pPr>
            <a:r>
              <a:rPr lang="en-US" sz="1200" dirty="0">
                <a:solidFill>
                  <a:srgbClr val="B7C0CD"/>
                </a:solidFill>
                <a:latin typeface="Inter" pitchFamily="34" charset="0"/>
                <a:ea typeface="Inter" pitchFamily="34" charset="-122"/>
                <a:cs typeface="Inter" pitchFamily="34" charset="-120"/>
              </a:rPr>
              <a:t>store once, replay anywhere</a:t>
            </a:r>
            <a:endParaRPr lang="en-US" sz="1200" dirty="0"/>
          </a:p>
        </p:txBody>
      </p:sp>
      <p:sp>
        <p:nvSpPr>
          <p:cNvPr id="21" name="Shape 17"/>
          <p:cNvSpPr/>
          <p:nvPr/>
        </p:nvSpPr>
        <p:spPr>
          <a:xfrm>
            <a:off x="10530185" y="5961166"/>
            <a:ext cx="6614815" cy="942975"/>
          </a:xfrm>
          <a:prstGeom prst="roundRect">
            <a:avLst>
              <a:gd name="adj" fmla="val 12121"/>
            </a:avLst>
          </a:prstGeom>
          <a:solidFill>
            <a:srgbClr val="161F2B"/>
          </a:solidFill>
          <a:ln w="9525">
            <a:solidFill>
              <a:srgbClr val="2A3441"/>
            </a:solidFill>
            <a:prstDash val="solid"/>
          </a:ln>
        </p:spPr>
      </p:sp>
      <p:pic>
        <p:nvPicPr>
          <p:cNvPr id="2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06410" y="6289778"/>
            <a:ext cx="285750" cy="285750"/>
          </a:xfrm>
          <a:prstGeom prst="rect">
            <a:avLst/>
          </a:prstGeom>
        </p:spPr>
      </p:pic>
      <p:sp>
        <p:nvSpPr>
          <p:cNvPr id="23" name="Text 18"/>
          <p:cNvSpPr/>
          <p:nvPr/>
        </p:nvSpPr>
        <p:spPr>
          <a:xfrm>
            <a:off x="11263610" y="6199291"/>
            <a:ext cx="2259047" cy="319088"/>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Inter" pitchFamily="34" charset="0"/>
                <a:ea typeface="Inter" pitchFamily="34" charset="-122"/>
                <a:cs typeface="Inter" pitchFamily="34" charset="-120"/>
              </a:rPr>
              <a:t>Explainable</a:t>
            </a:r>
            <a:endParaRPr lang="en-US" sz="1800" dirty="0"/>
          </a:p>
        </p:txBody>
      </p:sp>
      <p:sp>
        <p:nvSpPr>
          <p:cNvPr id="24" name="Text 19"/>
          <p:cNvSpPr/>
          <p:nvPr/>
        </p:nvSpPr>
        <p:spPr>
          <a:xfrm>
            <a:off x="11263610" y="6480278"/>
            <a:ext cx="2259047" cy="223838"/>
          </a:xfrm>
          <a:prstGeom prst="rect">
            <a:avLst/>
          </a:prstGeom>
          <a:noFill/>
          <a:ln/>
        </p:spPr>
        <p:txBody>
          <a:bodyPr wrap="square" lIns="25400" tIns="25400" rIns="25400" bIns="25400" rtlCol="0" anchor="t">
            <a:normAutofit/>
          </a:bodyPr>
          <a:lstStyle/>
          <a:p>
            <a:pPr algn="l" indent="0" marL="0">
              <a:buNone/>
            </a:pPr>
            <a:r>
              <a:rPr lang="en-US" sz="1200" dirty="0">
                <a:solidFill>
                  <a:srgbClr val="B7C0CD"/>
                </a:solidFill>
                <a:latin typeface="Inter" pitchFamily="34" charset="0"/>
                <a:ea typeface="Inter" pitchFamily="34" charset="-122"/>
                <a:cs typeface="Inter" pitchFamily="34" charset="-120"/>
              </a:rPr>
              <a:t>human-readable, reviewable</a:t>
            </a:r>
            <a:endParaRPr lang="en-US" sz="1200" dirty="0"/>
          </a:p>
        </p:txBody>
      </p:sp>
      <p:sp>
        <p:nvSpPr>
          <p:cNvPr id="25" name="Shape 20"/>
          <p:cNvSpPr/>
          <p:nvPr/>
        </p:nvSpPr>
        <p:spPr>
          <a:xfrm>
            <a:off x="10530185" y="7075591"/>
            <a:ext cx="6614815" cy="942975"/>
          </a:xfrm>
          <a:prstGeom prst="roundRect">
            <a:avLst>
              <a:gd name="adj" fmla="val 12121"/>
            </a:avLst>
          </a:prstGeom>
          <a:solidFill>
            <a:srgbClr val="161F2B"/>
          </a:solidFill>
          <a:ln w="9525">
            <a:solidFill>
              <a:srgbClr val="2A3441"/>
            </a:solidFill>
            <a:prstDash val="solid"/>
          </a:ln>
        </p:spPr>
      </p:sp>
      <p:pic>
        <p:nvPicPr>
          <p:cNvPr id="2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806410" y="7404203"/>
            <a:ext cx="285750" cy="285750"/>
          </a:xfrm>
          <a:prstGeom prst="rect">
            <a:avLst/>
          </a:prstGeom>
        </p:spPr>
      </p:pic>
      <p:sp>
        <p:nvSpPr>
          <p:cNvPr id="27" name="Text 21"/>
          <p:cNvSpPr/>
          <p:nvPr/>
        </p:nvSpPr>
        <p:spPr>
          <a:xfrm>
            <a:off x="11263610" y="7313716"/>
            <a:ext cx="2801340" cy="319088"/>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Inter" pitchFamily="34" charset="0"/>
                <a:ea typeface="Inter" pitchFamily="34" charset="-122"/>
                <a:cs typeface="Inter" pitchFamily="34" charset="-120"/>
              </a:rPr>
              <a:t>Database-independent</a:t>
            </a:r>
            <a:endParaRPr lang="en-US" sz="1800" dirty="0"/>
          </a:p>
        </p:txBody>
      </p:sp>
      <p:sp>
        <p:nvSpPr>
          <p:cNvPr id="28" name="Text 22"/>
          <p:cNvSpPr/>
          <p:nvPr/>
        </p:nvSpPr>
        <p:spPr>
          <a:xfrm>
            <a:off x="11263610" y="7594703"/>
            <a:ext cx="2801340" cy="223838"/>
          </a:xfrm>
          <a:prstGeom prst="rect">
            <a:avLst/>
          </a:prstGeom>
          <a:noFill/>
          <a:ln/>
        </p:spPr>
        <p:txBody>
          <a:bodyPr wrap="square" lIns="25400" tIns="25400" rIns="25400" bIns="25400" rtlCol="0" anchor="t">
            <a:normAutofit/>
          </a:bodyPr>
          <a:lstStyle/>
          <a:p>
            <a:pPr algn="l" indent="0" marL="0">
              <a:buNone/>
            </a:pPr>
            <a:r>
              <a:rPr lang="en-US" sz="1200" dirty="0">
                <a:solidFill>
                  <a:srgbClr val="B7C0CD"/>
                </a:solidFill>
                <a:latin typeface="Inter" pitchFamily="34" charset="0"/>
                <a:ea typeface="Inter" pitchFamily="34" charset="-122"/>
                <a:cs typeface="Inter" pitchFamily="34" charset="-120"/>
              </a:rPr>
              <a:t>targets any backend</a:t>
            </a:r>
            <a:endParaRPr lang="en-US" sz="1200" dirty="0"/>
          </a:p>
        </p:txBody>
      </p:sp>
      <p:sp>
        <p:nvSpPr>
          <p:cNvPr id="29" name="Shape 23"/>
          <p:cNvSpPr/>
          <p:nvPr/>
        </p:nvSpPr>
        <p:spPr>
          <a:xfrm>
            <a:off x="1143000" y="9577388"/>
            <a:ext cx="16002000" cy="9525"/>
          </a:xfrm>
          <a:prstGeom prst="rect">
            <a:avLst/>
          </a:prstGeom>
          <a:solidFill>
            <a:srgbClr val="2A3441"/>
          </a:solidFill>
          <a:ln/>
        </p:spPr>
      </p:sp>
      <p:sp>
        <p:nvSpPr>
          <p:cNvPr id="30" name="Text 24"/>
          <p:cNvSpPr/>
          <p:nvPr/>
        </p:nvSpPr>
        <p:spPr>
          <a:xfrm>
            <a:off x="1143000" y="9739313"/>
            <a:ext cx="89349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MINT HR OS</a:t>
            </a:r>
            <a:endParaRPr lang="en-US" sz="975" dirty="0"/>
          </a:p>
        </p:txBody>
      </p:sp>
      <p:sp>
        <p:nvSpPr>
          <p:cNvPr id="31" name="Text 25"/>
          <p:cNvSpPr/>
          <p:nvPr/>
        </p:nvSpPr>
        <p:spPr>
          <a:xfrm>
            <a:off x="7795543" y="9739313"/>
            <a:ext cx="323632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HR &amp; Payroll Intelligence in Seconds</a:t>
            </a:r>
            <a:endParaRPr lang="en-US" sz="975" dirty="0"/>
          </a:p>
        </p:txBody>
      </p:sp>
      <p:sp>
        <p:nvSpPr>
          <p:cNvPr id="32" name="Text 26"/>
          <p:cNvSpPr/>
          <p:nvPr/>
        </p:nvSpPr>
        <p:spPr>
          <a:xfrm>
            <a:off x="16572905" y="9739313"/>
            <a:ext cx="648295"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10 / 17</a:t>
            </a:r>
            <a:endParaRPr lang="en-US" sz="9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1143000" y="800100"/>
            <a:ext cx="17602200" cy="214313"/>
          </a:xfrm>
          <a:prstGeom prst="rect">
            <a:avLst/>
          </a:prstGeom>
          <a:noFill/>
          <a:ln/>
        </p:spPr>
        <p:txBody>
          <a:bodyPr wrap="square" lIns="25400" tIns="25400" rIns="25400" bIns="25400" rtlCol="0" anchor="t">
            <a:normAutofit/>
          </a:bodyPr>
          <a:lstStyle/>
          <a:p>
            <a:pPr algn="l" indent="0" marL="0">
              <a:buNone/>
            </a:pPr>
            <a:r>
              <a:rPr lang="en-US" sz="1050" spc="336" kern="0" dirty="0">
                <a:solidFill>
                  <a:srgbClr val="00C2FF"/>
                </a:solidFill>
                <a:latin typeface="JetBrains Mono" pitchFamily="34" charset="0"/>
                <a:ea typeface="JetBrains Mono" pitchFamily="34" charset="-122"/>
                <a:cs typeface="JetBrains Mono" pitchFamily="34" charset="-120"/>
              </a:rPr>
              <a:t>11 / STEP 4 — DETERMINISTIC COMPILATION</a:t>
            </a:r>
            <a:endParaRPr lang="en-US" sz="1050" dirty="0"/>
          </a:p>
        </p:txBody>
      </p:sp>
      <p:sp>
        <p:nvSpPr>
          <p:cNvPr id="3" name="Text 1"/>
          <p:cNvSpPr/>
          <p:nvPr/>
        </p:nvSpPr>
        <p:spPr>
          <a:xfrm>
            <a:off x="1143000" y="1110063"/>
            <a:ext cx="1760220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spc="-75" kern="0" dirty="0">
                <a:solidFill>
                  <a:srgbClr val="FFFFFF"/>
                </a:solidFill>
                <a:latin typeface="Inter" pitchFamily="34" charset="0"/>
                <a:ea typeface="Inter" pitchFamily="34" charset="-122"/>
                <a:cs typeface="Inter" pitchFamily="34" charset="-120"/>
              </a:rPr>
              <a:t>SQL is assembled — never generated by an AI</a:t>
            </a:r>
            <a:endParaRPr lang="en-US" sz="3750" dirty="0"/>
          </a:p>
        </p:txBody>
      </p:sp>
      <p:sp>
        <p:nvSpPr>
          <p:cNvPr id="4" name="Shape 2"/>
          <p:cNvSpPr/>
          <p:nvPr/>
        </p:nvSpPr>
        <p:spPr>
          <a:xfrm>
            <a:off x="1143000" y="1800626"/>
            <a:ext cx="609600" cy="28575"/>
          </a:xfrm>
          <a:prstGeom prst="roundRect">
            <a:avLst>
              <a:gd name="adj" fmla="val 50000"/>
            </a:avLst>
          </a:prstGeom>
          <a:solidFill>
            <a:srgbClr val="7A5AF8"/>
          </a:solidFill>
          <a:ln/>
        </p:spPr>
      </p:sp>
      <p:sp>
        <p:nvSpPr>
          <p:cNvPr id="5" name="Shape 3"/>
          <p:cNvSpPr/>
          <p:nvPr/>
        </p:nvSpPr>
        <p:spPr>
          <a:xfrm>
            <a:off x="4587776" y="2288363"/>
            <a:ext cx="2922463" cy="609600"/>
          </a:xfrm>
          <a:prstGeom prst="roundRect">
            <a:avLst>
              <a:gd name="adj" fmla="val 18750"/>
            </a:avLst>
          </a:prstGeom>
          <a:solidFill>
            <a:srgbClr val="161F2B"/>
          </a:solidFill>
          <a:ln w="9525">
            <a:solidFill>
              <a:srgbClr val="2A3441"/>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844951" y="2469338"/>
            <a:ext cx="247650" cy="247650"/>
          </a:xfrm>
          <a:prstGeom prst="rect">
            <a:avLst/>
          </a:prstGeom>
        </p:spPr>
      </p:pic>
      <p:sp>
        <p:nvSpPr>
          <p:cNvPr id="7" name="Text 4"/>
          <p:cNvSpPr/>
          <p:nvPr/>
        </p:nvSpPr>
        <p:spPr>
          <a:xfrm>
            <a:off x="5206901" y="2476482"/>
            <a:ext cx="2250780" cy="271463"/>
          </a:xfrm>
          <a:prstGeom prst="rect">
            <a:avLst/>
          </a:prstGeom>
          <a:noFill/>
          <a:ln/>
        </p:spPr>
        <p:txBody>
          <a:bodyPr wrap="square" lIns="25400" tIns="25400" rIns="25400" bIns="25400" rtlCol="0" anchor="t">
            <a:normAutofit/>
          </a:bodyPr>
          <a:lstStyle/>
          <a:p>
            <a:pPr algn="l" indent="0" marL="0">
              <a:buNone/>
            </a:pPr>
            <a:r>
              <a:rPr lang="en-US" sz="1500" dirty="0">
                <a:solidFill>
                  <a:srgbClr val="FFFFFF"/>
                </a:solidFill>
                <a:latin typeface="Inter" pitchFamily="34" charset="0"/>
                <a:ea typeface="Inter" pitchFamily="34" charset="-122"/>
                <a:cs typeface="Inter" pitchFamily="34" charset="-120"/>
              </a:rPr>
              <a:t>Business specification</a:t>
            </a:r>
            <a:endParaRPr lang="en-US" sz="15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76939" y="2469338"/>
            <a:ext cx="247650" cy="247650"/>
          </a:xfrm>
          <a:prstGeom prst="rect">
            <a:avLst/>
          </a:prstGeom>
        </p:spPr>
      </p:pic>
      <p:sp>
        <p:nvSpPr>
          <p:cNvPr id="9" name="Shape 5"/>
          <p:cNvSpPr/>
          <p:nvPr/>
        </p:nvSpPr>
        <p:spPr>
          <a:xfrm>
            <a:off x="8291289" y="2288363"/>
            <a:ext cx="2369269" cy="609600"/>
          </a:xfrm>
          <a:prstGeom prst="roundRect">
            <a:avLst>
              <a:gd name="adj" fmla="val 18750"/>
            </a:avLst>
          </a:prstGeom>
          <a:gradFill rotWithShape="1">
            <a:gsLst>
              <a:gs pos="0">
                <a:srgbClr val="7A5AF8">
                  <a:alpha val="16000"/>
                </a:srgbClr>
              </a:gs>
              <a:gs pos="100000">
                <a:srgbClr val="7A5AF8">
                  <a:alpha val="5000"/>
                </a:srgbClr>
              </a:gs>
            </a:gsLst>
            <a:lin ang="5400000" scaled="0"/>
          </a:gradFill>
          <a:ln w="9525">
            <a:solidFill>
              <a:srgbClr val="7A5AF8"/>
            </a:solidFill>
            <a:prstDash val="solid"/>
          </a:ln>
        </p:spPr>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48464" y="2469338"/>
            <a:ext cx="247650" cy="247650"/>
          </a:xfrm>
          <a:prstGeom prst="rect">
            <a:avLst/>
          </a:prstGeom>
        </p:spPr>
      </p:pic>
      <p:sp>
        <p:nvSpPr>
          <p:cNvPr id="11" name="Text 6"/>
          <p:cNvSpPr/>
          <p:nvPr/>
        </p:nvSpPr>
        <p:spPr>
          <a:xfrm>
            <a:off x="8910414" y="2476482"/>
            <a:ext cx="1642266" cy="271463"/>
          </a:xfrm>
          <a:prstGeom prst="rect">
            <a:avLst/>
          </a:prstGeom>
          <a:noFill/>
          <a:ln/>
        </p:spPr>
        <p:txBody>
          <a:bodyPr wrap="square" lIns="25400" tIns="25400" rIns="25400" bIns="25400" rtlCol="0" anchor="t">
            <a:normAutofit/>
          </a:bodyPr>
          <a:lstStyle/>
          <a:p>
            <a:pPr algn="l" indent="0" marL="0">
              <a:buNone/>
            </a:pPr>
            <a:r>
              <a:rPr lang="en-US" sz="1500" dirty="0">
                <a:solidFill>
                  <a:srgbClr val="FFFFFF"/>
                </a:solidFill>
                <a:latin typeface="Inter" pitchFamily="34" charset="0"/>
                <a:ea typeface="Inter" pitchFamily="34" charset="-122"/>
                <a:cs typeface="Inter" pitchFamily="34" charset="-120"/>
              </a:rPr>
              <a:t>Compiler engine</a:t>
            </a:r>
            <a:endParaRPr lang="en-US" sz="15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927259" y="2469338"/>
            <a:ext cx="247650" cy="247650"/>
          </a:xfrm>
          <a:prstGeom prst="rect">
            <a:avLst/>
          </a:prstGeom>
        </p:spPr>
      </p:pic>
      <p:sp>
        <p:nvSpPr>
          <p:cNvPr id="13" name="Shape 7"/>
          <p:cNvSpPr/>
          <p:nvPr/>
        </p:nvSpPr>
        <p:spPr>
          <a:xfrm>
            <a:off x="11441609" y="2288363"/>
            <a:ext cx="2258616" cy="609600"/>
          </a:xfrm>
          <a:prstGeom prst="roundRect">
            <a:avLst>
              <a:gd name="adj" fmla="val 18750"/>
            </a:avLst>
          </a:prstGeom>
          <a:solidFill>
            <a:srgbClr val="161F2B"/>
          </a:solidFill>
          <a:ln w="9525">
            <a:solidFill>
              <a:srgbClr val="00D084"/>
            </a:solidFill>
            <a:prstDash val="solid"/>
          </a:ln>
        </p:spPr>
      </p:sp>
      <p:pic>
        <p:nvPicPr>
          <p:cNvPr id="1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698784" y="2469338"/>
            <a:ext cx="247650" cy="247650"/>
          </a:xfrm>
          <a:prstGeom prst="rect">
            <a:avLst/>
          </a:prstGeom>
        </p:spPr>
      </p:pic>
      <p:sp>
        <p:nvSpPr>
          <p:cNvPr id="15" name="Text 8"/>
          <p:cNvSpPr/>
          <p:nvPr/>
        </p:nvSpPr>
        <p:spPr>
          <a:xfrm>
            <a:off x="12060734" y="2476482"/>
            <a:ext cx="1520547" cy="271463"/>
          </a:xfrm>
          <a:prstGeom prst="rect">
            <a:avLst/>
          </a:prstGeom>
          <a:noFill/>
          <a:ln/>
        </p:spPr>
        <p:txBody>
          <a:bodyPr wrap="square" lIns="25400" tIns="25400" rIns="25400" bIns="25400" rtlCol="0" anchor="t">
            <a:normAutofit/>
          </a:bodyPr>
          <a:lstStyle/>
          <a:p>
            <a:pPr algn="l" indent="0" marL="0">
              <a:buNone/>
            </a:pPr>
            <a:r>
              <a:rPr lang="en-US" sz="1500" dirty="0">
                <a:solidFill>
                  <a:srgbClr val="FFFFFF"/>
                </a:solidFill>
                <a:latin typeface="Inter" pitchFamily="34" charset="0"/>
                <a:ea typeface="Inter" pitchFamily="34" charset="-122"/>
                <a:cs typeface="Inter" pitchFamily="34" charset="-120"/>
              </a:rPr>
              <a:t>Generated SQL</a:t>
            </a:r>
            <a:endParaRPr lang="en-US" sz="1500" dirty="0"/>
          </a:p>
        </p:txBody>
      </p:sp>
      <p:sp>
        <p:nvSpPr>
          <p:cNvPr id="16" name="Shape 9"/>
          <p:cNvSpPr/>
          <p:nvPr/>
        </p:nvSpPr>
        <p:spPr>
          <a:xfrm>
            <a:off x="1143000" y="3283359"/>
            <a:ext cx="16002000" cy="5124450"/>
          </a:xfrm>
          <a:prstGeom prst="roundRect">
            <a:avLst>
              <a:gd name="adj" fmla="val 2602"/>
            </a:avLst>
          </a:prstGeom>
          <a:solidFill>
            <a:srgbClr val="10171F"/>
          </a:solidFill>
          <a:ln w="9525">
            <a:solidFill>
              <a:srgbClr val="2A3441"/>
            </a:solidFill>
            <a:prstDash val="solid"/>
          </a:ln>
        </p:spPr>
      </p:sp>
      <p:sp>
        <p:nvSpPr>
          <p:cNvPr id="17" name="Shape 10"/>
          <p:cNvSpPr/>
          <p:nvPr/>
        </p:nvSpPr>
        <p:spPr>
          <a:xfrm>
            <a:off x="1152525" y="3292884"/>
            <a:ext cx="15982950" cy="452438"/>
          </a:xfrm>
          <a:prstGeom prst="rect">
            <a:avLst/>
          </a:prstGeom>
          <a:solidFill>
            <a:srgbClr val="161F2B"/>
          </a:solidFill>
          <a:ln/>
        </p:spPr>
      </p:sp>
      <p:sp>
        <p:nvSpPr>
          <p:cNvPr id="18" name="Shape 11"/>
          <p:cNvSpPr/>
          <p:nvPr/>
        </p:nvSpPr>
        <p:spPr>
          <a:xfrm>
            <a:off x="1152525" y="3735797"/>
            <a:ext cx="15982950" cy="9525"/>
          </a:xfrm>
          <a:prstGeom prst="rect">
            <a:avLst/>
          </a:prstGeom>
          <a:solidFill>
            <a:srgbClr val="2A3441"/>
          </a:solidFill>
          <a:ln/>
        </p:spPr>
      </p:sp>
      <p:sp>
        <p:nvSpPr>
          <p:cNvPr id="19" name="Shape 12"/>
          <p:cNvSpPr/>
          <p:nvPr/>
        </p:nvSpPr>
        <p:spPr>
          <a:xfrm>
            <a:off x="1362075" y="3457191"/>
            <a:ext cx="114300" cy="114300"/>
          </a:xfrm>
          <a:prstGeom prst="ellipse">
            <a:avLst/>
          </a:prstGeom>
          <a:solidFill>
            <a:srgbClr val="FF5F56"/>
          </a:solidFill>
          <a:ln/>
        </p:spPr>
      </p:sp>
      <p:sp>
        <p:nvSpPr>
          <p:cNvPr id="20" name="Shape 13"/>
          <p:cNvSpPr/>
          <p:nvPr/>
        </p:nvSpPr>
        <p:spPr>
          <a:xfrm>
            <a:off x="1571625" y="3457191"/>
            <a:ext cx="114300" cy="114300"/>
          </a:xfrm>
          <a:prstGeom prst="ellipse">
            <a:avLst/>
          </a:prstGeom>
          <a:solidFill>
            <a:srgbClr val="FFBD2E"/>
          </a:solidFill>
          <a:ln/>
        </p:spPr>
      </p:sp>
      <p:sp>
        <p:nvSpPr>
          <p:cNvPr id="21" name="Shape 14"/>
          <p:cNvSpPr/>
          <p:nvPr/>
        </p:nvSpPr>
        <p:spPr>
          <a:xfrm>
            <a:off x="1781175" y="3457191"/>
            <a:ext cx="114300" cy="114300"/>
          </a:xfrm>
          <a:prstGeom prst="ellipse">
            <a:avLst/>
          </a:prstGeom>
          <a:solidFill>
            <a:srgbClr val="27C93F"/>
          </a:solidFill>
          <a:ln/>
        </p:spPr>
      </p:sp>
      <p:sp>
        <p:nvSpPr>
          <p:cNvPr id="22" name="Text 15"/>
          <p:cNvSpPr/>
          <p:nvPr/>
        </p:nvSpPr>
        <p:spPr>
          <a:xfrm>
            <a:off x="2085975" y="3426234"/>
            <a:ext cx="3960495" cy="214313"/>
          </a:xfrm>
          <a:prstGeom prst="rect">
            <a:avLst/>
          </a:prstGeom>
          <a:noFill/>
          <a:ln/>
        </p:spPr>
        <p:txBody>
          <a:bodyPr wrap="square" lIns="25400" tIns="25400" rIns="25400" bIns="25400" rtlCol="0" anchor="t">
            <a:normAutofit/>
          </a:bodyPr>
          <a:lstStyle/>
          <a:p>
            <a:pPr algn="l" indent="0" marL="0">
              <a:buNone/>
            </a:pPr>
            <a:r>
              <a:rPr lang="en-US" sz="1050" dirty="0">
                <a:solidFill>
                  <a:srgbClr val="74808F"/>
                </a:solidFill>
                <a:latin typeface="JetBrains Mono" pitchFamily="34" charset="0"/>
                <a:ea typeface="JetBrains Mono" pitchFamily="34" charset="-122"/>
                <a:cs typeface="JetBrains Mono" pitchFamily="34" charset="-120"/>
              </a:rPr>
              <a:t>compiled.sql — assembled from approved blocks</a:t>
            </a:r>
            <a:endParaRPr lang="en-US" sz="1050" dirty="0"/>
          </a:p>
        </p:txBody>
      </p:sp>
      <p:sp>
        <p:nvSpPr>
          <p:cNvPr id="23" name="Text 16"/>
          <p:cNvSpPr/>
          <p:nvPr/>
        </p:nvSpPr>
        <p:spPr>
          <a:xfrm>
            <a:off x="1514475" y="4012022"/>
            <a:ext cx="15738539" cy="2338388"/>
          </a:xfrm>
          <a:prstGeom prst="rect">
            <a:avLst/>
          </a:prstGeom>
          <a:noFill/>
          <a:ln/>
        </p:spPr>
        <p:txBody>
          <a:bodyPr wrap="none" lIns="25400" tIns="25400" rIns="25400" bIns="25400" rtlCol="0" anchor="t">
            <a:normAutofit/>
          </a:bodyPr>
          <a:lstStyle/>
          <a:p>
            <a:pPr algn="l" indent="0" marL="0">
              <a:lnSpc>
                <a:spcPct val="175000"/>
              </a:lnSpc>
              <a:buNone/>
            </a:pPr>
            <a:r>
              <a:rPr lang="en-US" sz="1725" dirty="0">
                <a:solidFill>
                  <a:srgbClr val="7A5AF8"/>
                </a:solidFill>
                <a:latin typeface="JetBrains Mono" pitchFamily="34" charset="0"/>
                <a:ea typeface="JetBrains Mono" pitchFamily="34" charset="-122"/>
                <a:cs typeface="JetBrains Mono" pitchFamily="34" charset="-120"/>
              </a:rPr>
              <a:t>SELECT </a:t>
            </a:r>
            <a:pPr algn="l" indent="0" marL="0">
              <a:lnSpc>
                <a:spcPct val="175000"/>
              </a:lnSpc>
              <a:buNone/>
            </a:pPr>
            <a:r>
              <a:rPr lang="en-US" sz="1725" dirty="0">
                <a:solidFill>
                  <a:srgbClr val="B7C0CD"/>
                </a:solidFill>
                <a:latin typeface="JetBrains Mono" pitchFamily="34" charset="0"/>
                <a:ea typeface="JetBrains Mono" pitchFamily="34" charset="-122"/>
                <a:cs typeface="JetBrains Mono" pitchFamily="34" charset="-120"/>
              </a:rPr>
              <a:t>   e.department,</a:t>
            </a:r>
            <a:endParaRPr lang="en-US" sz="1725" dirty="0"/>
          </a:p>
          <a:p>
            <a:pPr algn="l" indent="0" marL="0">
              <a:lnSpc>
                <a:spcPct val="175000"/>
              </a:lnSpc>
              <a:buNone/>
            </a:pPr>
            <a:r>
              <a:rPr lang="en-US" sz="1725" dirty="0">
                <a:solidFill>
                  <a:srgbClr val="B7C0CD"/>
                </a:solidFill>
                <a:latin typeface="JetBrains Mono" pitchFamily="34" charset="0"/>
                <a:ea typeface="JetBrains Mono" pitchFamily="34" charset="-122"/>
                <a:cs typeface="JetBrains Mono" pitchFamily="34" charset="-120"/>
              </a:rPr>
              <a:t>          </a:t>
            </a:r>
            <a:endParaRPr lang="en-US" sz="1725" dirty="0"/>
          </a:p>
          <a:p>
            <a:pPr algn="l" indent="0" marL="0">
              <a:lnSpc>
                <a:spcPct val="175000"/>
              </a:lnSpc>
              <a:buNone/>
            </a:pPr>
            <a:r>
              <a:rPr lang="en-US" sz="1725" dirty="0">
                <a:solidFill>
                  <a:srgbClr val="00C2FF"/>
                </a:solidFill>
                <a:latin typeface="JetBrains Mono" pitchFamily="34" charset="0"/>
                <a:ea typeface="JetBrains Mono" pitchFamily="34" charset="-122"/>
                <a:cs typeface="JetBrains Mono" pitchFamily="34" charset="-120"/>
              </a:rPr>
              <a:t>SUM</a:t>
            </a:r>
            <a:pPr algn="l" indent="0" marL="0">
              <a:lnSpc>
                <a:spcPct val="175000"/>
              </a:lnSpc>
              <a:buNone/>
            </a:pPr>
            <a:r>
              <a:rPr lang="en-US" sz="1725" dirty="0">
                <a:solidFill>
                  <a:srgbClr val="B7C0CD"/>
                </a:solidFill>
                <a:latin typeface="JetBrains Mono" pitchFamily="34" charset="0"/>
                <a:ea typeface="JetBrains Mono" pitchFamily="34" charset="-122"/>
                <a:cs typeface="JetBrains Mono" pitchFamily="34" charset="-120"/>
              </a:rPr>
              <a:t>(o.hours) </a:t>
            </a:r>
            <a:pPr algn="l" indent="0" marL="0">
              <a:lnSpc>
                <a:spcPct val="175000"/>
              </a:lnSpc>
              <a:buNone/>
            </a:pPr>
            <a:r>
              <a:rPr lang="en-US" sz="1725" dirty="0">
                <a:solidFill>
                  <a:srgbClr val="7A5AF8"/>
                </a:solidFill>
                <a:latin typeface="JetBrains Mono" pitchFamily="34" charset="0"/>
                <a:ea typeface="JetBrains Mono" pitchFamily="34" charset="-122"/>
                <a:cs typeface="JetBrains Mono" pitchFamily="34" charset="-120"/>
              </a:rPr>
              <a:t>AS</a:t>
            </a:r>
            <a:pPr algn="l" indent="0" marL="0">
              <a:lnSpc>
                <a:spcPct val="175000"/>
              </a:lnSpc>
              <a:buNone/>
            </a:pPr>
            <a:r>
              <a:rPr lang="en-US" sz="1725" dirty="0">
                <a:solidFill>
                  <a:srgbClr val="B7C0CD"/>
                </a:solidFill>
                <a:latin typeface="JetBrains Mono" pitchFamily="34" charset="0"/>
                <a:ea typeface="JetBrains Mono" pitchFamily="34" charset="-122"/>
                <a:cs typeface="JetBrains Mono" pitchFamily="34" charset="-120"/>
              </a:rPr>
              <a:t> overtime_hours </a:t>
            </a:r>
            <a:pPr algn="l" indent="0" marL="0">
              <a:lnSpc>
                <a:spcPct val="175000"/>
              </a:lnSpc>
              <a:buNone/>
            </a:pPr>
            <a:r>
              <a:rPr lang="en-US" sz="1725" dirty="0">
                <a:solidFill>
                  <a:srgbClr val="7A5AF8"/>
                </a:solidFill>
                <a:latin typeface="JetBrains Mono" pitchFamily="34" charset="0"/>
                <a:ea typeface="JetBrains Mono" pitchFamily="34" charset="-122"/>
                <a:cs typeface="JetBrains Mono" pitchFamily="34" charset="-120"/>
              </a:rPr>
              <a:t>FROM</a:t>
            </a:r>
            <a:pPr algn="l" indent="0" marL="0">
              <a:lnSpc>
                <a:spcPct val="175000"/>
              </a:lnSpc>
              <a:buNone/>
            </a:pPr>
            <a:r>
              <a:rPr lang="en-US" sz="1725" dirty="0">
                <a:solidFill>
                  <a:srgbClr val="B7C0CD"/>
                </a:solidFill>
                <a:latin typeface="JetBrains Mono" pitchFamily="34" charset="0"/>
                <a:ea typeface="JetBrains Mono" pitchFamily="34" charset="-122"/>
                <a:cs typeface="JetBrains Mono" pitchFamily="34" charset="-120"/>
              </a:rPr>
              <a:t>     fct_employee_overtime o </a:t>
            </a:r>
            <a:pPr algn="l" indent="0" marL="0">
              <a:lnSpc>
                <a:spcPct val="175000"/>
              </a:lnSpc>
              <a:buNone/>
            </a:pPr>
            <a:r>
              <a:rPr lang="en-US" sz="1725" dirty="0">
                <a:solidFill>
                  <a:srgbClr val="7A5AF8"/>
                </a:solidFill>
                <a:latin typeface="JetBrains Mono" pitchFamily="34" charset="0"/>
                <a:ea typeface="JetBrains Mono" pitchFamily="34" charset="-122"/>
                <a:cs typeface="JetBrains Mono" pitchFamily="34" charset="-120"/>
              </a:rPr>
              <a:t>JOIN</a:t>
            </a:r>
            <a:pPr algn="l" indent="0" marL="0">
              <a:lnSpc>
                <a:spcPct val="175000"/>
              </a:lnSpc>
              <a:buNone/>
            </a:pPr>
            <a:r>
              <a:rPr lang="en-US" sz="1725" dirty="0">
                <a:solidFill>
                  <a:srgbClr val="B7C0CD"/>
                </a:solidFill>
                <a:latin typeface="JetBrains Mono" pitchFamily="34" charset="0"/>
                <a:ea typeface="JetBrains Mono" pitchFamily="34" charset="-122"/>
                <a:cs typeface="JetBrains Mono" pitchFamily="34" charset="-120"/>
              </a:rPr>
              <a:t>     dim_employee e </a:t>
            </a:r>
            <a:pPr algn="l" indent="0" marL="0">
              <a:lnSpc>
                <a:spcPct val="175000"/>
              </a:lnSpc>
              <a:buNone/>
            </a:pPr>
            <a:r>
              <a:rPr lang="en-US" sz="1725" dirty="0">
                <a:solidFill>
                  <a:srgbClr val="7A5AF8"/>
                </a:solidFill>
                <a:latin typeface="JetBrains Mono" pitchFamily="34" charset="0"/>
                <a:ea typeface="JetBrains Mono" pitchFamily="34" charset="-122"/>
                <a:cs typeface="JetBrains Mono" pitchFamily="34" charset="-120"/>
              </a:rPr>
              <a:t>ON</a:t>
            </a:r>
            <a:pPr algn="l" indent="0" marL="0">
              <a:lnSpc>
                <a:spcPct val="175000"/>
              </a:lnSpc>
              <a:buNone/>
            </a:pPr>
            <a:r>
              <a:rPr lang="en-US" sz="1725" dirty="0">
                <a:solidFill>
                  <a:srgbClr val="B7C0CD"/>
                </a:solidFill>
                <a:latin typeface="JetBrains Mono" pitchFamily="34" charset="0"/>
                <a:ea typeface="JetBrains Mono" pitchFamily="34" charset="-122"/>
                <a:cs typeface="JetBrains Mono" pitchFamily="34" charset="-120"/>
              </a:rPr>
              <a:t> e.employee_id = o.employee_id </a:t>
            </a:r>
            <a:pPr algn="l" indent="0" marL="0">
              <a:lnSpc>
                <a:spcPct val="175000"/>
              </a:lnSpc>
              <a:buNone/>
            </a:pPr>
            <a:r>
              <a:rPr lang="en-US" sz="1725" dirty="0">
                <a:solidFill>
                  <a:srgbClr val="7A5AF8"/>
                </a:solidFill>
                <a:latin typeface="JetBrains Mono" pitchFamily="34" charset="0"/>
                <a:ea typeface="JetBrains Mono" pitchFamily="34" charset="-122"/>
                <a:cs typeface="JetBrains Mono" pitchFamily="34" charset="-120"/>
              </a:rPr>
              <a:t>WHERE</a:t>
            </a:r>
            <a:pPr algn="l" indent="0" marL="0">
              <a:lnSpc>
                <a:spcPct val="175000"/>
              </a:lnSpc>
              <a:buNone/>
            </a:pPr>
            <a:r>
              <a:rPr lang="en-US" sz="1725" dirty="0">
                <a:solidFill>
                  <a:srgbClr val="B7C0CD"/>
                </a:solidFill>
                <a:latin typeface="JetBrains Mono" pitchFamily="34" charset="0"/>
                <a:ea typeface="JetBrains Mono" pitchFamily="34" charset="-122"/>
                <a:cs typeface="JetBrains Mono" pitchFamily="34" charset="-120"/>
              </a:rPr>
              <a:t>    o.payroll_period = </a:t>
            </a:r>
            <a:pPr algn="l" indent="0" marL="0">
              <a:lnSpc>
                <a:spcPct val="175000"/>
              </a:lnSpc>
              <a:buNone/>
            </a:pPr>
            <a:r>
              <a:rPr lang="en-US" sz="1725" dirty="0">
                <a:solidFill>
                  <a:srgbClr val="00D084"/>
                </a:solidFill>
                <a:latin typeface="JetBrains Mono" pitchFamily="34" charset="0"/>
                <a:ea typeface="JetBrains Mono" pitchFamily="34" charset="-122"/>
                <a:cs typeface="JetBrains Mono" pitchFamily="34" charset="-120"/>
              </a:rPr>
              <a:t>current_period()</a:t>
            </a:r>
            <a:pPr algn="l" indent="0" marL="0">
              <a:lnSpc>
                <a:spcPct val="175000"/>
              </a:lnSpc>
              <a:buNone/>
            </a:pPr>
            <a:r>
              <a:rPr lang="en-US" sz="1725" dirty="0">
                <a:solidFill>
                  <a:srgbClr val="7A5AF8"/>
                </a:solidFill>
                <a:latin typeface="JetBrains Mono" pitchFamily="34" charset="0"/>
                <a:ea typeface="JetBrains Mono" pitchFamily="34" charset="-122"/>
                <a:cs typeface="JetBrains Mono" pitchFamily="34" charset="-120"/>
              </a:rPr>
              <a:t>GROUP BY</a:t>
            </a:r>
            <a:pPr algn="l" indent="0" marL="0">
              <a:lnSpc>
                <a:spcPct val="175000"/>
              </a:lnSpc>
              <a:buNone/>
            </a:pPr>
            <a:r>
              <a:rPr lang="en-US" sz="1725" dirty="0">
                <a:solidFill>
                  <a:srgbClr val="B7C0CD"/>
                </a:solidFill>
                <a:latin typeface="JetBrains Mono" pitchFamily="34" charset="0"/>
                <a:ea typeface="JetBrains Mono" pitchFamily="34" charset="-122"/>
                <a:cs typeface="JetBrains Mono" pitchFamily="34" charset="-120"/>
              </a:rPr>
              <a:t> e.department </a:t>
            </a:r>
            <a:pPr algn="l" indent="0" marL="0">
              <a:lnSpc>
                <a:spcPct val="175000"/>
              </a:lnSpc>
              <a:buNone/>
            </a:pPr>
            <a:r>
              <a:rPr lang="en-US" sz="1725" dirty="0">
                <a:solidFill>
                  <a:srgbClr val="7A5AF8"/>
                </a:solidFill>
                <a:latin typeface="JetBrains Mono" pitchFamily="34" charset="0"/>
                <a:ea typeface="JetBrains Mono" pitchFamily="34" charset="-122"/>
                <a:cs typeface="JetBrains Mono" pitchFamily="34" charset="-120"/>
              </a:rPr>
              <a:t>ORDER BY</a:t>
            </a:r>
            <a:pPr algn="l" indent="0" marL="0">
              <a:lnSpc>
                <a:spcPct val="175000"/>
              </a:lnSpc>
              <a:buNone/>
            </a:pPr>
            <a:r>
              <a:rPr lang="en-US" sz="1725" dirty="0">
                <a:solidFill>
                  <a:srgbClr val="B7C0CD"/>
                </a:solidFill>
                <a:latin typeface="JetBrains Mono" pitchFamily="34" charset="0"/>
                <a:ea typeface="JetBrains Mono" pitchFamily="34" charset="-122"/>
                <a:cs typeface="JetBrains Mono" pitchFamily="34" charset="-120"/>
              </a:rPr>
              <a:t> overtime_hours </a:t>
            </a:r>
            <a:pPr algn="l" indent="0" marL="0">
              <a:lnSpc>
                <a:spcPct val="175000"/>
              </a:lnSpc>
              <a:buNone/>
            </a:pPr>
            <a:r>
              <a:rPr lang="en-US" sz="1725" dirty="0">
                <a:solidFill>
                  <a:srgbClr val="7A5AF8"/>
                </a:solidFill>
                <a:latin typeface="JetBrains Mono" pitchFamily="34" charset="0"/>
                <a:ea typeface="JetBrains Mono" pitchFamily="34" charset="-122"/>
                <a:cs typeface="JetBrains Mono" pitchFamily="34" charset="-120"/>
              </a:rPr>
              <a:t>DESC</a:t>
            </a:r>
            <a:pPr algn="l" indent="0" marL="0">
              <a:lnSpc>
                <a:spcPct val="175000"/>
              </a:lnSpc>
              <a:buNone/>
            </a:pPr>
            <a:r>
              <a:rPr lang="en-US" sz="1725" dirty="0">
                <a:solidFill>
                  <a:srgbClr val="B7C0CD"/>
                </a:solidFill>
                <a:latin typeface="JetBrains Mono" pitchFamily="34" charset="0"/>
                <a:ea typeface="JetBrains Mono" pitchFamily="34" charset="-122"/>
                <a:cs typeface="JetBrains Mono" pitchFamily="34" charset="-120"/>
              </a:rPr>
              <a:t>;</a:t>
            </a:r>
            <a:endParaRPr lang="en-US" sz="1725" dirty="0"/>
          </a:p>
        </p:txBody>
      </p:sp>
      <p:sp>
        <p:nvSpPr>
          <p:cNvPr id="24" name="Shape 17"/>
          <p:cNvSpPr/>
          <p:nvPr/>
        </p:nvSpPr>
        <p:spPr>
          <a:xfrm>
            <a:off x="1143000" y="8663908"/>
            <a:ext cx="16002000" cy="723900"/>
          </a:xfrm>
          <a:prstGeom prst="roundRect">
            <a:avLst>
              <a:gd name="adj" fmla="val 15789"/>
            </a:avLst>
          </a:prstGeom>
          <a:solidFill>
            <a:srgbClr val="00D084">
              <a:alpha val="8000"/>
            </a:srgbClr>
          </a:solidFill>
          <a:ln/>
        </p:spPr>
      </p:sp>
      <p:sp>
        <p:nvSpPr>
          <p:cNvPr id="25" name="Shape 18"/>
          <p:cNvSpPr/>
          <p:nvPr/>
        </p:nvSpPr>
        <p:spPr>
          <a:xfrm>
            <a:off x="1143000" y="9378283"/>
            <a:ext cx="16002000" cy="9525"/>
          </a:xfrm>
          <a:prstGeom prst="rect">
            <a:avLst/>
          </a:prstGeom>
          <a:solidFill>
            <a:srgbClr val="00D084">
              <a:alpha val="40000"/>
            </a:srgbClr>
          </a:solidFill>
          <a:ln/>
        </p:spPr>
      </p:sp>
      <p:sp>
        <p:nvSpPr>
          <p:cNvPr id="26" name="Shape 19"/>
          <p:cNvSpPr/>
          <p:nvPr/>
        </p:nvSpPr>
        <p:spPr>
          <a:xfrm>
            <a:off x="1143000" y="8663908"/>
            <a:ext cx="16002000" cy="9525"/>
          </a:xfrm>
          <a:prstGeom prst="rect">
            <a:avLst/>
          </a:prstGeom>
          <a:solidFill>
            <a:srgbClr val="00D084">
              <a:alpha val="40000"/>
            </a:srgbClr>
          </a:solidFill>
          <a:ln/>
        </p:spPr>
      </p:sp>
      <p:sp>
        <p:nvSpPr>
          <p:cNvPr id="27" name="Shape 20"/>
          <p:cNvSpPr/>
          <p:nvPr/>
        </p:nvSpPr>
        <p:spPr>
          <a:xfrm>
            <a:off x="1143000" y="8663908"/>
            <a:ext cx="38100" cy="723900"/>
          </a:xfrm>
          <a:prstGeom prst="rect">
            <a:avLst/>
          </a:prstGeom>
          <a:solidFill>
            <a:srgbClr val="00D084"/>
          </a:solidFill>
          <a:ln/>
        </p:spPr>
      </p:sp>
      <p:sp>
        <p:nvSpPr>
          <p:cNvPr id="28" name="Shape 21"/>
          <p:cNvSpPr/>
          <p:nvPr/>
        </p:nvSpPr>
        <p:spPr>
          <a:xfrm>
            <a:off x="17135475" y="8663908"/>
            <a:ext cx="9525" cy="723900"/>
          </a:xfrm>
          <a:prstGeom prst="rect">
            <a:avLst/>
          </a:prstGeom>
          <a:solidFill>
            <a:srgbClr val="00D084">
              <a:alpha val="40000"/>
            </a:srgbClr>
          </a:solidFill>
          <a:ln/>
        </p:spPr>
      </p:sp>
      <p:pic>
        <p:nvPicPr>
          <p:cNvPr id="2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66850" y="8882983"/>
            <a:ext cx="285750" cy="285750"/>
          </a:xfrm>
          <a:prstGeom prst="rect">
            <a:avLst/>
          </a:prstGeom>
        </p:spPr>
      </p:pic>
      <p:sp>
        <p:nvSpPr>
          <p:cNvPr id="30" name="Text 22"/>
          <p:cNvSpPr/>
          <p:nvPr/>
        </p:nvSpPr>
        <p:spPr>
          <a:xfrm>
            <a:off x="1943100" y="8885365"/>
            <a:ext cx="11019138" cy="319088"/>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Inter" pitchFamily="34" charset="0"/>
                <a:ea typeface="Inter" pitchFamily="34" charset="-122"/>
                <a:cs typeface="Inter" pitchFamily="34" charset="-120"/>
              </a:rPr>
              <a:t>No AI writes SQL. </a:t>
            </a:r>
            <a:pPr algn="l" indent="0" marL="0">
              <a:buNone/>
            </a:pPr>
            <a:r>
              <a:rPr lang="en-US" sz="1800" dirty="0">
                <a:solidFill>
                  <a:srgbClr val="B7C0CD"/>
                </a:solidFill>
                <a:latin typeface="Inter" pitchFamily="34" charset="0"/>
                <a:ea typeface="Inter" pitchFamily="34" charset="-122"/>
                <a:cs typeface="Inter" pitchFamily="34" charset="-120"/>
              </a:rPr>
              <a:t>The same specification always compiles to the same, injection-safe query.</a:t>
            </a:r>
            <a:endParaRPr lang="en-US" sz="1800" dirty="0"/>
          </a:p>
        </p:txBody>
      </p:sp>
      <p:sp>
        <p:nvSpPr>
          <p:cNvPr id="31" name="Shape 23"/>
          <p:cNvSpPr/>
          <p:nvPr/>
        </p:nvSpPr>
        <p:spPr>
          <a:xfrm>
            <a:off x="1143000" y="9577388"/>
            <a:ext cx="16002000" cy="9525"/>
          </a:xfrm>
          <a:prstGeom prst="rect">
            <a:avLst/>
          </a:prstGeom>
          <a:solidFill>
            <a:srgbClr val="2A3441"/>
          </a:solidFill>
          <a:ln/>
        </p:spPr>
      </p:sp>
      <p:sp>
        <p:nvSpPr>
          <p:cNvPr id="32" name="Text 24"/>
          <p:cNvSpPr/>
          <p:nvPr/>
        </p:nvSpPr>
        <p:spPr>
          <a:xfrm>
            <a:off x="1143000" y="9739313"/>
            <a:ext cx="89349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MINT HR OS</a:t>
            </a:r>
            <a:endParaRPr lang="en-US" sz="975" dirty="0"/>
          </a:p>
        </p:txBody>
      </p:sp>
      <p:sp>
        <p:nvSpPr>
          <p:cNvPr id="33" name="Text 25"/>
          <p:cNvSpPr/>
          <p:nvPr/>
        </p:nvSpPr>
        <p:spPr>
          <a:xfrm>
            <a:off x="7795543" y="9739313"/>
            <a:ext cx="323632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HR &amp; Payroll Intelligence in Seconds</a:t>
            </a:r>
            <a:endParaRPr lang="en-US" sz="975" dirty="0"/>
          </a:p>
        </p:txBody>
      </p:sp>
      <p:sp>
        <p:nvSpPr>
          <p:cNvPr id="34" name="Text 26"/>
          <p:cNvSpPr/>
          <p:nvPr/>
        </p:nvSpPr>
        <p:spPr>
          <a:xfrm>
            <a:off x="16572905" y="9739313"/>
            <a:ext cx="648295"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11 / 17</a:t>
            </a:r>
            <a:endParaRPr lang="en-US" sz="9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1143000" y="800100"/>
            <a:ext cx="17602200" cy="214313"/>
          </a:xfrm>
          <a:prstGeom prst="rect">
            <a:avLst/>
          </a:prstGeom>
          <a:noFill/>
          <a:ln/>
        </p:spPr>
        <p:txBody>
          <a:bodyPr wrap="square" lIns="25400" tIns="25400" rIns="25400" bIns="25400" rtlCol="0" anchor="t">
            <a:normAutofit/>
          </a:bodyPr>
          <a:lstStyle/>
          <a:p>
            <a:pPr algn="l" indent="0" marL="0">
              <a:buNone/>
            </a:pPr>
            <a:r>
              <a:rPr lang="en-US" sz="1050" spc="336" kern="0" dirty="0">
                <a:solidFill>
                  <a:srgbClr val="00C2FF"/>
                </a:solidFill>
                <a:latin typeface="JetBrains Mono" pitchFamily="34" charset="0"/>
                <a:ea typeface="JetBrains Mono" pitchFamily="34" charset="-122"/>
                <a:cs typeface="JetBrains Mono" pitchFamily="34" charset="-120"/>
              </a:rPr>
              <a:t>12 / STEP 5 — THE LEARNING ENGINE</a:t>
            </a:r>
            <a:endParaRPr lang="en-US" sz="1050" dirty="0"/>
          </a:p>
        </p:txBody>
      </p:sp>
      <p:sp>
        <p:nvSpPr>
          <p:cNvPr id="3" name="Text 1"/>
          <p:cNvSpPr/>
          <p:nvPr/>
        </p:nvSpPr>
        <p:spPr>
          <a:xfrm>
            <a:off x="1143000" y="1110316"/>
            <a:ext cx="1760220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spc="-75" kern="0" dirty="0">
                <a:solidFill>
                  <a:srgbClr val="FFFFFF"/>
                </a:solidFill>
                <a:latin typeface="Inter" pitchFamily="34" charset="0"/>
                <a:ea typeface="Inter" pitchFamily="34" charset="-122"/>
                <a:cs typeface="Inter" pitchFamily="34" charset="-120"/>
              </a:rPr>
              <a:t>Many phrasings collapse to one canonical intent</a:t>
            </a:r>
            <a:endParaRPr lang="en-US" sz="3750" dirty="0"/>
          </a:p>
        </p:txBody>
      </p:sp>
      <p:sp>
        <p:nvSpPr>
          <p:cNvPr id="4" name="Shape 2"/>
          <p:cNvSpPr/>
          <p:nvPr/>
        </p:nvSpPr>
        <p:spPr>
          <a:xfrm>
            <a:off x="1143000" y="1800878"/>
            <a:ext cx="609600" cy="28575"/>
          </a:xfrm>
          <a:prstGeom prst="roundRect">
            <a:avLst>
              <a:gd name="adj" fmla="val 50000"/>
            </a:avLst>
          </a:prstGeom>
          <a:solidFill>
            <a:srgbClr val="7A5AF8"/>
          </a:solidFill>
          <a:ln/>
        </p:spPr>
      </p:sp>
      <p:sp>
        <p:nvSpPr>
          <p:cNvPr id="5" name="Shape 3"/>
          <p:cNvSpPr/>
          <p:nvPr/>
        </p:nvSpPr>
        <p:spPr>
          <a:xfrm>
            <a:off x="1143000" y="4391674"/>
            <a:ext cx="7164214" cy="681038"/>
          </a:xfrm>
          <a:prstGeom prst="roundRect">
            <a:avLst>
              <a:gd name="adj" fmla="val 16783"/>
            </a:avLst>
          </a:prstGeom>
          <a:solidFill>
            <a:srgbClr val="161F2B"/>
          </a:solidFill>
          <a:ln w="9525">
            <a:solidFill>
              <a:srgbClr val="2A3441"/>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00175" y="4627417"/>
            <a:ext cx="209550" cy="209550"/>
          </a:xfrm>
          <a:prstGeom prst="rect">
            <a:avLst/>
          </a:prstGeom>
        </p:spPr>
      </p:pic>
      <p:sp>
        <p:nvSpPr>
          <p:cNvPr id="7" name="Text 4"/>
          <p:cNvSpPr/>
          <p:nvPr/>
        </p:nvSpPr>
        <p:spPr>
          <a:xfrm>
            <a:off x="1743075" y="4610749"/>
            <a:ext cx="2563490" cy="280988"/>
          </a:xfrm>
          <a:prstGeom prst="rect">
            <a:avLst/>
          </a:prstGeom>
          <a:noFill/>
          <a:ln/>
        </p:spPr>
        <p:txBody>
          <a:bodyPr wrap="square" lIns="0" tIns="0" rIns="0" bIns="0" rtlCol="0" anchor="t">
            <a:normAutofit/>
          </a:bodyPr>
          <a:lstStyle/>
          <a:p>
            <a:pPr algn="l" indent="0" marL="0">
              <a:buNone/>
            </a:pPr>
            <a:r>
              <a:rPr lang="en-US" sz="1575" dirty="0">
                <a:solidFill>
                  <a:srgbClr val="FFFFFF"/>
                </a:solidFill>
                <a:latin typeface="Inter" pitchFamily="34" charset="0"/>
                <a:ea typeface="Inter" pitchFamily="34" charset="-122"/>
                <a:cs typeface="Inter" pitchFamily="34" charset="-120"/>
              </a:rPr>
              <a:t>"Overtime by department"</a:t>
            </a:r>
            <a:endParaRPr lang="en-US" sz="1575" dirty="0"/>
          </a:p>
        </p:txBody>
      </p:sp>
      <p:sp>
        <p:nvSpPr>
          <p:cNvPr id="8" name="Shape 5"/>
          <p:cNvSpPr/>
          <p:nvPr/>
        </p:nvSpPr>
        <p:spPr>
          <a:xfrm>
            <a:off x="1143000" y="5244161"/>
            <a:ext cx="7164214" cy="681038"/>
          </a:xfrm>
          <a:prstGeom prst="roundRect">
            <a:avLst>
              <a:gd name="adj" fmla="val 16783"/>
            </a:avLst>
          </a:prstGeom>
          <a:solidFill>
            <a:srgbClr val="161F2B"/>
          </a:solidFill>
          <a:ln w="9525">
            <a:solidFill>
              <a:srgbClr val="2A3441"/>
            </a:solidFill>
            <a:prstDash val="solid"/>
          </a:ln>
        </p:spPr>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0175" y="5479905"/>
            <a:ext cx="209550" cy="209550"/>
          </a:xfrm>
          <a:prstGeom prst="rect">
            <a:avLst/>
          </a:prstGeom>
        </p:spPr>
      </p:pic>
      <p:sp>
        <p:nvSpPr>
          <p:cNvPr id="10" name="Text 6"/>
          <p:cNvSpPr/>
          <p:nvPr/>
        </p:nvSpPr>
        <p:spPr>
          <a:xfrm>
            <a:off x="1743075" y="5463236"/>
            <a:ext cx="2785640" cy="280988"/>
          </a:xfrm>
          <a:prstGeom prst="rect">
            <a:avLst/>
          </a:prstGeom>
          <a:noFill/>
          <a:ln/>
        </p:spPr>
        <p:txBody>
          <a:bodyPr wrap="square" lIns="0" tIns="0" rIns="0" bIns="0" rtlCol="0" anchor="t">
            <a:normAutofit/>
          </a:bodyPr>
          <a:lstStyle/>
          <a:p>
            <a:pPr algn="l" indent="0" marL="0">
              <a:buNone/>
            </a:pPr>
            <a:r>
              <a:rPr lang="en-US" sz="1575" dirty="0">
                <a:solidFill>
                  <a:srgbClr val="FFFFFF"/>
                </a:solidFill>
                <a:latin typeface="Inter" pitchFamily="34" charset="0"/>
                <a:ea typeface="Inter" pitchFamily="34" charset="-122"/>
                <a:cs typeface="Inter" pitchFamily="34" charset="-120"/>
              </a:rPr>
              <a:t>"Department-wise overtime"</a:t>
            </a:r>
            <a:endParaRPr lang="en-US" sz="1575" dirty="0"/>
          </a:p>
        </p:txBody>
      </p:sp>
      <p:sp>
        <p:nvSpPr>
          <p:cNvPr id="11" name="Shape 7"/>
          <p:cNvSpPr/>
          <p:nvPr/>
        </p:nvSpPr>
        <p:spPr>
          <a:xfrm>
            <a:off x="1143000" y="6096649"/>
            <a:ext cx="7164214" cy="681038"/>
          </a:xfrm>
          <a:prstGeom prst="roundRect">
            <a:avLst>
              <a:gd name="adj" fmla="val 16783"/>
            </a:avLst>
          </a:prstGeom>
          <a:solidFill>
            <a:srgbClr val="161F2B"/>
          </a:solidFill>
          <a:ln w="9525">
            <a:solidFill>
              <a:srgbClr val="2A3441"/>
            </a:solidFill>
            <a:prstDash val="solid"/>
          </a:ln>
        </p:spPr>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00175" y="6332393"/>
            <a:ext cx="209550" cy="209550"/>
          </a:xfrm>
          <a:prstGeom prst="rect">
            <a:avLst/>
          </a:prstGeom>
        </p:spPr>
      </p:pic>
      <p:sp>
        <p:nvSpPr>
          <p:cNvPr id="13" name="Text 8"/>
          <p:cNvSpPr/>
          <p:nvPr/>
        </p:nvSpPr>
        <p:spPr>
          <a:xfrm>
            <a:off x="1743075" y="6315724"/>
            <a:ext cx="2724783" cy="280988"/>
          </a:xfrm>
          <a:prstGeom prst="rect">
            <a:avLst/>
          </a:prstGeom>
          <a:noFill/>
          <a:ln/>
        </p:spPr>
        <p:txBody>
          <a:bodyPr wrap="square" lIns="0" tIns="0" rIns="0" bIns="0" rtlCol="0" anchor="t">
            <a:normAutofit/>
          </a:bodyPr>
          <a:lstStyle/>
          <a:p>
            <a:pPr algn="l" indent="0" marL="0">
              <a:buNone/>
            </a:pPr>
            <a:r>
              <a:rPr lang="en-US" sz="1575" dirty="0">
                <a:solidFill>
                  <a:srgbClr val="FFFFFF"/>
                </a:solidFill>
                <a:latin typeface="Inter" pitchFamily="34" charset="0"/>
                <a:ea typeface="Inter" pitchFamily="34" charset="-122"/>
                <a:cs typeface="Inter" pitchFamily="34" charset="-120"/>
              </a:rPr>
              <a:t>"Monthly overtime by team"</a:t>
            </a:r>
            <a:endParaRPr lang="en-US" sz="1575"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53500" y="5277794"/>
            <a:ext cx="381000" cy="381000"/>
          </a:xfrm>
          <a:prstGeom prst="rect">
            <a:avLst/>
          </a:prstGeom>
        </p:spPr>
      </p:pic>
      <p:sp>
        <p:nvSpPr>
          <p:cNvPr id="15" name="Text 9"/>
          <p:cNvSpPr/>
          <p:nvPr/>
        </p:nvSpPr>
        <p:spPr>
          <a:xfrm>
            <a:off x="8840614" y="5734994"/>
            <a:ext cx="682972" cy="204787"/>
          </a:xfrm>
          <a:prstGeom prst="rect">
            <a:avLst/>
          </a:prstGeom>
          <a:noFill/>
          <a:ln/>
        </p:spPr>
        <p:txBody>
          <a:bodyPr wrap="square" lIns="25400" tIns="25400" rIns="25400" bIns="25400" rtlCol="0" anchor="t">
            <a:normAutofit/>
          </a:bodyPr>
          <a:lstStyle/>
          <a:p>
            <a:pPr algn="l" indent="0" marL="0">
              <a:buNone/>
            </a:pPr>
            <a:r>
              <a:rPr lang="en-US" sz="975" spc="98" kern="0" dirty="0">
                <a:solidFill>
                  <a:srgbClr val="74808F"/>
                </a:solidFill>
                <a:latin typeface="JetBrains Mono" pitchFamily="34" charset="0"/>
                <a:ea typeface="JetBrains Mono" pitchFamily="34" charset="-122"/>
                <a:cs typeface="JetBrains Mono" pitchFamily="34" charset="-120"/>
              </a:rPr>
              <a:t>resolve</a:t>
            </a:r>
            <a:endParaRPr lang="en-US" sz="975" dirty="0"/>
          </a:p>
        </p:txBody>
      </p:sp>
      <p:sp>
        <p:nvSpPr>
          <p:cNvPr id="16" name="Shape 10"/>
          <p:cNvSpPr/>
          <p:nvPr/>
        </p:nvSpPr>
        <p:spPr>
          <a:xfrm>
            <a:off x="9980786" y="4432544"/>
            <a:ext cx="7164214" cy="2333625"/>
          </a:xfrm>
          <a:prstGeom prst="roundRect">
            <a:avLst>
              <a:gd name="adj" fmla="val 6531"/>
            </a:avLst>
          </a:prstGeom>
          <a:gradFill rotWithShape="1">
            <a:gsLst>
              <a:gs pos="0">
                <a:srgbClr val="7A5AF8">
                  <a:alpha val="16000"/>
                </a:srgbClr>
              </a:gs>
              <a:gs pos="100000">
                <a:srgbClr val="7A5AF8">
                  <a:alpha val="4000"/>
                </a:srgbClr>
              </a:gs>
            </a:gsLst>
            <a:lin ang="5400000" scaled="0"/>
          </a:gradFill>
          <a:ln w="9525">
            <a:solidFill>
              <a:srgbClr val="7A5AF8"/>
            </a:solidFill>
            <a:prstDash val="solid"/>
          </a:ln>
        </p:spPr>
      </p:sp>
      <p:sp>
        <p:nvSpPr>
          <p:cNvPr id="17" name="Text 11"/>
          <p:cNvSpPr/>
          <p:nvPr/>
        </p:nvSpPr>
        <p:spPr>
          <a:xfrm>
            <a:off x="10371311" y="4823069"/>
            <a:ext cx="7021480" cy="214313"/>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7A5AF8"/>
                </a:solidFill>
                <a:latin typeface="JetBrains Mono" pitchFamily="34" charset="0"/>
                <a:ea typeface="JetBrains Mono" pitchFamily="34" charset="-122"/>
                <a:cs typeface="JetBrains Mono" pitchFamily="34" charset="-120"/>
              </a:rPr>
              <a:t>CANONICAL INTENT</a:t>
            </a:r>
            <a:endParaRPr lang="en-US" sz="1050" dirty="0"/>
          </a:p>
        </p:txBody>
      </p:sp>
      <p:pic>
        <p:nvPicPr>
          <p:cNvPr id="1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371311" y="5244551"/>
            <a:ext cx="228600" cy="228600"/>
          </a:xfrm>
          <a:prstGeom prst="rect">
            <a:avLst/>
          </a:prstGeom>
        </p:spPr>
      </p:pic>
      <p:sp>
        <p:nvSpPr>
          <p:cNvPr id="19" name="Text 12"/>
          <p:cNvSpPr/>
          <p:nvPr/>
        </p:nvSpPr>
        <p:spPr>
          <a:xfrm>
            <a:off x="10714211" y="5208832"/>
            <a:ext cx="1178272" cy="338138"/>
          </a:xfrm>
          <a:prstGeom prst="rect">
            <a:avLst/>
          </a:prstGeom>
          <a:noFill/>
          <a:ln/>
        </p:spPr>
        <p:txBody>
          <a:bodyPr wrap="square" lIns="0" tIns="0" rIns="0" bIns="0" rtlCol="0" anchor="t">
            <a:normAutofit/>
          </a:bodyPr>
          <a:lstStyle/>
          <a:p>
            <a:pPr algn="l" indent="0" marL="0">
              <a:buNone/>
            </a:pPr>
            <a:r>
              <a:rPr lang="en-US" sz="1950" b="1" dirty="0">
                <a:solidFill>
                  <a:srgbClr val="FFFFFF"/>
                </a:solidFill>
                <a:latin typeface="Inter" pitchFamily="34" charset="0"/>
                <a:ea typeface="Inter" pitchFamily="34" charset="-122"/>
                <a:cs typeface="Inter" pitchFamily="34" charset="-120"/>
              </a:rPr>
              <a:t>Overtime</a:t>
            </a:r>
            <a:endParaRPr lang="en-US" sz="1950" dirty="0"/>
          </a:p>
        </p:txBody>
      </p:sp>
      <p:pic>
        <p:nvPicPr>
          <p:cNvPr id="2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371311" y="5677938"/>
            <a:ext cx="228600" cy="228600"/>
          </a:xfrm>
          <a:prstGeom prst="rect">
            <a:avLst/>
          </a:prstGeom>
        </p:spPr>
      </p:pic>
      <p:sp>
        <p:nvSpPr>
          <p:cNvPr id="21" name="Text 13"/>
          <p:cNvSpPr/>
          <p:nvPr/>
        </p:nvSpPr>
        <p:spPr>
          <a:xfrm>
            <a:off x="10714211" y="5642220"/>
            <a:ext cx="1499443" cy="338138"/>
          </a:xfrm>
          <a:prstGeom prst="rect">
            <a:avLst/>
          </a:prstGeom>
          <a:noFill/>
          <a:ln/>
        </p:spPr>
        <p:txBody>
          <a:bodyPr wrap="square" lIns="0" tIns="0" rIns="0" bIns="0" rtlCol="0" anchor="t">
            <a:normAutofit/>
          </a:bodyPr>
          <a:lstStyle/>
          <a:p>
            <a:pPr algn="l" indent="0" marL="0">
              <a:buNone/>
            </a:pPr>
            <a:r>
              <a:rPr lang="en-US" sz="1950" b="1" dirty="0">
                <a:solidFill>
                  <a:srgbClr val="FFFFFF"/>
                </a:solidFill>
                <a:latin typeface="Inter" pitchFamily="34" charset="0"/>
                <a:ea typeface="Inter" pitchFamily="34" charset="-122"/>
                <a:cs typeface="Inter" pitchFamily="34" charset="-120"/>
              </a:rPr>
              <a:t>Department</a:t>
            </a:r>
            <a:endParaRPr lang="en-US" sz="1950" dirty="0"/>
          </a:p>
        </p:txBody>
      </p:sp>
      <p:pic>
        <p:nvPicPr>
          <p:cNvPr id="22"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371311" y="6111326"/>
            <a:ext cx="228600" cy="228600"/>
          </a:xfrm>
          <a:prstGeom prst="rect">
            <a:avLst/>
          </a:prstGeom>
        </p:spPr>
      </p:pic>
      <p:sp>
        <p:nvSpPr>
          <p:cNvPr id="23" name="Text 14"/>
          <p:cNvSpPr/>
          <p:nvPr/>
        </p:nvSpPr>
        <p:spPr>
          <a:xfrm>
            <a:off x="10714211" y="6075607"/>
            <a:ext cx="1816522" cy="338138"/>
          </a:xfrm>
          <a:prstGeom prst="rect">
            <a:avLst/>
          </a:prstGeom>
          <a:noFill/>
          <a:ln/>
        </p:spPr>
        <p:txBody>
          <a:bodyPr wrap="square" lIns="0" tIns="0" rIns="0" bIns="0" rtlCol="0" anchor="t">
            <a:normAutofit/>
          </a:bodyPr>
          <a:lstStyle/>
          <a:p>
            <a:pPr algn="l" indent="0" marL="0">
              <a:buNone/>
            </a:pPr>
            <a:r>
              <a:rPr lang="en-US" sz="1950" b="1" dirty="0">
                <a:solidFill>
                  <a:srgbClr val="FFFFFF"/>
                </a:solidFill>
                <a:latin typeface="Inter" pitchFamily="34" charset="0"/>
                <a:ea typeface="Inter" pitchFamily="34" charset="-122"/>
                <a:cs typeface="Inter" pitchFamily="34" charset="-120"/>
              </a:rPr>
              <a:t>Current month</a:t>
            </a:r>
            <a:endParaRPr lang="en-US" sz="1950" dirty="0"/>
          </a:p>
        </p:txBody>
      </p:sp>
      <p:sp>
        <p:nvSpPr>
          <p:cNvPr id="24" name="Shape 15"/>
          <p:cNvSpPr/>
          <p:nvPr/>
        </p:nvSpPr>
        <p:spPr>
          <a:xfrm>
            <a:off x="1143000" y="8684909"/>
            <a:ext cx="16002000" cy="723900"/>
          </a:xfrm>
          <a:prstGeom prst="roundRect">
            <a:avLst>
              <a:gd name="adj" fmla="val 15789"/>
            </a:avLst>
          </a:prstGeom>
          <a:solidFill>
            <a:srgbClr val="161F2B"/>
          </a:solidFill>
          <a:ln w="9525">
            <a:solidFill>
              <a:srgbClr val="2A3441"/>
            </a:solidFill>
            <a:prstDash val="solid"/>
          </a:ln>
        </p:spPr>
      </p:sp>
      <p:pic>
        <p:nvPicPr>
          <p:cNvPr id="25"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438275" y="8903984"/>
            <a:ext cx="285750" cy="285750"/>
          </a:xfrm>
          <a:prstGeom prst="rect">
            <a:avLst/>
          </a:prstGeom>
        </p:spPr>
      </p:pic>
      <p:sp>
        <p:nvSpPr>
          <p:cNvPr id="26" name="Text 16"/>
          <p:cNvSpPr/>
          <p:nvPr/>
        </p:nvSpPr>
        <p:spPr>
          <a:xfrm>
            <a:off x="1914525" y="8918272"/>
            <a:ext cx="13490436" cy="295275"/>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solidFill>
                <a:latin typeface="Inter" pitchFamily="34" charset="0"/>
                <a:ea typeface="Inter" pitchFamily="34" charset="-122"/>
                <a:cs typeface="Inter" pitchFamily="34" charset="-120"/>
              </a:rPr>
              <a:t>Coverage compounds. </a:t>
            </a:r>
            <a:pPr algn="l" indent="0" marL="0">
              <a:buNone/>
            </a:pPr>
            <a:r>
              <a:rPr lang="en-US" sz="1650" dirty="0">
                <a:solidFill>
                  <a:srgbClr val="B7C0CD"/>
                </a:solidFill>
                <a:latin typeface="Inter" pitchFamily="34" charset="0"/>
                <a:ea typeface="Inter" pitchFamily="34" charset="-122"/>
                <a:cs typeface="Inter" pitchFamily="34" charset="-120"/>
              </a:rPr>
              <a:t>Every resolved question strengthens the mapping — the system learns once and never re-derives it.</a:t>
            </a:r>
            <a:endParaRPr lang="en-US" sz="1650" dirty="0"/>
          </a:p>
        </p:txBody>
      </p:sp>
      <p:sp>
        <p:nvSpPr>
          <p:cNvPr id="27" name="Shape 17"/>
          <p:cNvSpPr/>
          <p:nvPr/>
        </p:nvSpPr>
        <p:spPr>
          <a:xfrm>
            <a:off x="1143000" y="9577388"/>
            <a:ext cx="16002000" cy="9525"/>
          </a:xfrm>
          <a:prstGeom prst="rect">
            <a:avLst/>
          </a:prstGeom>
          <a:solidFill>
            <a:srgbClr val="2A3441"/>
          </a:solidFill>
          <a:ln/>
        </p:spPr>
      </p:sp>
      <p:sp>
        <p:nvSpPr>
          <p:cNvPr id="28" name="Text 18"/>
          <p:cNvSpPr/>
          <p:nvPr/>
        </p:nvSpPr>
        <p:spPr>
          <a:xfrm>
            <a:off x="1143000" y="9739313"/>
            <a:ext cx="89349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MINT HR OS</a:t>
            </a:r>
            <a:endParaRPr lang="en-US" sz="975" dirty="0"/>
          </a:p>
        </p:txBody>
      </p:sp>
      <p:sp>
        <p:nvSpPr>
          <p:cNvPr id="29" name="Text 19"/>
          <p:cNvSpPr/>
          <p:nvPr/>
        </p:nvSpPr>
        <p:spPr>
          <a:xfrm>
            <a:off x="7795543" y="9739313"/>
            <a:ext cx="323632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HR &amp; Payroll Intelligence in Seconds</a:t>
            </a:r>
            <a:endParaRPr lang="en-US" sz="975" dirty="0"/>
          </a:p>
        </p:txBody>
      </p:sp>
      <p:sp>
        <p:nvSpPr>
          <p:cNvPr id="30" name="Text 20"/>
          <p:cNvSpPr/>
          <p:nvPr/>
        </p:nvSpPr>
        <p:spPr>
          <a:xfrm>
            <a:off x="16572905" y="9739313"/>
            <a:ext cx="648295"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12 / 17</a:t>
            </a:r>
            <a:endParaRPr lang="en-US" sz="9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1143000" y="800100"/>
            <a:ext cx="17602200" cy="214313"/>
          </a:xfrm>
          <a:prstGeom prst="rect">
            <a:avLst/>
          </a:prstGeom>
          <a:noFill/>
          <a:ln/>
        </p:spPr>
        <p:txBody>
          <a:bodyPr wrap="square" lIns="25400" tIns="25400" rIns="25400" bIns="25400" rtlCol="0" anchor="t">
            <a:normAutofit/>
          </a:bodyPr>
          <a:lstStyle/>
          <a:p>
            <a:pPr algn="l" indent="0" marL="0">
              <a:buNone/>
            </a:pPr>
            <a:r>
              <a:rPr lang="en-US" sz="1050" spc="336" kern="0" dirty="0">
                <a:solidFill>
                  <a:srgbClr val="00C2FF"/>
                </a:solidFill>
                <a:latin typeface="JetBrains Mono" pitchFamily="34" charset="0"/>
                <a:ea typeface="JetBrains Mono" pitchFamily="34" charset="-122"/>
                <a:cs typeface="JetBrains Mono" pitchFamily="34" charset="-120"/>
              </a:rPr>
              <a:t>13 / A COMMON OBJECTION</a:t>
            </a:r>
            <a:endParaRPr lang="en-US" sz="1050" dirty="0"/>
          </a:p>
        </p:txBody>
      </p:sp>
      <p:sp>
        <p:nvSpPr>
          <p:cNvPr id="3" name="Text 1"/>
          <p:cNvSpPr/>
          <p:nvPr/>
        </p:nvSpPr>
        <p:spPr>
          <a:xfrm>
            <a:off x="1143000" y="1110068"/>
            <a:ext cx="17602200" cy="538162"/>
          </a:xfrm>
          <a:prstGeom prst="rect">
            <a:avLst/>
          </a:prstGeom>
          <a:noFill/>
          <a:ln/>
        </p:spPr>
        <p:txBody>
          <a:bodyPr wrap="square" lIns="25400" tIns="25400" rIns="25400" bIns="25400" rtlCol="0" anchor="t">
            <a:normAutofit/>
          </a:bodyPr>
          <a:lstStyle/>
          <a:p>
            <a:pPr algn="l" indent="0" marL="0">
              <a:lnSpc>
                <a:spcPct val="105000"/>
              </a:lnSpc>
              <a:buNone/>
            </a:pPr>
            <a:r>
              <a:rPr lang="en-US" sz="3750" b="1" spc="-75" kern="0" dirty="0">
                <a:solidFill>
                  <a:srgbClr val="FFFFFF"/>
                </a:solidFill>
                <a:latin typeface="Inter" pitchFamily="34" charset="0"/>
                <a:ea typeface="Inter" pitchFamily="34" charset="-122"/>
                <a:cs typeface="Inter" pitchFamily="34" charset="-120"/>
              </a:rPr>
              <a:t>This is not a library of stored SQL queries</a:t>
            </a:r>
            <a:endParaRPr lang="en-US" sz="3750" dirty="0"/>
          </a:p>
        </p:txBody>
      </p:sp>
      <p:sp>
        <p:nvSpPr>
          <p:cNvPr id="4" name="Shape 2"/>
          <p:cNvSpPr/>
          <p:nvPr/>
        </p:nvSpPr>
        <p:spPr>
          <a:xfrm>
            <a:off x="1143000" y="1800631"/>
            <a:ext cx="609600" cy="28575"/>
          </a:xfrm>
          <a:prstGeom prst="roundRect">
            <a:avLst>
              <a:gd name="adj" fmla="val 50000"/>
            </a:avLst>
          </a:prstGeom>
          <a:solidFill>
            <a:srgbClr val="7A5AF8"/>
          </a:solidFill>
          <a:ln/>
        </p:spPr>
      </p:sp>
      <p:sp>
        <p:nvSpPr>
          <p:cNvPr id="5" name="Shape 3"/>
          <p:cNvSpPr/>
          <p:nvPr/>
        </p:nvSpPr>
        <p:spPr>
          <a:xfrm>
            <a:off x="1143000" y="2364577"/>
            <a:ext cx="7810500" cy="7010400"/>
          </a:xfrm>
          <a:prstGeom prst="roundRect">
            <a:avLst>
              <a:gd name="adj" fmla="val 2174"/>
            </a:avLst>
          </a:prstGeom>
          <a:solidFill>
            <a:srgbClr val="10171F"/>
          </a:solidFill>
          <a:ln w="9525">
            <a:solidFill>
              <a:srgbClr val="2A3441"/>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33525" y="2755102"/>
            <a:ext cx="190500" cy="190500"/>
          </a:xfrm>
          <a:prstGeom prst="rect">
            <a:avLst/>
          </a:prstGeom>
        </p:spPr>
      </p:pic>
      <p:sp>
        <p:nvSpPr>
          <p:cNvPr id="7" name="Text 4"/>
          <p:cNvSpPr/>
          <p:nvPr/>
        </p:nvSpPr>
        <p:spPr>
          <a:xfrm>
            <a:off x="1838325" y="2762246"/>
            <a:ext cx="2209800" cy="214313"/>
          </a:xfrm>
          <a:prstGeom prst="rect">
            <a:avLst/>
          </a:prstGeom>
          <a:noFill/>
          <a:ln/>
        </p:spPr>
        <p:txBody>
          <a:bodyPr wrap="square" lIns="0" tIns="0" rIns="0" bIns="0" rtlCol="0" anchor="t">
            <a:normAutofit/>
          </a:bodyPr>
          <a:lstStyle/>
          <a:p>
            <a:pPr algn="l" indent="0" marL="0">
              <a:buNone/>
            </a:pPr>
            <a:r>
              <a:rPr lang="en-US" sz="1050" spc="210" kern="0" dirty="0">
                <a:solidFill>
                  <a:srgbClr val="FF6166"/>
                </a:solidFill>
                <a:latin typeface="JetBrains Mono" pitchFamily="34" charset="0"/>
                <a:ea typeface="JetBrains Mono" pitchFamily="34" charset="-122"/>
                <a:cs typeface="JetBrains Mono" pitchFamily="34" charset="-120"/>
              </a:rPr>
              <a:t>STORED SQL · BRITTLE</a:t>
            </a:r>
            <a:endParaRPr lang="en-US" sz="1050" dirty="0"/>
          </a:p>
        </p:txBody>
      </p:sp>
      <p:sp>
        <p:nvSpPr>
          <p:cNvPr id="8" name="Shape 5"/>
          <p:cNvSpPr/>
          <p:nvPr/>
        </p:nvSpPr>
        <p:spPr>
          <a:xfrm>
            <a:off x="1533525" y="3269452"/>
            <a:ext cx="7029450" cy="604837"/>
          </a:xfrm>
          <a:prstGeom prst="roundRect">
            <a:avLst>
              <a:gd name="adj" fmla="val 15748"/>
            </a:avLst>
          </a:prstGeom>
          <a:solidFill>
            <a:srgbClr val="161F2B"/>
          </a:solidFill>
          <a:ln w="9525">
            <a:solidFill>
              <a:srgbClr val="2A3441"/>
            </a:solidFill>
            <a:prstDash val="solid"/>
          </a:ln>
        </p:spPr>
      </p:sp>
      <p:sp>
        <p:nvSpPr>
          <p:cNvPr id="9" name="Text 6"/>
          <p:cNvSpPr/>
          <p:nvPr/>
        </p:nvSpPr>
        <p:spPr>
          <a:xfrm>
            <a:off x="1685258" y="3450427"/>
            <a:ext cx="6725984" cy="280987"/>
          </a:xfrm>
          <a:prstGeom prst="rect">
            <a:avLst/>
          </a:prstGeom>
          <a:noFill/>
          <a:ln/>
        </p:spPr>
        <p:txBody>
          <a:bodyPr wrap="square" lIns="25400" tIns="25400" rIns="25400" bIns="25400" rtlCol="0" anchor="ctr">
            <a:normAutofit/>
          </a:bodyPr>
          <a:lstStyle/>
          <a:p>
            <a:pPr algn="ctr" indent="0" marL="0">
              <a:buNone/>
            </a:pPr>
            <a:r>
              <a:rPr lang="en-US" sz="1575" dirty="0">
                <a:solidFill>
                  <a:srgbClr val="FFFFFF"/>
                </a:solidFill>
                <a:latin typeface="Inter" pitchFamily="34" charset="0"/>
                <a:ea typeface="Inter" pitchFamily="34" charset="-122"/>
                <a:cs typeface="Inter" pitchFamily="34" charset="-120"/>
              </a:rPr>
              <a:t>Question</a:t>
            </a:r>
            <a:endParaRPr lang="en-US" sz="1575"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33950" y="4045740"/>
            <a:ext cx="228600" cy="228600"/>
          </a:xfrm>
          <a:prstGeom prst="rect">
            <a:avLst/>
          </a:prstGeom>
        </p:spPr>
      </p:pic>
      <p:sp>
        <p:nvSpPr>
          <p:cNvPr id="11" name="Shape 7"/>
          <p:cNvSpPr/>
          <p:nvPr/>
        </p:nvSpPr>
        <p:spPr>
          <a:xfrm>
            <a:off x="1533525" y="4445790"/>
            <a:ext cx="7029450" cy="628651"/>
          </a:xfrm>
          <a:prstGeom prst="roundRect">
            <a:avLst>
              <a:gd name="adj" fmla="val 15151"/>
            </a:avLst>
          </a:prstGeom>
          <a:solidFill>
            <a:srgbClr val="161F2B"/>
          </a:solidFill>
          <a:ln w="9525">
            <a:solidFill>
              <a:srgbClr val="FF6166"/>
            </a:solidFill>
            <a:prstDash val="solid"/>
          </a:ln>
        </p:spPr>
      </p:sp>
      <p:sp>
        <p:nvSpPr>
          <p:cNvPr id="12" name="Text 8"/>
          <p:cNvSpPr/>
          <p:nvPr/>
        </p:nvSpPr>
        <p:spPr>
          <a:xfrm>
            <a:off x="1685258" y="4626765"/>
            <a:ext cx="6725984" cy="304801"/>
          </a:xfrm>
          <a:prstGeom prst="rect">
            <a:avLst/>
          </a:prstGeom>
          <a:noFill/>
          <a:ln/>
        </p:spPr>
        <p:txBody>
          <a:bodyPr wrap="square" lIns="25400" tIns="25400" rIns="25400" bIns="25400" rtlCol="0" anchor="ctr">
            <a:normAutofit/>
          </a:bodyPr>
          <a:lstStyle/>
          <a:p>
            <a:pPr algn="ctr" indent="0" marL="0">
              <a:buNone/>
            </a:pPr>
            <a:r>
              <a:rPr lang="en-US" sz="1575" dirty="0">
                <a:solidFill>
                  <a:srgbClr val="FF6166"/>
                </a:solidFill>
                <a:latin typeface="JetBrains Mono" pitchFamily="34" charset="0"/>
                <a:ea typeface="JetBrains Mono" pitchFamily="34" charset="-122"/>
                <a:cs typeface="JetBrains Mono" pitchFamily="34" charset="-120"/>
              </a:rPr>
              <a:t>Stored SQL #123</a:t>
            </a:r>
            <a:endParaRPr lang="en-US" sz="1575" dirty="0"/>
          </a:p>
        </p:txBody>
      </p:sp>
      <p:sp>
        <p:nvSpPr>
          <p:cNvPr id="13" name="Text 9"/>
          <p:cNvSpPr/>
          <p:nvPr/>
        </p:nvSpPr>
        <p:spPr>
          <a:xfrm>
            <a:off x="1533525" y="8470102"/>
            <a:ext cx="7240334" cy="552450"/>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B7C0CD"/>
                </a:solidFill>
                <a:latin typeface="Inter" pitchFamily="34" charset="0"/>
                <a:ea typeface="Inter" pitchFamily="34" charset="-122"/>
                <a:cs typeface="Inter" pitchFamily="34" charset="-120"/>
              </a:rPr>
              <a:t>One frozen query per question. A new filter, period, or grouping means someone writes new SQL.</a:t>
            </a:r>
            <a:endParaRPr lang="en-US" sz="1350" dirty="0"/>
          </a:p>
        </p:txBody>
      </p:sp>
      <p:sp>
        <p:nvSpPr>
          <p:cNvPr id="14" name="Shape 10"/>
          <p:cNvSpPr/>
          <p:nvPr/>
        </p:nvSpPr>
        <p:spPr>
          <a:xfrm>
            <a:off x="9334500" y="2368988"/>
            <a:ext cx="7810500" cy="7010400"/>
          </a:xfrm>
          <a:prstGeom prst="roundRect">
            <a:avLst>
              <a:gd name="adj" fmla="val 2174"/>
            </a:avLst>
          </a:prstGeom>
          <a:gradFill rotWithShape="1">
            <a:gsLst>
              <a:gs pos="0">
                <a:srgbClr val="131A23">
                  <a:alpha val="100000"/>
                </a:srgbClr>
              </a:gs>
              <a:gs pos="100000">
                <a:srgbClr val="10171F">
                  <a:alpha val="100000"/>
                </a:srgbClr>
              </a:gs>
            </a:gsLst>
            <a:lin ang="5400000" scaled="0"/>
          </a:gradFill>
          <a:ln w="9525">
            <a:solidFill>
              <a:srgbClr val="7A5AF8"/>
            </a:solidFill>
            <a:prstDash val="solid"/>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25025" y="2759513"/>
            <a:ext cx="190500" cy="190500"/>
          </a:xfrm>
          <a:prstGeom prst="rect">
            <a:avLst/>
          </a:prstGeom>
        </p:spPr>
      </p:pic>
      <p:sp>
        <p:nvSpPr>
          <p:cNvPr id="16" name="Text 11"/>
          <p:cNvSpPr/>
          <p:nvPr/>
        </p:nvSpPr>
        <p:spPr>
          <a:xfrm>
            <a:off x="10029825" y="2766657"/>
            <a:ext cx="2529855" cy="214313"/>
          </a:xfrm>
          <a:prstGeom prst="rect">
            <a:avLst/>
          </a:prstGeom>
          <a:noFill/>
          <a:ln/>
        </p:spPr>
        <p:txBody>
          <a:bodyPr wrap="square" lIns="0" tIns="0" rIns="0" bIns="0" rtlCol="0" anchor="t">
            <a:normAutofit/>
          </a:bodyPr>
          <a:lstStyle/>
          <a:p>
            <a:pPr algn="l" indent="0" marL="0">
              <a:buNone/>
            </a:pPr>
            <a:r>
              <a:rPr lang="en-US" sz="1050" spc="210" kern="0" dirty="0">
                <a:solidFill>
                  <a:srgbClr val="00D084"/>
                </a:solidFill>
                <a:latin typeface="JetBrains Mono" pitchFamily="34" charset="0"/>
                <a:ea typeface="JetBrains Mono" pitchFamily="34" charset="-122"/>
                <a:cs typeface="JetBrains Mono" pitchFamily="34" charset="-120"/>
              </a:rPr>
              <a:t>MINT HR OS · COMPOSABLE</a:t>
            </a:r>
            <a:endParaRPr lang="en-US" sz="1050" dirty="0"/>
          </a:p>
        </p:txBody>
      </p:sp>
      <p:sp>
        <p:nvSpPr>
          <p:cNvPr id="17" name="Shape 12"/>
          <p:cNvSpPr/>
          <p:nvPr/>
        </p:nvSpPr>
        <p:spPr>
          <a:xfrm>
            <a:off x="9725025" y="3273863"/>
            <a:ext cx="7029450" cy="519113"/>
          </a:xfrm>
          <a:prstGeom prst="roundRect">
            <a:avLst>
              <a:gd name="adj" fmla="val 18349"/>
            </a:avLst>
          </a:prstGeom>
          <a:solidFill>
            <a:srgbClr val="161F2B"/>
          </a:solidFill>
          <a:ln w="9525">
            <a:solidFill>
              <a:srgbClr val="2A3441"/>
            </a:solidFill>
            <a:prstDash val="solid"/>
          </a:ln>
        </p:spPr>
      </p:sp>
      <p:sp>
        <p:nvSpPr>
          <p:cNvPr id="18" name="Text 13"/>
          <p:cNvSpPr/>
          <p:nvPr/>
        </p:nvSpPr>
        <p:spPr>
          <a:xfrm>
            <a:off x="9857708" y="3416738"/>
            <a:ext cx="6764084" cy="271463"/>
          </a:xfrm>
          <a:prstGeom prst="rect">
            <a:avLst/>
          </a:prstGeom>
          <a:noFill/>
          <a:ln/>
        </p:spPr>
        <p:txBody>
          <a:bodyPr wrap="square" lIns="25400" tIns="25400" rIns="25400" bIns="25400" rtlCol="0" anchor="ctr">
            <a:normAutofit/>
          </a:bodyPr>
          <a:lstStyle/>
          <a:p>
            <a:pPr algn="ctr" indent="0" marL="0">
              <a:buNone/>
            </a:pPr>
            <a:r>
              <a:rPr lang="en-US" sz="1500" dirty="0">
                <a:solidFill>
                  <a:srgbClr val="FFFFFF"/>
                </a:solidFill>
                <a:latin typeface="Inter" pitchFamily="34" charset="0"/>
                <a:ea typeface="Inter" pitchFamily="34" charset="-122"/>
                <a:cs typeface="Inter" pitchFamily="34" charset="-120"/>
              </a:rPr>
              <a:t>Question</a:t>
            </a:r>
            <a:endParaRPr lang="en-US" sz="1500" dirty="0"/>
          </a:p>
        </p:txBody>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134975" y="3926325"/>
            <a:ext cx="209550" cy="209550"/>
          </a:xfrm>
          <a:prstGeom prst="rect">
            <a:avLst/>
          </a:prstGeom>
        </p:spPr>
      </p:pic>
      <p:sp>
        <p:nvSpPr>
          <p:cNvPr id="20" name="Shape 14"/>
          <p:cNvSpPr/>
          <p:nvPr/>
        </p:nvSpPr>
        <p:spPr>
          <a:xfrm>
            <a:off x="9725025" y="4269225"/>
            <a:ext cx="7029450" cy="519113"/>
          </a:xfrm>
          <a:prstGeom prst="roundRect">
            <a:avLst>
              <a:gd name="adj" fmla="val 18349"/>
            </a:avLst>
          </a:prstGeom>
          <a:solidFill>
            <a:srgbClr val="161F2B"/>
          </a:solidFill>
          <a:ln w="9525">
            <a:solidFill>
              <a:srgbClr val="2A3441"/>
            </a:solidFill>
            <a:prstDash val="solid"/>
          </a:ln>
        </p:spPr>
      </p:sp>
      <p:sp>
        <p:nvSpPr>
          <p:cNvPr id="21" name="Text 15"/>
          <p:cNvSpPr/>
          <p:nvPr/>
        </p:nvSpPr>
        <p:spPr>
          <a:xfrm>
            <a:off x="9857708" y="4412100"/>
            <a:ext cx="6764084" cy="271463"/>
          </a:xfrm>
          <a:prstGeom prst="rect">
            <a:avLst/>
          </a:prstGeom>
          <a:noFill/>
          <a:ln/>
        </p:spPr>
        <p:txBody>
          <a:bodyPr wrap="square" lIns="25400" tIns="25400" rIns="25400" bIns="25400" rtlCol="0" anchor="ctr">
            <a:normAutofit/>
          </a:bodyPr>
          <a:lstStyle/>
          <a:p>
            <a:pPr algn="ctr" indent="0" marL="0">
              <a:buNone/>
            </a:pPr>
            <a:r>
              <a:rPr lang="en-US" sz="1500" dirty="0">
                <a:solidFill>
                  <a:srgbClr val="FFFFFF"/>
                </a:solidFill>
                <a:latin typeface="Inter" pitchFamily="34" charset="0"/>
                <a:ea typeface="Inter" pitchFamily="34" charset="-122"/>
                <a:cs typeface="Inter" pitchFamily="34" charset="-120"/>
              </a:rPr>
              <a:t>Business specification</a:t>
            </a:r>
            <a:endParaRPr lang="en-US" sz="1500" dirty="0"/>
          </a:p>
        </p:txBody>
      </p:sp>
      <p:pic>
        <p:nvPicPr>
          <p:cNvPr id="2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134975" y="4921688"/>
            <a:ext cx="209550" cy="209550"/>
          </a:xfrm>
          <a:prstGeom prst="rect">
            <a:avLst/>
          </a:prstGeom>
        </p:spPr>
      </p:pic>
      <p:sp>
        <p:nvSpPr>
          <p:cNvPr id="23" name="Shape 16"/>
          <p:cNvSpPr/>
          <p:nvPr/>
        </p:nvSpPr>
        <p:spPr>
          <a:xfrm>
            <a:off x="9725025" y="5264588"/>
            <a:ext cx="7029450" cy="519113"/>
          </a:xfrm>
          <a:prstGeom prst="roundRect">
            <a:avLst>
              <a:gd name="adj" fmla="val 18349"/>
            </a:avLst>
          </a:prstGeom>
          <a:solidFill>
            <a:srgbClr val="161F2B"/>
          </a:solidFill>
          <a:ln w="9525">
            <a:solidFill>
              <a:srgbClr val="2A3441"/>
            </a:solidFill>
            <a:prstDash val="solid"/>
          </a:ln>
        </p:spPr>
      </p:sp>
      <p:sp>
        <p:nvSpPr>
          <p:cNvPr id="24" name="Text 17"/>
          <p:cNvSpPr/>
          <p:nvPr/>
        </p:nvSpPr>
        <p:spPr>
          <a:xfrm>
            <a:off x="9857708" y="5407463"/>
            <a:ext cx="6764084" cy="271463"/>
          </a:xfrm>
          <a:prstGeom prst="rect">
            <a:avLst/>
          </a:prstGeom>
          <a:noFill/>
          <a:ln/>
        </p:spPr>
        <p:txBody>
          <a:bodyPr wrap="square" lIns="25400" tIns="25400" rIns="25400" bIns="25400" rtlCol="0" anchor="ctr">
            <a:normAutofit/>
          </a:bodyPr>
          <a:lstStyle/>
          <a:p>
            <a:pPr algn="ctr" indent="0" marL="0">
              <a:buNone/>
            </a:pPr>
            <a:r>
              <a:rPr lang="en-US" sz="1500" dirty="0">
                <a:solidFill>
                  <a:srgbClr val="FFFFFF"/>
                </a:solidFill>
                <a:latin typeface="Inter" pitchFamily="34" charset="0"/>
                <a:ea typeface="Inter" pitchFamily="34" charset="-122"/>
                <a:cs typeface="Inter" pitchFamily="34" charset="-120"/>
              </a:rPr>
              <a:t>Compiler</a:t>
            </a:r>
            <a:endParaRPr lang="en-US" sz="1500" dirty="0"/>
          </a:p>
        </p:txBody>
      </p:sp>
      <p:pic>
        <p:nvPicPr>
          <p:cNvPr id="25"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134975" y="5917050"/>
            <a:ext cx="209550" cy="209550"/>
          </a:xfrm>
          <a:prstGeom prst="rect">
            <a:avLst/>
          </a:prstGeom>
        </p:spPr>
      </p:pic>
      <p:sp>
        <p:nvSpPr>
          <p:cNvPr id="26" name="Shape 18"/>
          <p:cNvSpPr/>
          <p:nvPr/>
        </p:nvSpPr>
        <p:spPr>
          <a:xfrm>
            <a:off x="9725025" y="6259950"/>
            <a:ext cx="7029450" cy="538163"/>
          </a:xfrm>
          <a:prstGeom prst="roundRect">
            <a:avLst>
              <a:gd name="adj" fmla="val 17699"/>
            </a:avLst>
          </a:prstGeom>
          <a:solidFill>
            <a:srgbClr val="161F2B"/>
          </a:solidFill>
          <a:ln w="9525">
            <a:solidFill>
              <a:srgbClr val="00D084"/>
            </a:solidFill>
            <a:prstDash val="solid"/>
          </a:ln>
        </p:spPr>
      </p:sp>
      <p:sp>
        <p:nvSpPr>
          <p:cNvPr id="27" name="Text 19"/>
          <p:cNvSpPr/>
          <p:nvPr/>
        </p:nvSpPr>
        <p:spPr>
          <a:xfrm>
            <a:off x="9857708" y="6402825"/>
            <a:ext cx="6764084" cy="290513"/>
          </a:xfrm>
          <a:prstGeom prst="rect">
            <a:avLst/>
          </a:prstGeom>
          <a:noFill/>
          <a:ln/>
        </p:spPr>
        <p:txBody>
          <a:bodyPr wrap="square" lIns="25400" tIns="25400" rIns="25400" bIns="25400" rtlCol="0" anchor="ctr">
            <a:normAutofit/>
          </a:bodyPr>
          <a:lstStyle/>
          <a:p>
            <a:pPr algn="ctr" indent="0" marL="0">
              <a:buNone/>
            </a:pPr>
            <a:r>
              <a:rPr lang="en-US" sz="1500" dirty="0">
                <a:solidFill>
                  <a:srgbClr val="00D084"/>
                </a:solidFill>
                <a:latin typeface="JetBrains Mono" pitchFamily="34" charset="0"/>
                <a:ea typeface="JetBrains Mono" pitchFamily="34" charset="-122"/>
                <a:cs typeface="JetBrains Mono" pitchFamily="34" charset="-120"/>
              </a:rPr>
              <a:t>Generated SQL</a:t>
            </a:r>
            <a:endParaRPr lang="en-US" sz="1500" dirty="0"/>
          </a:p>
        </p:txBody>
      </p:sp>
      <p:sp>
        <p:nvSpPr>
          <p:cNvPr id="28" name="Text 20"/>
          <p:cNvSpPr/>
          <p:nvPr/>
        </p:nvSpPr>
        <p:spPr>
          <a:xfrm>
            <a:off x="9725025" y="8731688"/>
            <a:ext cx="7240334"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B7C0CD"/>
                </a:solidFill>
                <a:latin typeface="Inter" pitchFamily="34" charset="0"/>
                <a:ea typeface="Inter" pitchFamily="34" charset="-122"/>
                <a:cs typeface="Inter" pitchFamily="34" charset="-120"/>
              </a:rPr>
              <a:t>New combinations compile on demand — no new SQL is ever hand-written.</a:t>
            </a:r>
            <a:endParaRPr lang="en-US" sz="1350" dirty="0"/>
          </a:p>
        </p:txBody>
      </p:sp>
      <p:sp>
        <p:nvSpPr>
          <p:cNvPr id="29" name="Shape 21"/>
          <p:cNvSpPr/>
          <p:nvPr/>
        </p:nvSpPr>
        <p:spPr>
          <a:xfrm>
            <a:off x="1143000" y="9577388"/>
            <a:ext cx="16002000" cy="9525"/>
          </a:xfrm>
          <a:prstGeom prst="rect">
            <a:avLst/>
          </a:prstGeom>
          <a:solidFill>
            <a:srgbClr val="2A3441"/>
          </a:solidFill>
          <a:ln/>
        </p:spPr>
      </p:sp>
      <p:sp>
        <p:nvSpPr>
          <p:cNvPr id="30" name="Text 22"/>
          <p:cNvSpPr/>
          <p:nvPr/>
        </p:nvSpPr>
        <p:spPr>
          <a:xfrm>
            <a:off x="1143000" y="9739313"/>
            <a:ext cx="89349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MINT HR OS</a:t>
            </a:r>
            <a:endParaRPr lang="en-US" sz="975" dirty="0"/>
          </a:p>
        </p:txBody>
      </p:sp>
      <p:sp>
        <p:nvSpPr>
          <p:cNvPr id="31" name="Text 23"/>
          <p:cNvSpPr/>
          <p:nvPr/>
        </p:nvSpPr>
        <p:spPr>
          <a:xfrm>
            <a:off x="7795543" y="9739313"/>
            <a:ext cx="323632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HR &amp; Payroll Intelligence in Seconds</a:t>
            </a:r>
            <a:endParaRPr lang="en-US" sz="975" dirty="0"/>
          </a:p>
        </p:txBody>
      </p:sp>
      <p:sp>
        <p:nvSpPr>
          <p:cNvPr id="32" name="Text 24"/>
          <p:cNvSpPr/>
          <p:nvPr/>
        </p:nvSpPr>
        <p:spPr>
          <a:xfrm>
            <a:off x="16572905" y="9739313"/>
            <a:ext cx="648295"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13 / 17</a:t>
            </a:r>
            <a:endParaRPr lang="en-US" sz="9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1143000" y="800100"/>
            <a:ext cx="17602200" cy="214313"/>
          </a:xfrm>
          <a:prstGeom prst="rect">
            <a:avLst/>
          </a:prstGeom>
          <a:noFill/>
          <a:ln/>
        </p:spPr>
        <p:txBody>
          <a:bodyPr wrap="square" lIns="25400" tIns="25400" rIns="25400" bIns="25400" rtlCol="0" anchor="t">
            <a:normAutofit/>
          </a:bodyPr>
          <a:lstStyle/>
          <a:p>
            <a:pPr algn="l" indent="0" marL="0">
              <a:buNone/>
            </a:pPr>
            <a:r>
              <a:rPr lang="en-US" sz="1050" spc="336" kern="0" dirty="0">
                <a:solidFill>
                  <a:srgbClr val="00C2FF"/>
                </a:solidFill>
                <a:latin typeface="JetBrains Mono" pitchFamily="34" charset="0"/>
                <a:ea typeface="JetBrains Mono" pitchFamily="34" charset="-122"/>
                <a:cs typeface="JetBrains Mono" pitchFamily="34" charset="-120"/>
              </a:rPr>
              <a:t>14 / THE ENGINEERING ANALOGY</a:t>
            </a:r>
            <a:endParaRPr lang="en-US" sz="1050" dirty="0"/>
          </a:p>
        </p:txBody>
      </p:sp>
      <p:sp>
        <p:nvSpPr>
          <p:cNvPr id="3" name="Text 1"/>
          <p:cNvSpPr/>
          <p:nvPr/>
        </p:nvSpPr>
        <p:spPr>
          <a:xfrm>
            <a:off x="1143000" y="1110060"/>
            <a:ext cx="1760220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spc="-75" kern="0" dirty="0">
                <a:solidFill>
                  <a:srgbClr val="FFFFFF"/>
                </a:solidFill>
                <a:latin typeface="Inter" pitchFamily="34" charset="0"/>
                <a:ea typeface="Inter" pitchFamily="34" charset="-122"/>
                <a:cs typeface="Inter" pitchFamily="34" charset="-120"/>
              </a:rPr>
              <a:t>You already build software exactly this way</a:t>
            </a:r>
            <a:endParaRPr lang="en-US" sz="3750" dirty="0"/>
          </a:p>
        </p:txBody>
      </p:sp>
      <p:sp>
        <p:nvSpPr>
          <p:cNvPr id="4" name="Shape 2"/>
          <p:cNvSpPr/>
          <p:nvPr/>
        </p:nvSpPr>
        <p:spPr>
          <a:xfrm>
            <a:off x="1143000" y="1800622"/>
            <a:ext cx="609600" cy="28575"/>
          </a:xfrm>
          <a:prstGeom prst="roundRect">
            <a:avLst>
              <a:gd name="adj" fmla="val 50000"/>
            </a:avLst>
          </a:prstGeom>
          <a:solidFill>
            <a:srgbClr val="7A5AF8"/>
          </a:solidFill>
          <a:ln/>
        </p:spPr>
      </p:sp>
      <p:sp>
        <p:nvSpPr>
          <p:cNvPr id="5" name="Shape 3"/>
          <p:cNvSpPr/>
          <p:nvPr/>
        </p:nvSpPr>
        <p:spPr>
          <a:xfrm>
            <a:off x="1143000" y="2964628"/>
            <a:ext cx="7772400" cy="5205413"/>
          </a:xfrm>
          <a:prstGeom prst="roundRect">
            <a:avLst>
              <a:gd name="adj" fmla="val 2928"/>
            </a:avLst>
          </a:prstGeom>
          <a:solidFill>
            <a:srgbClr val="10171F"/>
          </a:solidFill>
          <a:ln w="9525">
            <a:solidFill>
              <a:srgbClr val="2A3441"/>
            </a:solidFill>
            <a:prstDash val="solid"/>
          </a:ln>
        </p:spPr>
      </p:sp>
      <p:sp>
        <p:nvSpPr>
          <p:cNvPr id="6" name="Text 4"/>
          <p:cNvSpPr/>
          <p:nvPr/>
        </p:nvSpPr>
        <p:spPr>
          <a:xfrm>
            <a:off x="1533525" y="3336103"/>
            <a:ext cx="7690485" cy="214313"/>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B7C0CD"/>
                </a:solidFill>
                <a:latin typeface="JetBrains Mono" pitchFamily="34" charset="0"/>
                <a:ea typeface="JetBrains Mono" pitchFamily="34" charset="-122"/>
                <a:cs typeface="JetBrains Mono" pitchFamily="34" charset="-120"/>
              </a:rPr>
              <a:t>TRADITIONAL SOFTWARE</a:t>
            </a:r>
            <a:endParaRPr lang="en-US" sz="1050" dirty="0"/>
          </a:p>
        </p:txBody>
      </p:sp>
      <p:sp>
        <p:nvSpPr>
          <p:cNvPr id="7" name="Shape 5"/>
          <p:cNvSpPr/>
          <p:nvPr/>
        </p:nvSpPr>
        <p:spPr>
          <a:xfrm>
            <a:off x="1533525" y="3759966"/>
            <a:ext cx="6991350" cy="638175"/>
          </a:xfrm>
          <a:prstGeom prst="roundRect">
            <a:avLst>
              <a:gd name="adj" fmla="val 14925"/>
            </a:avLst>
          </a:prstGeom>
          <a:solidFill>
            <a:srgbClr val="161F2B"/>
          </a:solidFill>
          <a:ln w="9525">
            <a:solidFill>
              <a:srgbClr val="2A3441"/>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52600" y="3964753"/>
            <a:ext cx="228600" cy="228600"/>
          </a:xfrm>
          <a:prstGeom prst="rect">
            <a:avLst/>
          </a:prstGeom>
        </p:spPr>
      </p:pic>
      <p:sp>
        <p:nvSpPr>
          <p:cNvPr id="9" name="Text 6"/>
          <p:cNvSpPr/>
          <p:nvPr/>
        </p:nvSpPr>
        <p:spPr>
          <a:xfrm>
            <a:off x="2114550" y="3940941"/>
            <a:ext cx="453405" cy="314325"/>
          </a:xfrm>
          <a:prstGeom prst="rect">
            <a:avLst/>
          </a:prstGeom>
          <a:noFill/>
          <a:ln/>
        </p:spPr>
        <p:txBody>
          <a:bodyPr wrap="square" lIns="25400" tIns="25400" rIns="25400" bIns="25400" rtlCol="0" anchor="t">
            <a:normAutofit/>
          </a:bodyPr>
          <a:lstStyle/>
          <a:p>
            <a:pPr algn="l" indent="0" marL="0">
              <a:buNone/>
            </a:pPr>
            <a:r>
              <a:rPr lang="en-US" sz="1650" dirty="0">
                <a:solidFill>
                  <a:srgbClr val="FFFFFF"/>
                </a:solidFill>
                <a:latin typeface="JetBrains Mono" pitchFamily="34" charset="0"/>
                <a:ea typeface="JetBrains Mono" pitchFamily="34" charset="-122"/>
                <a:cs typeface="JetBrains Mono" pitchFamily="34" charset="-120"/>
              </a:rPr>
              <a:t>API</a:t>
            </a:r>
            <a:endParaRPr lang="en-US" sz="165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33950" y="4531491"/>
            <a:ext cx="190500" cy="190500"/>
          </a:xfrm>
          <a:prstGeom prst="rect">
            <a:avLst/>
          </a:prstGeom>
        </p:spPr>
      </p:pic>
      <p:sp>
        <p:nvSpPr>
          <p:cNvPr id="11" name="Shape 7"/>
          <p:cNvSpPr/>
          <p:nvPr/>
        </p:nvSpPr>
        <p:spPr>
          <a:xfrm>
            <a:off x="1533525" y="4893441"/>
            <a:ext cx="6991350" cy="638175"/>
          </a:xfrm>
          <a:prstGeom prst="roundRect">
            <a:avLst>
              <a:gd name="adj" fmla="val 14925"/>
            </a:avLst>
          </a:prstGeom>
          <a:solidFill>
            <a:srgbClr val="161F2B"/>
          </a:solidFill>
          <a:ln w="9525">
            <a:solidFill>
              <a:srgbClr val="2A3441"/>
            </a:solidFill>
            <a:prstDash val="solid"/>
          </a:ln>
        </p:spPr>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52600" y="5098228"/>
            <a:ext cx="228600" cy="228600"/>
          </a:xfrm>
          <a:prstGeom prst="rect">
            <a:avLst/>
          </a:prstGeom>
        </p:spPr>
      </p:pic>
      <p:sp>
        <p:nvSpPr>
          <p:cNvPr id="13" name="Text 8"/>
          <p:cNvSpPr/>
          <p:nvPr/>
        </p:nvSpPr>
        <p:spPr>
          <a:xfrm>
            <a:off x="2114550" y="5074416"/>
            <a:ext cx="138303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FFFFFF"/>
                </a:solidFill>
                <a:latin typeface="JetBrains Mono" pitchFamily="34" charset="0"/>
                <a:ea typeface="JetBrains Mono" pitchFamily="34" charset="-122"/>
                <a:cs typeface="JetBrains Mono" pitchFamily="34" charset="-120"/>
              </a:rPr>
              <a:t>Controller</a:t>
            </a:r>
            <a:endParaRPr lang="en-US" sz="165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33950" y="5664966"/>
            <a:ext cx="190500" cy="190500"/>
          </a:xfrm>
          <a:prstGeom prst="rect">
            <a:avLst/>
          </a:prstGeom>
        </p:spPr>
      </p:pic>
      <p:sp>
        <p:nvSpPr>
          <p:cNvPr id="15" name="Shape 9"/>
          <p:cNvSpPr/>
          <p:nvPr/>
        </p:nvSpPr>
        <p:spPr>
          <a:xfrm>
            <a:off x="1533525" y="6026916"/>
            <a:ext cx="6991350" cy="638175"/>
          </a:xfrm>
          <a:prstGeom prst="roundRect">
            <a:avLst>
              <a:gd name="adj" fmla="val 14925"/>
            </a:avLst>
          </a:prstGeom>
          <a:solidFill>
            <a:srgbClr val="161F2B"/>
          </a:solidFill>
          <a:ln w="9525">
            <a:solidFill>
              <a:srgbClr val="2A3441"/>
            </a:solidFill>
            <a:prstDash val="solid"/>
          </a:ln>
        </p:spPr>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52600" y="6231703"/>
            <a:ext cx="228600" cy="228600"/>
          </a:xfrm>
          <a:prstGeom prst="rect">
            <a:avLst/>
          </a:prstGeom>
        </p:spPr>
      </p:pic>
      <p:sp>
        <p:nvSpPr>
          <p:cNvPr id="17" name="Text 10"/>
          <p:cNvSpPr/>
          <p:nvPr/>
        </p:nvSpPr>
        <p:spPr>
          <a:xfrm>
            <a:off x="2114550" y="6207891"/>
            <a:ext cx="95637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FFFFFF"/>
                </a:solidFill>
                <a:latin typeface="JetBrains Mono" pitchFamily="34" charset="0"/>
                <a:ea typeface="JetBrains Mono" pitchFamily="34" charset="-122"/>
                <a:cs typeface="JetBrains Mono" pitchFamily="34" charset="-120"/>
              </a:rPr>
              <a:t>Service</a:t>
            </a:r>
            <a:endParaRPr lang="en-US" sz="1650" dirty="0"/>
          </a:p>
        </p:txBody>
      </p:sp>
      <p:pic>
        <p:nvPicPr>
          <p:cNvPr id="1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33950" y="6798441"/>
            <a:ext cx="190500" cy="190500"/>
          </a:xfrm>
          <a:prstGeom prst="rect">
            <a:avLst/>
          </a:prstGeom>
        </p:spPr>
      </p:pic>
      <p:sp>
        <p:nvSpPr>
          <p:cNvPr id="19" name="Shape 11"/>
          <p:cNvSpPr/>
          <p:nvPr/>
        </p:nvSpPr>
        <p:spPr>
          <a:xfrm>
            <a:off x="1533525" y="7160391"/>
            <a:ext cx="6991350" cy="638175"/>
          </a:xfrm>
          <a:prstGeom prst="roundRect">
            <a:avLst>
              <a:gd name="adj" fmla="val 14925"/>
            </a:avLst>
          </a:prstGeom>
          <a:solidFill>
            <a:srgbClr val="161F2B"/>
          </a:solidFill>
          <a:ln w="9525">
            <a:solidFill>
              <a:srgbClr val="2A3441"/>
            </a:solidFill>
            <a:prstDash val="solid"/>
          </a:ln>
        </p:spPr>
      </p:sp>
      <p:pic>
        <p:nvPicPr>
          <p:cNvPr id="20"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752600" y="7365178"/>
            <a:ext cx="228600" cy="228600"/>
          </a:xfrm>
          <a:prstGeom prst="rect">
            <a:avLst/>
          </a:prstGeom>
        </p:spPr>
      </p:pic>
      <p:sp>
        <p:nvSpPr>
          <p:cNvPr id="21" name="Text 12"/>
          <p:cNvSpPr/>
          <p:nvPr/>
        </p:nvSpPr>
        <p:spPr>
          <a:xfrm>
            <a:off x="2114550" y="7341366"/>
            <a:ext cx="138303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FFFFFF"/>
                </a:solidFill>
                <a:latin typeface="JetBrains Mono" pitchFamily="34" charset="0"/>
                <a:ea typeface="JetBrains Mono" pitchFamily="34" charset="-122"/>
                <a:cs typeface="JetBrains Mono" pitchFamily="34" charset="-120"/>
              </a:rPr>
              <a:t>Repository</a:t>
            </a:r>
            <a:endParaRPr lang="en-US" sz="1650" dirty="0"/>
          </a:p>
        </p:txBody>
      </p:sp>
      <p:sp>
        <p:nvSpPr>
          <p:cNvPr id="22" name="Shape 13"/>
          <p:cNvSpPr/>
          <p:nvPr/>
        </p:nvSpPr>
        <p:spPr>
          <a:xfrm>
            <a:off x="9372600" y="2649927"/>
            <a:ext cx="7772400" cy="5843588"/>
          </a:xfrm>
          <a:prstGeom prst="roundRect">
            <a:avLst>
              <a:gd name="adj" fmla="val 2608"/>
            </a:avLst>
          </a:prstGeom>
          <a:gradFill rotWithShape="1">
            <a:gsLst>
              <a:gs pos="0">
                <a:srgbClr val="131A23">
                  <a:alpha val="100000"/>
                </a:srgbClr>
              </a:gs>
              <a:gs pos="100000">
                <a:srgbClr val="10171F">
                  <a:alpha val="100000"/>
                </a:srgbClr>
              </a:gs>
            </a:gsLst>
            <a:lin ang="5400000" scaled="0"/>
          </a:gradFill>
          <a:ln w="9525">
            <a:solidFill>
              <a:srgbClr val="7A5AF8"/>
            </a:solidFill>
            <a:prstDash val="solid"/>
          </a:ln>
        </p:spPr>
      </p:sp>
      <p:sp>
        <p:nvSpPr>
          <p:cNvPr id="23" name="Text 14"/>
          <p:cNvSpPr/>
          <p:nvPr/>
        </p:nvSpPr>
        <p:spPr>
          <a:xfrm>
            <a:off x="9763125" y="3021402"/>
            <a:ext cx="7690485" cy="214313"/>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7A5AF8"/>
                </a:solidFill>
                <a:latin typeface="JetBrains Mono" pitchFamily="34" charset="0"/>
                <a:ea typeface="JetBrains Mono" pitchFamily="34" charset="-122"/>
                <a:cs typeface="JetBrains Mono" pitchFamily="34" charset="-120"/>
              </a:rPr>
              <a:t>MINT HR OS</a:t>
            </a:r>
            <a:endParaRPr lang="en-US" sz="1050" dirty="0"/>
          </a:p>
        </p:txBody>
      </p:sp>
      <p:sp>
        <p:nvSpPr>
          <p:cNvPr id="24" name="Shape 15"/>
          <p:cNvSpPr/>
          <p:nvPr/>
        </p:nvSpPr>
        <p:spPr>
          <a:xfrm>
            <a:off x="9763125" y="3445264"/>
            <a:ext cx="6991350" cy="600075"/>
          </a:xfrm>
          <a:prstGeom prst="roundRect">
            <a:avLst>
              <a:gd name="adj" fmla="val 15873"/>
            </a:avLst>
          </a:prstGeom>
          <a:solidFill>
            <a:srgbClr val="161F2B"/>
          </a:solidFill>
          <a:ln w="9525">
            <a:solidFill>
              <a:srgbClr val="2A3441"/>
            </a:solidFill>
            <a:prstDash val="solid"/>
          </a:ln>
        </p:spPr>
      </p:sp>
      <p:pic>
        <p:nvPicPr>
          <p:cNvPr id="25"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982200" y="3631002"/>
            <a:ext cx="228600" cy="228600"/>
          </a:xfrm>
          <a:prstGeom prst="rect">
            <a:avLst/>
          </a:prstGeom>
        </p:spPr>
      </p:pic>
      <p:sp>
        <p:nvSpPr>
          <p:cNvPr id="26" name="Text 16"/>
          <p:cNvSpPr/>
          <p:nvPr/>
        </p:nvSpPr>
        <p:spPr>
          <a:xfrm>
            <a:off x="10344150" y="3607189"/>
            <a:ext cx="1082055" cy="314325"/>
          </a:xfrm>
          <a:prstGeom prst="rect">
            <a:avLst/>
          </a:prstGeom>
          <a:noFill/>
          <a:ln/>
        </p:spPr>
        <p:txBody>
          <a:bodyPr wrap="square" lIns="25400" tIns="25400" rIns="25400" bIns="25400" rtlCol="0" anchor="t">
            <a:normAutofit/>
          </a:bodyPr>
          <a:lstStyle/>
          <a:p>
            <a:pPr algn="l" indent="0" marL="0">
              <a:buNone/>
            </a:pPr>
            <a:r>
              <a:rPr lang="en-US" sz="1650" dirty="0">
                <a:solidFill>
                  <a:srgbClr val="FFFFFF"/>
                </a:solidFill>
                <a:latin typeface="JetBrains Mono" pitchFamily="34" charset="0"/>
                <a:ea typeface="JetBrains Mono" pitchFamily="34" charset="-122"/>
                <a:cs typeface="JetBrains Mono" pitchFamily="34" charset="-120"/>
              </a:rPr>
              <a:t>Question</a:t>
            </a:r>
            <a:endParaRPr lang="en-US" sz="1650" dirty="0"/>
          </a:p>
        </p:txBody>
      </p:sp>
      <p:pic>
        <p:nvPicPr>
          <p:cNvPr id="27"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3173075" y="4150114"/>
            <a:ext cx="171450" cy="171450"/>
          </a:xfrm>
          <a:prstGeom prst="rect">
            <a:avLst/>
          </a:prstGeom>
        </p:spPr>
      </p:pic>
      <p:sp>
        <p:nvSpPr>
          <p:cNvPr id="28" name="Shape 17"/>
          <p:cNvSpPr/>
          <p:nvPr/>
        </p:nvSpPr>
        <p:spPr>
          <a:xfrm>
            <a:off x="9763125" y="4464439"/>
            <a:ext cx="6991350" cy="600075"/>
          </a:xfrm>
          <a:prstGeom prst="roundRect">
            <a:avLst>
              <a:gd name="adj" fmla="val 15873"/>
            </a:avLst>
          </a:prstGeom>
          <a:solidFill>
            <a:srgbClr val="161F2B"/>
          </a:solidFill>
          <a:ln w="9525">
            <a:solidFill>
              <a:srgbClr val="2A3441"/>
            </a:solidFill>
            <a:prstDash val="solid"/>
          </a:ln>
        </p:spPr>
      </p:sp>
      <p:pic>
        <p:nvPicPr>
          <p:cNvPr id="29"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982200" y="4650177"/>
            <a:ext cx="228600" cy="228600"/>
          </a:xfrm>
          <a:prstGeom prst="rect">
            <a:avLst/>
          </a:prstGeom>
        </p:spPr>
      </p:pic>
      <p:sp>
        <p:nvSpPr>
          <p:cNvPr id="30" name="Text 18"/>
          <p:cNvSpPr/>
          <p:nvPr/>
        </p:nvSpPr>
        <p:spPr>
          <a:xfrm>
            <a:off x="10344150" y="4626364"/>
            <a:ext cx="1797955" cy="314325"/>
          </a:xfrm>
          <a:prstGeom prst="rect">
            <a:avLst/>
          </a:prstGeom>
          <a:noFill/>
          <a:ln/>
        </p:spPr>
        <p:txBody>
          <a:bodyPr wrap="square" lIns="25400" tIns="25400" rIns="25400" bIns="25400" rtlCol="0" anchor="t">
            <a:normAutofit/>
          </a:bodyPr>
          <a:lstStyle/>
          <a:p>
            <a:pPr algn="l" indent="0" marL="0">
              <a:buNone/>
            </a:pPr>
            <a:r>
              <a:rPr lang="en-US" sz="1650" dirty="0">
                <a:solidFill>
                  <a:srgbClr val="FFFFFF"/>
                </a:solidFill>
                <a:latin typeface="JetBrains Mono" pitchFamily="34" charset="0"/>
                <a:ea typeface="JetBrains Mono" pitchFamily="34" charset="-122"/>
                <a:cs typeface="JetBrains Mono" pitchFamily="34" charset="-120"/>
              </a:rPr>
              <a:t>Intent Mapper</a:t>
            </a:r>
            <a:endParaRPr lang="en-US" sz="1650" dirty="0"/>
          </a:p>
        </p:txBody>
      </p:sp>
      <p:pic>
        <p:nvPicPr>
          <p:cNvPr id="31"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3173075" y="5169289"/>
            <a:ext cx="171450" cy="171450"/>
          </a:xfrm>
          <a:prstGeom prst="rect">
            <a:avLst/>
          </a:prstGeom>
        </p:spPr>
      </p:pic>
      <p:sp>
        <p:nvSpPr>
          <p:cNvPr id="32" name="Shape 19"/>
          <p:cNvSpPr/>
          <p:nvPr/>
        </p:nvSpPr>
        <p:spPr>
          <a:xfrm>
            <a:off x="9763125" y="5483614"/>
            <a:ext cx="6991350" cy="600075"/>
          </a:xfrm>
          <a:prstGeom prst="roundRect">
            <a:avLst>
              <a:gd name="adj" fmla="val 15873"/>
            </a:avLst>
          </a:prstGeom>
          <a:solidFill>
            <a:srgbClr val="161F2B"/>
          </a:solidFill>
          <a:ln w="9525">
            <a:solidFill>
              <a:srgbClr val="2A3441"/>
            </a:solidFill>
            <a:prstDash val="solid"/>
          </a:ln>
        </p:spPr>
      </p:sp>
      <p:pic>
        <p:nvPicPr>
          <p:cNvPr id="33"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982200" y="5669352"/>
            <a:ext cx="228600" cy="228600"/>
          </a:xfrm>
          <a:prstGeom prst="rect">
            <a:avLst/>
          </a:prstGeom>
        </p:spPr>
      </p:pic>
      <p:sp>
        <p:nvSpPr>
          <p:cNvPr id="34" name="Text 20"/>
          <p:cNvSpPr/>
          <p:nvPr/>
        </p:nvSpPr>
        <p:spPr>
          <a:xfrm>
            <a:off x="10344150" y="5645539"/>
            <a:ext cx="1936291" cy="314325"/>
          </a:xfrm>
          <a:prstGeom prst="rect">
            <a:avLst/>
          </a:prstGeom>
          <a:noFill/>
          <a:ln/>
        </p:spPr>
        <p:txBody>
          <a:bodyPr wrap="square" lIns="25400" tIns="25400" rIns="25400" bIns="25400" rtlCol="0" anchor="t">
            <a:normAutofit/>
          </a:bodyPr>
          <a:lstStyle/>
          <a:p>
            <a:pPr algn="l" indent="0" marL="0">
              <a:buNone/>
            </a:pPr>
            <a:r>
              <a:rPr lang="en-US" sz="1650" dirty="0">
                <a:solidFill>
                  <a:srgbClr val="FFFFFF"/>
                </a:solidFill>
                <a:latin typeface="JetBrains Mono" pitchFamily="34" charset="0"/>
                <a:ea typeface="JetBrains Mono" pitchFamily="34" charset="-122"/>
                <a:cs typeface="JetBrains Mono" pitchFamily="34" charset="-120"/>
              </a:rPr>
              <a:t>Semantic Layer</a:t>
            </a:r>
            <a:endParaRPr lang="en-US" sz="1650" dirty="0"/>
          </a:p>
        </p:txBody>
      </p:sp>
      <p:pic>
        <p:nvPicPr>
          <p:cNvPr id="35" name="Image 12" descr="preencoded.png">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3173075" y="6188464"/>
            <a:ext cx="171450" cy="171450"/>
          </a:xfrm>
          <a:prstGeom prst="rect">
            <a:avLst/>
          </a:prstGeom>
        </p:spPr>
      </p:pic>
      <p:sp>
        <p:nvSpPr>
          <p:cNvPr id="36" name="Shape 21"/>
          <p:cNvSpPr/>
          <p:nvPr/>
        </p:nvSpPr>
        <p:spPr>
          <a:xfrm>
            <a:off x="9763125" y="6502789"/>
            <a:ext cx="6991350" cy="600075"/>
          </a:xfrm>
          <a:prstGeom prst="roundRect">
            <a:avLst>
              <a:gd name="adj" fmla="val 15873"/>
            </a:avLst>
          </a:prstGeom>
          <a:solidFill>
            <a:srgbClr val="161F2B"/>
          </a:solidFill>
          <a:ln w="9525">
            <a:solidFill>
              <a:srgbClr val="2A3441"/>
            </a:solidFill>
            <a:prstDash val="solid"/>
          </a:ln>
        </p:spPr>
      </p:sp>
      <p:pic>
        <p:nvPicPr>
          <p:cNvPr id="37" name="Image 13" descr="preencoded.png">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9982200" y="6688527"/>
            <a:ext cx="228600" cy="228600"/>
          </a:xfrm>
          <a:prstGeom prst="rect">
            <a:avLst/>
          </a:prstGeom>
        </p:spPr>
      </p:pic>
      <p:sp>
        <p:nvSpPr>
          <p:cNvPr id="38" name="Text 22"/>
          <p:cNvSpPr/>
          <p:nvPr/>
        </p:nvSpPr>
        <p:spPr>
          <a:xfrm>
            <a:off x="10344150" y="6664714"/>
            <a:ext cx="1082055" cy="314325"/>
          </a:xfrm>
          <a:prstGeom prst="rect">
            <a:avLst/>
          </a:prstGeom>
          <a:noFill/>
          <a:ln/>
        </p:spPr>
        <p:txBody>
          <a:bodyPr wrap="square" lIns="25400" tIns="25400" rIns="25400" bIns="25400" rtlCol="0" anchor="t">
            <a:normAutofit/>
          </a:bodyPr>
          <a:lstStyle/>
          <a:p>
            <a:pPr algn="l" indent="0" marL="0">
              <a:buNone/>
            </a:pPr>
            <a:r>
              <a:rPr lang="en-US" sz="1650" dirty="0">
                <a:solidFill>
                  <a:srgbClr val="FFFFFF"/>
                </a:solidFill>
                <a:latin typeface="JetBrains Mono" pitchFamily="34" charset="0"/>
                <a:ea typeface="JetBrains Mono" pitchFamily="34" charset="-122"/>
                <a:cs typeface="JetBrains Mono" pitchFamily="34" charset="-120"/>
              </a:rPr>
              <a:t>Compiler</a:t>
            </a:r>
            <a:endParaRPr lang="en-US" sz="1650" dirty="0"/>
          </a:p>
        </p:txBody>
      </p:sp>
      <p:pic>
        <p:nvPicPr>
          <p:cNvPr id="39" name="Image 14" descr="preencoded.png">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3173075" y="7207640"/>
            <a:ext cx="171450" cy="171450"/>
          </a:xfrm>
          <a:prstGeom prst="rect">
            <a:avLst/>
          </a:prstGeom>
        </p:spPr>
      </p:pic>
      <p:sp>
        <p:nvSpPr>
          <p:cNvPr id="40" name="Shape 23"/>
          <p:cNvSpPr/>
          <p:nvPr/>
        </p:nvSpPr>
        <p:spPr>
          <a:xfrm>
            <a:off x="9763125" y="7521965"/>
            <a:ext cx="6991350" cy="600075"/>
          </a:xfrm>
          <a:prstGeom prst="roundRect">
            <a:avLst>
              <a:gd name="adj" fmla="val 15873"/>
            </a:avLst>
          </a:prstGeom>
          <a:solidFill>
            <a:srgbClr val="161F2B"/>
          </a:solidFill>
          <a:ln w="9525">
            <a:solidFill>
              <a:srgbClr val="2A3441"/>
            </a:solidFill>
            <a:prstDash val="solid"/>
          </a:ln>
        </p:spPr>
      </p:sp>
      <p:pic>
        <p:nvPicPr>
          <p:cNvPr id="41" name="Image 15" descr="preencoded.png">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9982200" y="7707702"/>
            <a:ext cx="228600" cy="228600"/>
          </a:xfrm>
          <a:prstGeom prst="rect">
            <a:avLst/>
          </a:prstGeom>
        </p:spPr>
      </p:pic>
      <p:sp>
        <p:nvSpPr>
          <p:cNvPr id="42" name="Text 24"/>
          <p:cNvSpPr/>
          <p:nvPr/>
        </p:nvSpPr>
        <p:spPr>
          <a:xfrm>
            <a:off x="10344150" y="7683890"/>
            <a:ext cx="1082055" cy="314325"/>
          </a:xfrm>
          <a:prstGeom prst="rect">
            <a:avLst/>
          </a:prstGeom>
          <a:noFill/>
          <a:ln/>
        </p:spPr>
        <p:txBody>
          <a:bodyPr wrap="square" lIns="25400" tIns="25400" rIns="25400" bIns="25400" rtlCol="0" anchor="t">
            <a:normAutofit/>
          </a:bodyPr>
          <a:lstStyle/>
          <a:p>
            <a:pPr algn="l" indent="0" marL="0">
              <a:buNone/>
            </a:pPr>
            <a:r>
              <a:rPr lang="en-US" sz="1650" dirty="0">
                <a:solidFill>
                  <a:srgbClr val="FFFFFF"/>
                </a:solidFill>
                <a:latin typeface="JetBrains Mono" pitchFamily="34" charset="0"/>
                <a:ea typeface="JetBrains Mono" pitchFamily="34" charset="-122"/>
                <a:cs typeface="JetBrains Mono" pitchFamily="34" charset="-120"/>
              </a:rPr>
              <a:t>Database</a:t>
            </a:r>
            <a:endParaRPr lang="en-US" sz="1650" dirty="0"/>
          </a:p>
        </p:txBody>
      </p:sp>
      <p:sp>
        <p:nvSpPr>
          <p:cNvPr id="43" name="Text 25"/>
          <p:cNvSpPr/>
          <p:nvPr/>
        </p:nvSpPr>
        <p:spPr>
          <a:xfrm>
            <a:off x="342900" y="9106783"/>
            <a:ext cx="17602200" cy="319088"/>
          </a:xfrm>
          <a:prstGeom prst="rect">
            <a:avLst/>
          </a:prstGeom>
          <a:noFill/>
          <a:ln/>
        </p:spPr>
        <p:txBody>
          <a:bodyPr wrap="square" lIns="25400" tIns="25400" rIns="25400" bIns="25400" rtlCol="0" anchor="t">
            <a:normAutofit/>
          </a:bodyPr>
          <a:lstStyle/>
          <a:p>
            <a:pPr algn="ctr" indent="0" marL="0">
              <a:buNone/>
            </a:pPr>
            <a:r>
              <a:rPr lang="en-US" sz="1800" dirty="0">
                <a:solidFill>
                  <a:srgbClr val="B7C0CD"/>
                </a:solidFill>
                <a:latin typeface="Inter" pitchFamily="34" charset="0"/>
                <a:ea typeface="Inter" pitchFamily="34" charset="-122"/>
                <a:cs typeface="Inter" pitchFamily="34" charset="-120"/>
              </a:rPr>
              <a:t>Same separation of concerns you trust in production — </a:t>
            </a:r>
            <a:pPr algn="ctr" indent="0" marL="0">
              <a:buNone/>
            </a:pPr>
            <a:r>
              <a:rPr lang="en-US" sz="1800" b="1" dirty="0">
                <a:solidFill>
                  <a:srgbClr val="FFFFFF"/>
                </a:solidFill>
                <a:latin typeface="Inter" pitchFamily="34" charset="0"/>
                <a:ea typeface="Inter" pitchFamily="34" charset="-122"/>
                <a:cs typeface="Inter" pitchFamily="34" charset="-120"/>
              </a:rPr>
              <a:t>applied to natural-language analytics.</a:t>
            </a:r>
            <a:endParaRPr lang="en-US" sz="1800" dirty="0"/>
          </a:p>
        </p:txBody>
      </p:sp>
      <p:sp>
        <p:nvSpPr>
          <p:cNvPr id="44" name="Shape 26"/>
          <p:cNvSpPr/>
          <p:nvPr/>
        </p:nvSpPr>
        <p:spPr>
          <a:xfrm>
            <a:off x="1143000" y="9577388"/>
            <a:ext cx="16002000" cy="9525"/>
          </a:xfrm>
          <a:prstGeom prst="rect">
            <a:avLst/>
          </a:prstGeom>
          <a:solidFill>
            <a:srgbClr val="2A3441"/>
          </a:solidFill>
          <a:ln/>
        </p:spPr>
      </p:sp>
      <p:sp>
        <p:nvSpPr>
          <p:cNvPr id="45" name="Text 27"/>
          <p:cNvSpPr/>
          <p:nvPr/>
        </p:nvSpPr>
        <p:spPr>
          <a:xfrm>
            <a:off x="1143000" y="9739313"/>
            <a:ext cx="89349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MINT HR OS</a:t>
            </a:r>
            <a:endParaRPr lang="en-US" sz="975" dirty="0"/>
          </a:p>
        </p:txBody>
      </p:sp>
      <p:sp>
        <p:nvSpPr>
          <p:cNvPr id="46" name="Text 28"/>
          <p:cNvSpPr/>
          <p:nvPr/>
        </p:nvSpPr>
        <p:spPr>
          <a:xfrm>
            <a:off x="7795543" y="9739313"/>
            <a:ext cx="323632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HR &amp; Payroll Intelligence in Seconds</a:t>
            </a:r>
            <a:endParaRPr lang="en-US" sz="975" dirty="0"/>
          </a:p>
        </p:txBody>
      </p:sp>
      <p:sp>
        <p:nvSpPr>
          <p:cNvPr id="47" name="Text 29"/>
          <p:cNvSpPr/>
          <p:nvPr/>
        </p:nvSpPr>
        <p:spPr>
          <a:xfrm>
            <a:off x="16572905" y="9739313"/>
            <a:ext cx="648295"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14 / 17</a:t>
            </a:r>
            <a:endParaRPr lang="en-US" sz="9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1143000" y="800100"/>
            <a:ext cx="17602200" cy="214313"/>
          </a:xfrm>
          <a:prstGeom prst="rect">
            <a:avLst/>
          </a:prstGeom>
          <a:noFill/>
          <a:ln/>
        </p:spPr>
        <p:txBody>
          <a:bodyPr wrap="square" lIns="25400" tIns="25400" rIns="25400" bIns="25400" rtlCol="0" anchor="t">
            <a:normAutofit/>
          </a:bodyPr>
          <a:lstStyle/>
          <a:p>
            <a:pPr algn="l" indent="0" marL="0">
              <a:buNone/>
            </a:pPr>
            <a:r>
              <a:rPr lang="en-US" sz="1050" spc="336" kern="0" dirty="0">
                <a:solidFill>
                  <a:srgbClr val="00C2FF"/>
                </a:solidFill>
                <a:latin typeface="JetBrains Mono" pitchFamily="34" charset="0"/>
                <a:ea typeface="JetBrains Mono" pitchFamily="34" charset="-122"/>
                <a:cs typeface="JetBrains Mono" pitchFamily="34" charset="-120"/>
              </a:rPr>
              <a:t>15 / HEAD TO HEAD</a:t>
            </a:r>
            <a:endParaRPr lang="en-US" sz="1050" dirty="0"/>
          </a:p>
        </p:txBody>
      </p:sp>
      <p:sp>
        <p:nvSpPr>
          <p:cNvPr id="3" name="Text 1"/>
          <p:cNvSpPr/>
          <p:nvPr/>
        </p:nvSpPr>
        <p:spPr>
          <a:xfrm>
            <a:off x="1143000" y="1110055"/>
            <a:ext cx="1760220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spc="-75" kern="0" dirty="0">
                <a:solidFill>
                  <a:srgbClr val="FFFFFF"/>
                </a:solidFill>
                <a:latin typeface="Inter" pitchFamily="34" charset="0"/>
                <a:ea typeface="Inter" pitchFamily="34" charset="-122"/>
                <a:cs typeface="Inter" pitchFamily="34" charset="-120"/>
              </a:rPr>
              <a:t>Deterministic wins on every axis that matters</a:t>
            </a:r>
            <a:endParaRPr lang="en-US" sz="3750" dirty="0"/>
          </a:p>
        </p:txBody>
      </p:sp>
      <p:sp>
        <p:nvSpPr>
          <p:cNvPr id="4" name="Shape 2"/>
          <p:cNvSpPr/>
          <p:nvPr/>
        </p:nvSpPr>
        <p:spPr>
          <a:xfrm>
            <a:off x="1143000" y="1800617"/>
            <a:ext cx="609600" cy="28575"/>
          </a:xfrm>
          <a:prstGeom prst="roundRect">
            <a:avLst>
              <a:gd name="adj" fmla="val 50000"/>
            </a:avLst>
          </a:prstGeom>
          <a:solidFill>
            <a:srgbClr val="7A5AF8"/>
          </a:solidFill>
          <a:ln/>
        </p:spPr>
      </p:sp>
      <p:sp>
        <p:nvSpPr>
          <p:cNvPr id="5" name="Shape 3"/>
          <p:cNvSpPr/>
          <p:nvPr/>
        </p:nvSpPr>
        <p:spPr>
          <a:xfrm>
            <a:off x="1143000" y="2288340"/>
            <a:ext cx="16002000" cy="5048250"/>
          </a:xfrm>
          <a:prstGeom prst="roundRect">
            <a:avLst>
              <a:gd name="adj" fmla="val 2642"/>
            </a:avLst>
          </a:prstGeom>
          <a:ln w="9525">
            <a:solidFill>
              <a:srgbClr val="2A3441"/>
            </a:solidFill>
            <a:prstDash val="solid"/>
          </a:ln>
        </p:spPr>
      </p:sp>
      <p:sp>
        <p:nvSpPr>
          <p:cNvPr id="6" name="Shape 4"/>
          <p:cNvSpPr/>
          <p:nvPr/>
        </p:nvSpPr>
        <p:spPr>
          <a:xfrm>
            <a:off x="1152525" y="2297865"/>
            <a:ext cx="5671319" cy="595313"/>
          </a:xfrm>
          <a:prstGeom prst="rect">
            <a:avLst/>
          </a:prstGeom>
          <a:solidFill>
            <a:srgbClr val="161F2B"/>
          </a:solidFill>
          <a:ln/>
        </p:spPr>
      </p:sp>
      <p:sp>
        <p:nvSpPr>
          <p:cNvPr id="7" name="Text 5"/>
          <p:cNvSpPr/>
          <p:nvPr/>
        </p:nvSpPr>
        <p:spPr>
          <a:xfrm>
            <a:off x="1438275" y="2507415"/>
            <a:ext cx="5269959" cy="214313"/>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74808F"/>
                </a:solidFill>
                <a:latin typeface="JetBrains Mono" pitchFamily="34" charset="0"/>
                <a:ea typeface="JetBrains Mono" pitchFamily="34" charset="-122"/>
                <a:cs typeface="JetBrains Mono" pitchFamily="34" charset="-120"/>
              </a:rPr>
              <a:t>CAPABILITY</a:t>
            </a:r>
            <a:endParaRPr lang="en-US" sz="1050" dirty="0"/>
          </a:p>
        </p:txBody>
      </p:sp>
      <p:sp>
        <p:nvSpPr>
          <p:cNvPr id="8" name="Shape 6"/>
          <p:cNvSpPr/>
          <p:nvPr/>
        </p:nvSpPr>
        <p:spPr>
          <a:xfrm>
            <a:off x="6823844" y="2297865"/>
            <a:ext cx="5155778" cy="595313"/>
          </a:xfrm>
          <a:prstGeom prst="rect">
            <a:avLst/>
          </a:prstGeom>
          <a:solidFill>
            <a:srgbClr val="161F2B"/>
          </a:solidFill>
          <a:ln/>
        </p:spPr>
      </p:sp>
      <p:sp>
        <p:nvSpPr>
          <p:cNvPr id="9" name="Shape 7"/>
          <p:cNvSpPr/>
          <p:nvPr/>
        </p:nvSpPr>
        <p:spPr>
          <a:xfrm>
            <a:off x="6823844" y="2297865"/>
            <a:ext cx="9525" cy="595313"/>
          </a:xfrm>
          <a:prstGeom prst="rect">
            <a:avLst/>
          </a:prstGeom>
          <a:solidFill>
            <a:srgbClr val="2A3441"/>
          </a:solidFill>
          <a:ln/>
        </p:spPr>
      </p:sp>
      <p:sp>
        <p:nvSpPr>
          <p:cNvPr id="10" name="Text 8"/>
          <p:cNvSpPr/>
          <p:nvPr/>
        </p:nvSpPr>
        <p:spPr>
          <a:xfrm>
            <a:off x="7119119" y="2507415"/>
            <a:ext cx="4729427" cy="214313"/>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F6166"/>
                </a:solidFill>
                <a:latin typeface="JetBrains Mono" pitchFamily="34" charset="0"/>
                <a:ea typeface="JetBrains Mono" pitchFamily="34" charset="-122"/>
                <a:cs typeface="JetBrains Mono" pitchFamily="34" charset="-120"/>
              </a:rPr>
              <a:t>DYNAMIC TEXT-TO-SQL</a:t>
            </a:r>
            <a:endParaRPr lang="en-US" sz="1050" dirty="0"/>
          </a:p>
        </p:txBody>
      </p:sp>
      <p:sp>
        <p:nvSpPr>
          <p:cNvPr id="11" name="Shape 9"/>
          <p:cNvSpPr/>
          <p:nvPr/>
        </p:nvSpPr>
        <p:spPr>
          <a:xfrm>
            <a:off x="11979622" y="2297865"/>
            <a:ext cx="5155853" cy="595313"/>
          </a:xfrm>
          <a:prstGeom prst="rect">
            <a:avLst/>
          </a:prstGeom>
          <a:gradFill rotWithShape="1">
            <a:gsLst>
              <a:gs pos="0">
                <a:srgbClr val="7A5AF8">
                  <a:alpha val="22000"/>
                </a:srgbClr>
              </a:gs>
              <a:gs pos="100000">
                <a:srgbClr val="7A5AF8">
                  <a:alpha val="10000"/>
                </a:srgbClr>
              </a:gs>
            </a:gsLst>
            <a:lin ang="5400000" scaled="0"/>
          </a:gradFill>
          <a:ln/>
        </p:spPr>
      </p:sp>
      <p:sp>
        <p:nvSpPr>
          <p:cNvPr id="12" name="Shape 10"/>
          <p:cNvSpPr/>
          <p:nvPr/>
        </p:nvSpPr>
        <p:spPr>
          <a:xfrm>
            <a:off x="11979622" y="2297865"/>
            <a:ext cx="9525" cy="595313"/>
          </a:xfrm>
          <a:prstGeom prst="rect">
            <a:avLst/>
          </a:prstGeom>
          <a:solidFill>
            <a:srgbClr val="7A5AF8"/>
          </a:solidFill>
          <a:ln/>
        </p:spPr>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274897" y="2519321"/>
            <a:ext cx="152400" cy="152400"/>
          </a:xfrm>
          <a:prstGeom prst="rect">
            <a:avLst/>
          </a:prstGeom>
        </p:spPr>
      </p:pic>
      <p:sp>
        <p:nvSpPr>
          <p:cNvPr id="14" name="Text 11"/>
          <p:cNvSpPr/>
          <p:nvPr/>
        </p:nvSpPr>
        <p:spPr>
          <a:xfrm>
            <a:off x="12503497" y="2507415"/>
            <a:ext cx="1063005" cy="214313"/>
          </a:xfrm>
          <a:prstGeom prst="rect">
            <a:avLst/>
          </a:prstGeom>
          <a:noFill/>
          <a:ln/>
        </p:spPr>
        <p:txBody>
          <a:bodyPr wrap="square" lIns="0" tIns="0" rIns="0" bIns="0" rtlCol="0" anchor="t">
            <a:normAutofit/>
          </a:bodyPr>
          <a:lstStyle/>
          <a:p>
            <a:pPr algn="l" indent="0" marL="0">
              <a:buNone/>
            </a:pPr>
            <a:r>
              <a:rPr lang="en-US" sz="1050" spc="147" kern="0" dirty="0">
                <a:solidFill>
                  <a:srgbClr val="FFFFFF"/>
                </a:solidFill>
                <a:latin typeface="JetBrains Mono" pitchFamily="34" charset="0"/>
                <a:ea typeface="JetBrains Mono" pitchFamily="34" charset="-122"/>
                <a:cs typeface="JetBrains Mono" pitchFamily="34" charset="-120"/>
              </a:rPr>
              <a:t>MINT HR OS</a:t>
            </a:r>
            <a:endParaRPr lang="en-US" sz="1050" dirty="0"/>
          </a:p>
        </p:txBody>
      </p:sp>
      <p:sp>
        <p:nvSpPr>
          <p:cNvPr id="15" name="Shape 12"/>
          <p:cNvSpPr/>
          <p:nvPr/>
        </p:nvSpPr>
        <p:spPr>
          <a:xfrm>
            <a:off x="1152525" y="2893177"/>
            <a:ext cx="5671319" cy="9525"/>
          </a:xfrm>
          <a:prstGeom prst="rect">
            <a:avLst/>
          </a:prstGeom>
          <a:solidFill>
            <a:srgbClr val="2A3441"/>
          </a:solidFill>
          <a:ln/>
        </p:spPr>
      </p:sp>
      <p:sp>
        <p:nvSpPr>
          <p:cNvPr id="16" name="Text 13"/>
          <p:cNvSpPr/>
          <p:nvPr/>
        </p:nvSpPr>
        <p:spPr>
          <a:xfrm>
            <a:off x="1438275" y="3093202"/>
            <a:ext cx="5269959" cy="280988"/>
          </a:xfrm>
          <a:prstGeom prst="rect">
            <a:avLst/>
          </a:prstGeom>
          <a:noFill/>
          <a:ln/>
        </p:spPr>
        <p:txBody>
          <a:bodyPr wrap="square" lIns="25400" tIns="25400" rIns="25400" bIns="25400" rtlCol="0" anchor="t">
            <a:normAutofit/>
          </a:bodyPr>
          <a:lstStyle/>
          <a:p>
            <a:pPr algn="l" indent="0" marL="0">
              <a:buNone/>
            </a:pPr>
            <a:r>
              <a:rPr lang="en-US" sz="1575" b="1" dirty="0">
                <a:solidFill>
                  <a:srgbClr val="FFFFFF"/>
                </a:solidFill>
                <a:latin typeface="Inter" pitchFamily="34" charset="0"/>
                <a:ea typeface="Inter" pitchFamily="34" charset="-122"/>
                <a:cs typeface="Inter" pitchFamily="34" charset="-120"/>
              </a:rPr>
              <a:t>Speed</a:t>
            </a:r>
            <a:endParaRPr lang="en-US" sz="1575" dirty="0"/>
          </a:p>
        </p:txBody>
      </p:sp>
      <p:sp>
        <p:nvSpPr>
          <p:cNvPr id="17" name="Shape 14"/>
          <p:cNvSpPr/>
          <p:nvPr/>
        </p:nvSpPr>
        <p:spPr>
          <a:xfrm>
            <a:off x="6823844" y="2893177"/>
            <a:ext cx="5155778" cy="9525"/>
          </a:xfrm>
          <a:prstGeom prst="rect">
            <a:avLst/>
          </a:prstGeom>
          <a:solidFill>
            <a:srgbClr val="2A3441"/>
          </a:solidFill>
          <a:ln/>
        </p:spPr>
      </p:sp>
      <p:sp>
        <p:nvSpPr>
          <p:cNvPr id="18" name="Shape 15"/>
          <p:cNvSpPr/>
          <p:nvPr/>
        </p:nvSpPr>
        <p:spPr>
          <a:xfrm>
            <a:off x="6823844" y="2893177"/>
            <a:ext cx="9525" cy="633413"/>
          </a:xfrm>
          <a:prstGeom prst="rect">
            <a:avLst/>
          </a:prstGeom>
          <a:solidFill>
            <a:srgbClr val="2A3441"/>
          </a:solidFill>
          <a:ln/>
        </p:spPr>
      </p:sp>
      <p:sp>
        <p:nvSpPr>
          <p:cNvPr id="19" name="Text 16"/>
          <p:cNvSpPr/>
          <p:nvPr/>
        </p:nvSpPr>
        <p:spPr>
          <a:xfrm>
            <a:off x="7119119" y="3093202"/>
            <a:ext cx="4729427" cy="280988"/>
          </a:xfrm>
          <a:prstGeom prst="rect">
            <a:avLst/>
          </a:prstGeom>
          <a:noFill/>
          <a:ln/>
        </p:spPr>
        <p:txBody>
          <a:bodyPr wrap="square" lIns="25400" tIns="25400" rIns="25400" bIns="25400" rtlCol="0" anchor="t">
            <a:normAutofit/>
          </a:bodyPr>
          <a:lstStyle/>
          <a:p>
            <a:pPr algn="l" indent="0" marL="0">
              <a:buNone/>
            </a:pPr>
            <a:r>
              <a:rPr lang="en-US" sz="1425" dirty="0">
                <a:solidFill>
                  <a:srgbClr val="B7C0CD"/>
                </a:solidFill>
                <a:latin typeface="Inter" pitchFamily="34" charset="0"/>
                <a:ea typeface="Inter" pitchFamily="34" charset="-122"/>
                <a:cs typeface="Inter" pitchFamily="34" charset="-120"/>
              </a:rPr>
              <a:t>Variable · multi-pass</a:t>
            </a:r>
            <a:endParaRPr lang="en-US" sz="1425" dirty="0"/>
          </a:p>
        </p:txBody>
      </p:sp>
      <p:sp>
        <p:nvSpPr>
          <p:cNvPr id="20" name="Shape 17"/>
          <p:cNvSpPr/>
          <p:nvPr/>
        </p:nvSpPr>
        <p:spPr>
          <a:xfrm>
            <a:off x="11979622" y="2893177"/>
            <a:ext cx="5155853" cy="633413"/>
          </a:xfrm>
          <a:prstGeom prst="rect">
            <a:avLst/>
          </a:prstGeom>
          <a:solidFill>
            <a:srgbClr val="7A5AF8">
              <a:alpha val="6000"/>
            </a:srgbClr>
          </a:solidFill>
          <a:ln/>
        </p:spPr>
      </p:sp>
      <p:sp>
        <p:nvSpPr>
          <p:cNvPr id="21" name="Shape 18"/>
          <p:cNvSpPr/>
          <p:nvPr/>
        </p:nvSpPr>
        <p:spPr>
          <a:xfrm>
            <a:off x="11979622" y="2893177"/>
            <a:ext cx="5155853" cy="9525"/>
          </a:xfrm>
          <a:prstGeom prst="rect">
            <a:avLst/>
          </a:prstGeom>
          <a:solidFill>
            <a:srgbClr val="7A5AF8"/>
          </a:solidFill>
          <a:ln/>
        </p:spPr>
      </p:sp>
      <p:sp>
        <p:nvSpPr>
          <p:cNvPr id="22" name="Shape 19"/>
          <p:cNvSpPr/>
          <p:nvPr/>
        </p:nvSpPr>
        <p:spPr>
          <a:xfrm>
            <a:off x="11979622" y="2893177"/>
            <a:ext cx="9525" cy="633413"/>
          </a:xfrm>
          <a:prstGeom prst="rect">
            <a:avLst/>
          </a:prstGeom>
          <a:solidFill>
            <a:srgbClr val="7A5AF8"/>
          </a:solidFill>
          <a:ln/>
        </p:spPr>
      </p:sp>
      <p:pic>
        <p:nvPicPr>
          <p:cNvPr id="2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274897" y="3128921"/>
            <a:ext cx="171450" cy="171450"/>
          </a:xfrm>
          <a:prstGeom prst="rect">
            <a:avLst/>
          </a:prstGeom>
        </p:spPr>
      </p:pic>
      <p:sp>
        <p:nvSpPr>
          <p:cNvPr id="24" name="Text 20"/>
          <p:cNvSpPr/>
          <p:nvPr/>
        </p:nvSpPr>
        <p:spPr>
          <a:xfrm>
            <a:off x="12541597" y="3105109"/>
            <a:ext cx="2240756" cy="257175"/>
          </a:xfrm>
          <a:prstGeom prst="rect">
            <a:avLst/>
          </a:prstGeom>
          <a:noFill/>
          <a:ln/>
        </p:spPr>
        <p:txBody>
          <a:bodyPr wrap="square" lIns="0" tIns="0" rIns="0" bIns="0" rtlCol="0" anchor="t">
            <a:normAutofit/>
          </a:bodyPr>
          <a:lstStyle/>
          <a:p>
            <a:pPr algn="l" indent="0" marL="0">
              <a:buNone/>
            </a:pPr>
            <a:r>
              <a:rPr lang="en-US" sz="1425" dirty="0">
                <a:solidFill>
                  <a:srgbClr val="00D084"/>
                </a:solidFill>
                <a:latin typeface="Inter" pitchFamily="34" charset="0"/>
                <a:ea typeface="Inter" pitchFamily="34" charset="-122"/>
                <a:cs typeface="Inter" pitchFamily="34" charset="-120"/>
              </a:rPr>
              <a:t>Sub-second · single pass</a:t>
            </a:r>
            <a:endParaRPr lang="en-US" sz="1425" dirty="0"/>
          </a:p>
        </p:txBody>
      </p:sp>
      <p:sp>
        <p:nvSpPr>
          <p:cNvPr id="25" name="Shape 21"/>
          <p:cNvSpPr/>
          <p:nvPr/>
        </p:nvSpPr>
        <p:spPr>
          <a:xfrm>
            <a:off x="1152525" y="3526590"/>
            <a:ext cx="5671319" cy="9525"/>
          </a:xfrm>
          <a:prstGeom prst="rect">
            <a:avLst/>
          </a:prstGeom>
          <a:solidFill>
            <a:srgbClr val="2A3441"/>
          </a:solidFill>
          <a:ln/>
        </p:spPr>
      </p:sp>
      <p:sp>
        <p:nvSpPr>
          <p:cNvPr id="26" name="Text 22"/>
          <p:cNvSpPr/>
          <p:nvPr/>
        </p:nvSpPr>
        <p:spPr>
          <a:xfrm>
            <a:off x="1438275" y="3726615"/>
            <a:ext cx="5269959" cy="280988"/>
          </a:xfrm>
          <a:prstGeom prst="rect">
            <a:avLst/>
          </a:prstGeom>
          <a:noFill/>
          <a:ln/>
        </p:spPr>
        <p:txBody>
          <a:bodyPr wrap="square" lIns="25400" tIns="25400" rIns="25400" bIns="25400" rtlCol="0" anchor="t">
            <a:normAutofit/>
          </a:bodyPr>
          <a:lstStyle/>
          <a:p>
            <a:pPr algn="l" indent="0" marL="0">
              <a:buNone/>
            </a:pPr>
            <a:r>
              <a:rPr lang="en-US" sz="1575" b="1" dirty="0">
                <a:solidFill>
                  <a:srgbClr val="FFFFFF"/>
                </a:solidFill>
                <a:latin typeface="Inter" pitchFamily="34" charset="0"/>
                <a:ea typeface="Inter" pitchFamily="34" charset="-122"/>
                <a:cs typeface="Inter" pitchFamily="34" charset="-120"/>
              </a:rPr>
              <a:t>Accuracy</a:t>
            </a:r>
            <a:endParaRPr lang="en-US" sz="1575" dirty="0"/>
          </a:p>
        </p:txBody>
      </p:sp>
      <p:sp>
        <p:nvSpPr>
          <p:cNvPr id="27" name="Shape 23"/>
          <p:cNvSpPr/>
          <p:nvPr/>
        </p:nvSpPr>
        <p:spPr>
          <a:xfrm>
            <a:off x="6823844" y="3526590"/>
            <a:ext cx="5155778" cy="9525"/>
          </a:xfrm>
          <a:prstGeom prst="rect">
            <a:avLst/>
          </a:prstGeom>
          <a:solidFill>
            <a:srgbClr val="2A3441"/>
          </a:solidFill>
          <a:ln/>
        </p:spPr>
      </p:sp>
      <p:sp>
        <p:nvSpPr>
          <p:cNvPr id="28" name="Shape 24"/>
          <p:cNvSpPr/>
          <p:nvPr/>
        </p:nvSpPr>
        <p:spPr>
          <a:xfrm>
            <a:off x="6823844" y="3526590"/>
            <a:ext cx="9525" cy="633413"/>
          </a:xfrm>
          <a:prstGeom prst="rect">
            <a:avLst/>
          </a:prstGeom>
          <a:solidFill>
            <a:srgbClr val="2A3441"/>
          </a:solidFill>
          <a:ln/>
        </p:spPr>
      </p:sp>
      <p:sp>
        <p:nvSpPr>
          <p:cNvPr id="29" name="Text 25"/>
          <p:cNvSpPr/>
          <p:nvPr/>
        </p:nvSpPr>
        <p:spPr>
          <a:xfrm>
            <a:off x="7119119" y="3726615"/>
            <a:ext cx="4729427" cy="280988"/>
          </a:xfrm>
          <a:prstGeom prst="rect">
            <a:avLst/>
          </a:prstGeom>
          <a:noFill/>
          <a:ln/>
        </p:spPr>
        <p:txBody>
          <a:bodyPr wrap="square" lIns="25400" tIns="25400" rIns="25400" bIns="25400" rtlCol="0" anchor="t">
            <a:normAutofit/>
          </a:bodyPr>
          <a:lstStyle/>
          <a:p>
            <a:pPr algn="l" indent="0" marL="0">
              <a:buNone/>
            </a:pPr>
            <a:r>
              <a:rPr lang="en-US" sz="1425" dirty="0">
                <a:solidFill>
                  <a:srgbClr val="B7C0CD"/>
                </a:solidFill>
                <a:latin typeface="Inter" pitchFamily="34" charset="0"/>
                <a:ea typeface="Inter" pitchFamily="34" charset="-122"/>
                <a:cs typeface="Inter" pitchFamily="34" charset="-120"/>
              </a:rPr>
              <a:t>Probabilistic</a:t>
            </a:r>
            <a:endParaRPr lang="en-US" sz="1425" dirty="0"/>
          </a:p>
        </p:txBody>
      </p:sp>
      <p:sp>
        <p:nvSpPr>
          <p:cNvPr id="30" name="Shape 26"/>
          <p:cNvSpPr/>
          <p:nvPr/>
        </p:nvSpPr>
        <p:spPr>
          <a:xfrm>
            <a:off x="11979622" y="3526590"/>
            <a:ext cx="5155853" cy="633413"/>
          </a:xfrm>
          <a:prstGeom prst="rect">
            <a:avLst/>
          </a:prstGeom>
          <a:solidFill>
            <a:srgbClr val="7A5AF8">
              <a:alpha val="6000"/>
            </a:srgbClr>
          </a:solidFill>
          <a:ln/>
        </p:spPr>
      </p:sp>
      <p:sp>
        <p:nvSpPr>
          <p:cNvPr id="31" name="Shape 27"/>
          <p:cNvSpPr/>
          <p:nvPr/>
        </p:nvSpPr>
        <p:spPr>
          <a:xfrm>
            <a:off x="11979622" y="3526590"/>
            <a:ext cx="5155853" cy="9525"/>
          </a:xfrm>
          <a:prstGeom prst="rect">
            <a:avLst/>
          </a:prstGeom>
          <a:solidFill>
            <a:srgbClr val="7A5AF8"/>
          </a:solidFill>
          <a:ln/>
        </p:spPr>
      </p:sp>
      <p:sp>
        <p:nvSpPr>
          <p:cNvPr id="32" name="Shape 28"/>
          <p:cNvSpPr/>
          <p:nvPr/>
        </p:nvSpPr>
        <p:spPr>
          <a:xfrm>
            <a:off x="11979622" y="3526590"/>
            <a:ext cx="9525" cy="633413"/>
          </a:xfrm>
          <a:prstGeom prst="rect">
            <a:avLst/>
          </a:prstGeom>
          <a:solidFill>
            <a:srgbClr val="7A5AF8"/>
          </a:solidFill>
          <a:ln/>
        </p:spPr>
      </p:sp>
      <p:pic>
        <p:nvPicPr>
          <p:cNvPr id="3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274897" y="3762334"/>
            <a:ext cx="171450" cy="171450"/>
          </a:xfrm>
          <a:prstGeom prst="rect">
            <a:avLst/>
          </a:prstGeom>
        </p:spPr>
      </p:pic>
      <p:sp>
        <p:nvSpPr>
          <p:cNvPr id="34" name="Text 29"/>
          <p:cNvSpPr/>
          <p:nvPr/>
        </p:nvSpPr>
        <p:spPr>
          <a:xfrm>
            <a:off x="12541597" y="3738521"/>
            <a:ext cx="1201341" cy="257175"/>
          </a:xfrm>
          <a:prstGeom prst="rect">
            <a:avLst/>
          </a:prstGeom>
          <a:noFill/>
          <a:ln/>
        </p:spPr>
        <p:txBody>
          <a:bodyPr wrap="square" lIns="0" tIns="0" rIns="0" bIns="0" rtlCol="0" anchor="t">
            <a:normAutofit/>
          </a:bodyPr>
          <a:lstStyle/>
          <a:p>
            <a:pPr algn="l" indent="0" marL="0">
              <a:buNone/>
            </a:pPr>
            <a:r>
              <a:rPr lang="en-US" sz="1425" dirty="0">
                <a:solidFill>
                  <a:srgbClr val="00D084"/>
                </a:solidFill>
                <a:latin typeface="Inter" pitchFamily="34" charset="0"/>
                <a:ea typeface="Inter" pitchFamily="34" charset="-122"/>
                <a:cs typeface="Inter" pitchFamily="34" charset="-120"/>
              </a:rPr>
              <a:t>Deterministic</a:t>
            </a:r>
            <a:endParaRPr lang="en-US" sz="1425" dirty="0"/>
          </a:p>
        </p:txBody>
      </p:sp>
      <p:sp>
        <p:nvSpPr>
          <p:cNvPr id="35" name="Shape 30"/>
          <p:cNvSpPr/>
          <p:nvPr/>
        </p:nvSpPr>
        <p:spPr>
          <a:xfrm>
            <a:off x="1152525" y="4160002"/>
            <a:ext cx="5671319" cy="9525"/>
          </a:xfrm>
          <a:prstGeom prst="rect">
            <a:avLst/>
          </a:prstGeom>
          <a:solidFill>
            <a:srgbClr val="2A3441"/>
          </a:solidFill>
          <a:ln/>
        </p:spPr>
      </p:sp>
      <p:sp>
        <p:nvSpPr>
          <p:cNvPr id="36" name="Text 31"/>
          <p:cNvSpPr/>
          <p:nvPr/>
        </p:nvSpPr>
        <p:spPr>
          <a:xfrm>
            <a:off x="1438275" y="4360027"/>
            <a:ext cx="5269959" cy="280988"/>
          </a:xfrm>
          <a:prstGeom prst="rect">
            <a:avLst/>
          </a:prstGeom>
          <a:noFill/>
          <a:ln/>
        </p:spPr>
        <p:txBody>
          <a:bodyPr wrap="square" lIns="25400" tIns="25400" rIns="25400" bIns="25400" rtlCol="0" anchor="t">
            <a:normAutofit/>
          </a:bodyPr>
          <a:lstStyle/>
          <a:p>
            <a:pPr algn="l" indent="0" marL="0">
              <a:buNone/>
            </a:pPr>
            <a:r>
              <a:rPr lang="en-US" sz="1575" b="1" dirty="0">
                <a:solidFill>
                  <a:srgbClr val="FFFFFF"/>
                </a:solidFill>
                <a:latin typeface="Inter" pitchFamily="34" charset="0"/>
                <a:ea typeface="Inter" pitchFamily="34" charset="-122"/>
                <a:cs typeface="Inter" pitchFamily="34" charset="-120"/>
              </a:rPr>
              <a:t>Governance</a:t>
            </a:r>
            <a:endParaRPr lang="en-US" sz="1575" dirty="0"/>
          </a:p>
        </p:txBody>
      </p:sp>
      <p:sp>
        <p:nvSpPr>
          <p:cNvPr id="37" name="Shape 32"/>
          <p:cNvSpPr/>
          <p:nvPr/>
        </p:nvSpPr>
        <p:spPr>
          <a:xfrm>
            <a:off x="6823844" y="4160002"/>
            <a:ext cx="5155778" cy="9525"/>
          </a:xfrm>
          <a:prstGeom prst="rect">
            <a:avLst/>
          </a:prstGeom>
          <a:solidFill>
            <a:srgbClr val="2A3441"/>
          </a:solidFill>
          <a:ln/>
        </p:spPr>
      </p:sp>
      <p:sp>
        <p:nvSpPr>
          <p:cNvPr id="38" name="Shape 33"/>
          <p:cNvSpPr/>
          <p:nvPr/>
        </p:nvSpPr>
        <p:spPr>
          <a:xfrm>
            <a:off x="6823844" y="4160002"/>
            <a:ext cx="9525" cy="633413"/>
          </a:xfrm>
          <a:prstGeom prst="rect">
            <a:avLst/>
          </a:prstGeom>
          <a:solidFill>
            <a:srgbClr val="2A3441"/>
          </a:solidFill>
          <a:ln/>
        </p:spPr>
      </p:sp>
      <p:sp>
        <p:nvSpPr>
          <p:cNvPr id="39" name="Text 34"/>
          <p:cNvSpPr/>
          <p:nvPr/>
        </p:nvSpPr>
        <p:spPr>
          <a:xfrm>
            <a:off x="7119119" y="4360027"/>
            <a:ext cx="4729427" cy="280988"/>
          </a:xfrm>
          <a:prstGeom prst="rect">
            <a:avLst/>
          </a:prstGeom>
          <a:noFill/>
          <a:ln/>
        </p:spPr>
        <p:txBody>
          <a:bodyPr wrap="square" lIns="25400" tIns="25400" rIns="25400" bIns="25400" rtlCol="0" anchor="t">
            <a:normAutofit/>
          </a:bodyPr>
          <a:lstStyle/>
          <a:p>
            <a:pPr algn="l" indent="0" marL="0">
              <a:buNone/>
            </a:pPr>
            <a:r>
              <a:rPr lang="en-US" sz="1425" dirty="0">
                <a:solidFill>
                  <a:srgbClr val="B7C0CD"/>
                </a:solidFill>
                <a:latin typeface="Inter" pitchFamily="34" charset="0"/>
                <a:ea typeface="Inter" pitchFamily="34" charset="-122"/>
                <a:cs typeface="Inter" pitchFamily="34" charset="-120"/>
              </a:rPr>
              <a:t>Hard to audit</a:t>
            </a:r>
            <a:endParaRPr lang="en-US" sz="1425" dirty="0"/>
          </a:p>
        </p:txBody>
      </p:sp>
      <p:sp>
        <p:nvSpPr>
          <p:cNvPr id="40" name="Shape 35"/>
          <p:cNvSpPr/>
          <p:nvPr/>
        </p:nvSpPr>
        <p:spPr>
          <a:xfrm>
            <a:off x="11979622" y="4160002"/>
            <a:ext cx="5155853" cy="633413"/>
          </a:xfrm>
          <a:prstGeom prst="rect">
            <a:avLst/>
          </a:prstGeom>
          <a:solidFill>
            <a:srgbClr val="7A5AF8">
              <a:alpha val="6000"/>
            </a:srgbClr>
          </a:solidFill>
          <a:ln/>
        </p:spPr>
      </p:sp>
      <p:sp>
        <p:nvSpPr>
          <p:cNvPr id="41" name="Shape 36"/>
          <p:cNvSpPr/>
          <p:nvPr/>
        </p:nvSpPr>
        <p:spPr>
          <a:xfrm>
            <a:off x="11979622" y="4160002"/>
            <a:ext cx="5155853" cy="9525"/>
          </a:xfrm>
          <a:prstGeom prst="rect">
            <a:avLst/>
          </a:prstGeom>
          <a:solidFill>
            <a:srgbClr val="7A5AF8"/>
          </a:solidFill>
          <a:ln/>
        </p:spPr>
      </p:sp>
      <p:sp>
        <p:nvSpPr>
          <p:cNvPr id="42" name="Shape 37"/>
          <p:cNvSpPr/>
          <p:nvPr/>
        </p:nvSpPr>
        <p:spPr>
          <a:xfrm>
            <a:off x="11979622" y="4160002"/>
            <a:ext cx="9525" cy="633413"/>
          </a:xfrm>
          <a:prstGeom prst="rect">
            <a:avLst/>
          </a:prstGeom>
          <a:solidFill>
            <a:srgbClr val="7A5AF8"/>
          </a:solidFill>
          <a:ln/>
        </p:spPr>
      </p:sp>
      <p:pic>
        <p:nvPicPr>
          <p:cNvPr id="4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274897" y="4395746"/>
            <a:ext cx="171450" cy="171450"/>
          </a:xfrm>
          <a:prstGeom prst="rect">
            <a:avLst/>
          </a:prstGeom>
        </p:spPr>
      </p:pic>
      <p:sp>
        <p:nvSpPr>
          <p:cNvPr id="44" name="Text 38"/>
          <p:cNvSpPr/>
          <p:nvPr/>
        </p:nvSpPr>
        <p:spPr>
          <a:xfrm>
            <a:off x="12541597" y="4371934"/>
            <a:ext cx="1339007" cy="257175"/>
          </a:xfrm>
          <a:prstGeom prst="rect">
            <a:avLst/>
          </a:prstGeom>
          <a:noFill/>
          <a:ln/>
        </p:spPr>
        <p:txBody>
          <a:bodyPr wrap="square" lIns="0" tIns="0" rIns="0" bIns="0" rtlCol="0" anchor="t">
            <a:normAutofit/>
          </a:bodyPr>
          <a:lstStyle/>
          <a:p>
            <a:pPr algn="l" indent="0" marL="0">
              <a:buNone/>
            </a:pPr>
            <a:r>
              <a:rPr lang="en-US" sz="1425" dirty="0">
                <a:solidFill>
                  <a:srgbClr val="00D084"/>
                </a:solidFill>
                <a:latin typeface="Inter" pitchFamily="34" charset="0"/>
                <a:ea typeface="Inter" pitchFamily="34" charset="-122"/>
                <a:cs typeface="Inter" pitchFamily="34" charset="-120"/>
              </a:rPr>
              <a:t>Fully governed</a:t>
            </a:r>
            <a:endParaRPr lang="en-US" sz="1425" dirty="0"/>
          </a:p>
        </p:txBody>
      </p:sp>
      <p:sp>
        <p:nvSpPr>
          <p:cNvPr id="45" name="Shape 39"/>
          <p:cNvSpPr/>
          <p:nvPr/>
        </p:nvSpPr>
        <p:spPr>
          <a:xfrm>
            <a:off x="1152525" y="4793415"/>
            <a:ext cx="5671319" cy="9525"/>
          </a:xfrm>
          <a:prstGeom prst="rect">
            <a:avLst/>
          </a:prstGeom>
          <a:solidFill>
            <a:srgbClr val="2A3441"/>
          </a:solidFill>
          <a:ln/>
        </p:spPr>
      </p:sp>
      <p:sp>
        <p:nvSpPr>
          <p:cNvPr id="46" name="Text 40"/>
          <p:cNvSpPr/>
          <p:nvPr/>
        </p:nvSpPr>
        <p:spPr>
          <a:xfrm>
            <a:off x="1438275" y="4993440"/>
            <a:ext cx="5269959" cy="280988"/>
          </a:xfrm>
          <a:prstGeom prst="rect">
            <a:avLst/>
          </a:prstGeom>
          <a:noFill/>
          <a:ln/>
        </p:spPr>
        <p:txBody>
          <a:bodyPr wrap="square" lIns="25400" tIns="25400" rIns="25400" bIns="25400" rtlCol="0" anchor="t">
            <a:normAutofit/>
          </a:bodyPr>
          <a:lstStyle/>
          <a:p>
            <a:pPr algn="l" indent="0" marL="0">
              <a:buNone/>
            </a:pPr>
            <a:r>
              <a:rPr lang="en-US" sz="1575" b="1" dirty="0">
                <a:solidFill>
                  <a:srgbClr val="FFFFFF"/>
                </a:solidFill>
                <a:latin typeface="Inter" pitchFamily="34" charset="0"/>
                <a:ea typeface="Inter" pitchFamily="34" charset="-122"/>
                <a:cs typeface="Inter" pitchFamily="34" charset="-120"/>
              </a:rPr>
              <a:t>Security</a:t>
            </a:r>
            <a:endParaRPr lang="en-US" sz="1575" dirty="0"/>
          </a:p>
        </p:txBody>
      </p:sp>
      <p:sp>
        <p:nvSpPr>
          <p:cNvPr id="47" name="Shape 41"/>
          <p:cNvSpPr/>
          <p:nvPr/>
        </p:nvSpPr>
        <p:spPr>
          <a:xfrm>
            <a:off x="6823844" y="4793415"/>
            <a:ext cx="5155778" cy="9525"/>
          </a:xfrm>
          <a:prstGeom prst="rect">
            <a:avLst/>
          </a:prstGeom>
          <a:solidFill>
            <a:srgbClr val="2A3441"/>
          </a:solidFill>
          <a:ln/>
        </p:spPr>
      </p:sp>
      <p:sp>
        <p:nvSpPr>
          <p:cNvPr id="48" name="Shape 42"/>
          <p:cNvSpPr/>
          <p:nvPr/>
        </p:nvSpPr>
        <p:spPr>
          <a:xfrm>
            <a:off x="6823844" y="4793415"/>
            <a:ext cx="9525" cy="633413"/>
          </a:xfrm>
          <a:prstGeom prst="rect">
            <a:avLst/>
          </a:prstGeom>
          <a:solidFill>
            <a:srgbClr val="2A3441"/>
          </a:solidFill>
          <a:ln/>
        </p:spPr>
      </p:sp>
      <p:sp>
        <p:nvSpPr>
          <p:cNvPr id="49" name="Text 43"/>
          <p:cNvSpPr/>
          <p:nvPr/>
        </p:nvSpPr>
        <p:spPr>
          <a:xfrm>
            <a:off x="7119119" y="4993440"/>
            <a:ext cx="4729427" cy="280988"/>
          </a:xfrm>
          <a:prstGeom prst="rect">
            <a:avLst/>
          </a:prstGeom>
          <a:noFill/>
          <a:ln/>
        </p:spPr>
        <p:txBody>
          <a:bodyPr wrap="square" lIns="25400" tIns="25400" rIns="25400" bIns="25400" rtlCol="0" anchor="t">
            <a:normAutofit/>
          </a:bodyPr>
          <a:lstStyle/>
          <a:p>
            <a:pPr algn="l" indent="0" marL="0">
              <a:buNone/>
            </a:pPr>
            <a:r>
              <a:rPr lang="en-US" sz="1425" dirty="0">
                <a:solidFill>
                  <a:srgbClr val="B7C0CD"/>
                </a:solidFill>
                <a:latin typeface="Inter" pitchFamily="34" charset="0"/>
                <a:ea typeface="Inter" pitchFamily="34" charset="-122"/>
                <a:cs typeface="Inter" pitchFamily="34" charset="-120"/>
              </a:rPr>
              <a:t>Injection risk</a:t>
            </a:r>
            <a:endParaRPr lang="en-US" sz="1425" dirty="0"/>
          </a:p>
        </p:txBody>
      </p:sp>
      <p:sp>
        <p:nvSpPr>
          <p:cNvPr id="50" name="Shape 44"/>
          <p:cNvSpPr/>
          <p:nvPr/>
        </p:nvSpPr>
        <p:spPr>
          <a:xfrm>
            <a:off x="11979622" y="4793415"/>
            <a:ext cx="5155853" cy="633413"/>
          </a:xfrm>
          <a:prstGeom prst="rect">
            <a:avLst/>
          </a:prstGeom>
          <a:solidFill>
            <a:srgbClr val="7A5AF8">
              <a:alpha val="6000"/>
            </a:srgbClr>
          </a:solidFill>
          <a:ln/>
        </p:spPr>
      </p:sp>
      <p:sp>
        <p:nvSpPr>
          <p:cNvPr id="51" name="Shape 45"/>
          <p:cNvSpPr/>
          <p:nvPr/>
        </p:nvSpPr>
        <p:spPr>
          <a:xfrm>
            <a:off x="11979622" y="4793415"/>
            <a:ext cx="5155853" cy="9525"/>
          </a:xfrm>
          <a:prstGeom prst="rect">
            <a:avLst/>
          </a:prstGeom>
          <a:solidFill>
            <a:srgbClr val="7A5AF8"/>
          </a:solidFill>
          <a:ln/>
        </p:spPr>
      </p:sp>
      <p:sp>
        <p:nvSpPr>
          <p:cNvPr id="52" name="Shape 46"/>
          <p:cNvSpPr/>
          <p:nvPr/>
        </p:nvSpPr>
        <p:spPr>
          <a:xfrm>
            <a:off x="11979622" y="4793415"/>
            <a:ext cx="9525" cy="633413"/>
          </a:xfrm>
          <a:prstGeom prst="rect">
            <a:avLst/>
          </a:prstGeom>
          <a:solidFill>
            <a:srgbClr val="7A5AF8"/>
          </a:solidFill>
          <a:ln/>
        </p:spPr>
      </p:sp>
      <p:pic>
        <p:nvPicPr>
          <p:cNvPr id="5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274897" y="5029159"/>
            <a:ext cx="171450" cy="171450"/>
          </a:xfrm>
          <a:prstGeom prst="rect">
            <a:avLst/>
          </a:prstGeom>
        </p:spPr>
      </p:pic>
      <p:sp>
        <p:nvSpPr>
          <p:cNvPr id="54" name="Text 47"/>
          <p:cNvSpPr/>
          <p:nvPr/>
        </p:nvSpPr>
        <p:spPr>
          <a:xfrm>
            <a:off x="12541597" y="5005346"/>
            <a:ext cx="1932384" cy="257175"/>
          </a:xfrm>
          <a:prstGeom prst="rect">
            <a:avLst/>
          </a:prstGeom>
          <a:noFill/>
          <a:ln/>
        </p:spPr>
        <p:txBody>
          <a:bodyPr wrap="square" lIns="0" tIns="0" rIns="0" bIns="0" rtlCol="0" anchor="t">
            <a:normAutofit/>
          </a:bodyPr>
          <a:lstStyle/>
          <a:p>
            <a:pPr algn="l" indent="0" marL="0">
              <a:buNone/>
            </a:pPr>
            <a:r>
              <a:rPr lang="en-US" sz="1425" dirty="0">
                <a:solidFill>
                  <a:srgbClr val="00D084"/>
                </a:solidFill>
                <a:latin typeface="Inter" pitchFamily="34" charset="0"/>
                <a:ea typeface="Inter" pitchFamily="34" charset="-122"/>
                <a:cs typeface="Inter" pitchFamily="34" charset="-120"/>
              </a:rPr>
              <a:t>Approved blocks only</a:t>
            </a:r>
            <a:endParaRPr lang="en-US" sz="1425" dirty="0"/>
          </a:p>
        </p:txBody>
      </p:sp>
      <p:sp>
        <p:nvSpPr>
          <p:cNvPr id="55" name="Shape 48"/>
          <p:cNvSpPr/>
          <p:nvPr/>
        </p:nvSpPr>
        <p:spPr>
          <a:xfrm>
            <a:off x="1152525" y="5426827"/>
            <a:ext cx="5671319" cy="9525"/>
          </a:xfrm>
          <a:prstGeom prst="rect">
            <a:avLst/>
          </a:prstGeom>
          <a:solidFill>
            <a:srgbClr val="2A3441"/>
          </a:solidFill>
          <a:ln/>
        </p:spPr>
      </p:sp>
      <p:sp>
        <p:nvSpPr>
          <p:cNvPr id="56" name="Text 49"/>
          <p:cNvSpPr/>
          <p:nvPr/>
        </p:nvSpPr>
        <p:spPr>
          <a:xfrm>
            <a:off x="1438275" y="5626852"/>
            <a:ext cx="5269959" cy="280988"/>
          </a:xfrm>
          <a:prstGeom prst="rect">
            <a:avLst/>
          </a:prstGeom>
          <a:noFill/>
          <a:ln/>
        </p:spPr>
        <p:txBody>
          <a:bodyPr wrap="square" lIns="25400" tIns="25400" rIns="25400" bIns="25400" rtlCol="0" anchor="t">
            <a:normAutofit/>
          </a:bodyPr>
          <a:lstStyle/>
          <a:p>
            <a:pPr algn="l" indent="0" marL="0">
              <a:buNone/>
            </a:pPr>
            <a:r>
              <a:rPr lang="en-US" sz="1575" b="1" dirty="0">
                <a:solidFill>
                  <a:srgbClr val="FFFFFF"/>
                </a:solidFill>
                <a:latin typeface="Inter" pitchFamily="34" charset="0"/>
                <a:ea typeface="Inter" pitchFamily="34" charset="-122"/>
                <a:cs typeface="Inter" pitchFamily="34" charset="-120"/>
              </a:rPr>
              <a:t>Scalability</a:t>
            </a:r>
            <a:endParaRPr lang="en-US" sz="1575" dirty="0"/>
          </a:p>
        </p:txBody>
      </p:sp>
      <p:sp>
        <p:nvSpPr>
          <p:cNvPr id="57" name="Shape 50"/>
          <p:cNvSpPr/>
          <p:nvPr/>
        </p:nvSpPr>
        <p:spPr>
          <a:xfrm>
            <a:off x="6823844" y="5426827"/>
            <a:ext cx="5155778" cy="9525"/>
          </a:xfrm>
          <a:prstGeom prst="rect">
            <a:avLst/>
          </a:prstGeom>
          <a:solidFill>
            <a:srgbClr val="2A3441"/>
          </a:solidFill>
          <a:ln/>
        </p:spPr>
      </p:sp>
      <p:sp>
        <p:nvSpPr>
          <p:cNvPr id="58" name="Shape 51"/>
          <p:cNvSpPr/>
          <p:nvPr/>
        </p:nvSpPr>
        <p:spPr>
          <a:xfrm>
            <a:off x="6823844" y="5426827"/>
            <a:ext cx="9525" cy="633413"/>
          </a:xfrm>
          <a:prstGeom prst="rect">
            <a:avLst/>
          </a:prstGeom>
          <a:solidFill>
            <a:srgbClr val="2A3441"/>
          </a:solidFill>
          <a:ln/>
        </p:spPr>
      </p:sp>
      <p:sp>
        <p:nvSpPr>
          <p:cNvPr id="59" name="Text 52"/>
          <p:cNvSpPr/>
          <p:nvPr/>
        </p:nvSpPr>
        <p:spPr>
          <a:xfrm>
            <a:off x="7119119" y="5626852"/>
            <a:ext cx="4729427" cy="280988"/>
          </a:xfrm>
          <a:prstGeom prst="rect">
            <a:avLst/>
          </a:prstGeom>
          <a:noFill/>
          <a:ln/>
        </p:spPr>
        <p:txBody>
          <a:bodyPr wrap="square" lIns="25400" tIns="25400" rIns="25400" bIns="25400" rtlCol="0" anchor="t">
            <a:normAutofit/>
          </a:bodyPr>
          <a:lstStyle/>
          <a:p>
            <a:pPr algn="l" indent="0" marL="0">
              <a:buNone/>
            </a:pPr>
            <a:r>
              <a:rPr lang="en-US" sz="1425" dirty="0">
                <a:solidFill>
                  <a:srgbClr val="B7C0CD"/>
                </a:solidFill>
                <a:latin typeface="Inter" pitchFamily="34" charset="0"/>
                <a:ea typeface="Inter" pitchFamily="34" charset="-122"/>
                <a:cs typeface="Inter" pitchFamily="34" charset="-120"/>
              </a:rPr>
              <a:t>Re-reasons each query</a:t>
            </a:r>
            <a:endParaRPr lang="en-US" sz="1425" dirty="0"/>
          </a:p>
        </p:txBody>
      </p:sp>
      <p:sp>
        <p:nvSpPr>
          <p:cNvPr id="60" name="Shape 53"/>
          <p:cNvSpPr/>
          <p:nvPr/>
        </p:nvSpPr>
        <p:spPr>
          <a:xfrm>
            <a:off x="11979622" y="5426827"/>
            <a:ext cx="5155853" cy="633413"/>
          </a:xfrm>
          <a:prstGeom prst="rect">
            <a:avLst/>
          </a:prstGeom>
          <a:solidFill>
            <a:srgbClr val="7A5AF8">
              <a:alpha val="6000"/>
            </a:srgbClr>
          </a:solidFill>
          <a:ln/>
        </p:spPr>
      </p:sp>
      <p:sp>
        <p:nvSpPr>
          <p:cNvPr id="61" name="Shape 54"/>
          <p:cNvSpPr/>
          <p:nvPr/>
        </p:nvSpPr>
        <p:spPr>
          <a:xfrm>
            <a:off x="11979622" y="5426827"/>
            <a:ext cx="5155853" cy="9525"/>
          </a:xfrm>
          <a:prstGeom prst="rect">
            <a:avLst/>
          </a:prstGeom>
          <a:solidFill>
            <a:srgbClr val="7A5AF8"/>
          </a:solidFill>
          <a:ln/>
        </p:spPr>
      </p:sp>
      <p:sp>
        <p:nvSpPr>
          <p:cNvPr id="62" name="Shape 55"/>
          <p:cNvSpPr/>
          <p:nvPr/>
        </p:nvSpPr>
        <p:spPr>
          <a:xfrm>
            <a:off x="11979622" y="5426827"/>
            <a:ext cx="9525" cy="633413"/>
          </a:xfrm>
          <a:prstGeom prst="rect">
            <a:avLst/>
          </a:prstGeom>
          <a:solidFill>
            <a:srgbClr val="7A5AF8"/>
          </a:solidFill>
          <a:ln/>
        </p:spPr>
      </p:sp>
      <p:pic>
        <p:nvPicPr>
          <p:cNvPr id="6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274897" y="5662571"/>
            <a:ext cx="171450" cy="171450"/>
          </a:xfrm>
          <a:prstGeom prst="rect">
            <a:avLst/>
          </a:prstGeom>
        </p:spPr>
      </p:pic>
      <p:sp>
        <p:nvSpPr>
          <p:cNvPr id="64" name="Text 56"/>
          <p:cNvSpPr/>
          <p:nvPr/>
        </p:nvSpPr>
        <p:spPr>
          <a:xfrm>
            <a:off x="12541597" y="5638759"/>
            <a:ext cx="1940719" cy="257175"/>
          </a:xfrm>
          <a:prstGeom prst="rect">
            <a:avLst/>
          </a:prstGeom>
          <a:noFill/>
          <a:ln/>
        </p:spPr>
        <p:txBody>
          <a:bodyPr wrap="square" lIns="0" tIns="0" rIns="0" bIns="0" rtlCol="0" anchor="t">
            <a:normAutofit/>
          </a:bodyPr>
          <a:lstStyle/>
          <a:p>
            <a:pPr algn="l" indent="0" marL="0">
              <a:buNone/>
            </a:pPr>
            <a:r>
              <a:rPr lang="en-US" sz="1425" dirty="0">
                <a:solidFill>
                  <a:srgbClr val="00D084"/>
                </a:solidFill>
                <a:latin typeface="Inter" pitchFamily="34" charset="0"/>
                <a:ea typeface="Inter" pitchFamily="34" charset="-122"/>
                <a:cs typeface="Inter" pitchFamily="34" charset="-120"/>
              </a:rPr>
              <a:t>Reuses specifications</a:t>
            </a:r>
            <a:endParaRPr lang="en-US" sz="1425" dirty="0"/>
          </a:p>
        </p:txBody>
      </p:sp>
      <p:sp>
        <p:nvSpPr>
          <p:cNvPr id="65" name="Shape 57"/>
          <p:cNvSpPr/>
          <p:nvPr/>
        </p:nvSpPr>
        <p:spPr>
          <a:xfrm>
            <a:off x="1152525" y="6060240"/>
            <a:ext cx="5671319" cy="9525"/>
          </a:xfrm>
          <a:prstGeom prst="rect">
            <a:avLst/>
          </a:prstGeom>
          <a:solidFill>
            <a:srgbClr val="2A3441"/>
          </a:solidFill>
          <a:ln/>
        </p:spPr>
      </p:sp>
      <p:sp>
        <p:nvSpPr>
          <p:cNvPr id="66" name="Text 58"/>
          <p:cNvSpPr/>
          <p:nvPr/>
        </p:nvSpPr>
        <p:spPr>
          <a:xfrm>
            <a:off x="1438275" y="6260265"/>
            <a:ext cx="5269959" cy="280988"/>
          </a:xfrm>
          <a:prstGeom prst="rect">
            <a:avLst/>
          </a:prstGeom>
          <a:noFill/>
          <a:ln/>
        </p:spPr>
        <p:txBody>
          <a:bodyPr wrap="square" lIns="25400" tIns="25400" rIns="25400" bIns="25400" rtlCol="0" anchor="t">
            <a:normAutofit/>
          </a:bodyPr>
          <a:lstStyle/>
          <a:p>
            <a:pPr algn="l" indent="0" marL="0">
              <a:buNone/>
            </a:pPr>
            <a:r>
              <a:rPr lang="en-US" sz="1575" b="1" dirty="0">
                <a:solidFill>
                  <a:srgbClr val="FFFFFF"/>
                </a:solidFill>
                <a:latin typeface="Inter" pitchFamily="34" charset="0"/>
                <a:ea typeface="Inter" pitchFamily="34" charset="-122"/>
                <a:cs typeface="Inter" pitchFamily="34" charset="-120"/>
              </a:rPr>
              <a:t>Explainability</a:t>
            </a:r>
            <a:endParaRPr lang="en-US" sz="1575" dirty="0"/>
          </a:p>
        </p:txBody>
      </p:sp>
      <p:sp>
        <p:nvSpPr>
          <p:cNvPr id="67" name="Shape 59"/>
          <p:cNvSpPr/>
          <p:nvPr/>
        </p:nvSpPr>
        <p:spPr>
          <a:xfrm>
            <a:off x="6823844" y="6060240"/>
            <a:ext cx="5155778" cy="9525"/>
          </a:xfrm>
          <a:prstGeom prst="rect">
            <a:avLst/>
          </a:prstGeom>
          <a:solidFill>
            <a:srgbClr val="2A3441"/>
          </a:solidFill>
          <a:ln/>
        </p:spPr>
      </p:sp>
      <p:sp>
        <p:nvSpPr>
          <p:cNvPr id="68" name="Shape 60"/>
          <p:cNvSpPr/>
          <p:nvPr/>
        </p:nvSpPr>
        <p:spPr>
          <a:xfrm>
            <a:off x="6823844" y="6060240"/>
            <a:ext cx="9525" cy="633413"/>
          </a:xfrm>
          <a:prstGeom prst="rect">
            <a:avLst/>
          </a:prstGeom>
          <a:solidFill>
            <a:srgbClr val="2A3441"/>
          </a:solidFill>
          <a:ln/>
        </p:spPr>
      </p:sp>
      <p:sp>
        <p:nvSpPr>
          <p:cNvPr id="69" name="Text 61"/>
          <p:cNvSpPr/>
          <p:nvPr/>
        </p:nvSpPr>
        <p:spPr>
          <a:xfrm>
            <a:off x="7119119" y="6260265"/>
            <a:ext cx="4729427" cy="280988"/>
          </a:xfrm>
          <a:prstGeom prst="rect">
            <a:avLst/>
          </a:prstGeom>
          <a:noFill/>
          <a:ln/>
        </p:spPr>
        <p:txBody>
          <a:bodyPr wrap="square" lIns="25400" tIns="25400" rIns="25400" bIns="25400" rtlCol="0" anchor="t">
            <a:normAutofit/>
          </a:bodyPr>
          <a:lstStyle/>
          <a:p>
            <a:pPr algn="l" indent="0" marL="0">
              <a:buNone/>
            </a:pPr>
            <a:r>
              <a:rPr lang="en-US" sz="1425" dirty="0">
                <a:solidFill>
                  <a:srgbClr val="B7C0CD"/>
                </a:solidFill>
                <a:latin typeface="Inter" pitchFamily="34" charset="0"/>
                <a:ea typeface="Inter" pitchFamily="34" charset="-122"/>
                <a:cs typeface="Inter" pitchFamily="34" charset="-120"/>
              </a:rPr>
              <a:t>Opaque</a:t>
            </a:r>
            <a:endParaRPr lang="en-US" sz="1425" dirty="0"/>
          </a:p>
        </p:txBody>
      </p:sp>
      <p:sp>
        <p:nvSpPr>
          <p:cNvPr id="70" name="Shape 62"/>
          <p:cNvSpPr/>
          <p:nvPr/>
        </p:nvSpPr>
        <p:spPr>
          <a:xfrm>
            <a:off x="11979622" y="6060240"/>
            <a:ext cx="5155853" cy="633413"/>
          </a:xfrm>
          <a:prstGeom prst="rect">
            <a:avLst/>
          </a:prstGeom>
          <a:solidFill>
            <a:srgbClr val="7A5AF8">
              <a:alpha val="6000"/>
            </a:srgbClr>
          </a:solidFill>
          <a:ln/>
        </p:spPr>
      </p:sp>
      <p:sp>
        <p:nvSpPr>
          <p:cNvPr id="71" name="Shape 63"/>
          <p:cNvSpPr/>
          <p:nvPr/>
        </p:nvSpPr>
        <p:spPr>
          <a:xfrm>
            <a:off x="11979622" y="6060240"/>
            <a:ext cx="5155853" cy="9525"/>
          </a:xfrm>
          <a:prstGeom prst="rect">
            <a:avLst/>
          </a:prstGeom>
          <a:solidFill>
            <a:srgbClr val="7A5AF8"/>
          </a:solidFill>
          <a:ln/>
        </p:spPr>
      </p:sp>
      <p:sp>
        <p:nvSpPr>
          <p:cNvPr id="72" name="Shape 64"/>
          <p:cNvSpPr/>
          <p:nvPr/>
        </p:nvSpPr>
        <p:spPr>
          <a:xfrm>
            <a:off x="11979622" y="6060240"/>
            <a:ext cx="9525" cy="633413"/>
          </a:xfrm>
          <a:prstGeom prst="rect">
            <a:avLst/>
          </a:prstGeom>
          <a:solidFill>
            <a:srgbClr val="7A5AF8"/>
          </a:solidFill>
          <a:ln/>
        </p:spPr>
      </p:sp>
      <p:pic>
        <p:nvPicPr>
          <p:cNvPr id="73"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2274897" y="6295984"/>
            <a:ext cx="171450" cy="171450"/>
          </a:xfrm>
          <a:prstGeom prst="rect">
            <a:avLst/>
          </a:prstGeom>
        </p:spPr>
      </p:pic>
      <p:sp>
        <p:nvSpPr>
          <p:cNvPr id="74" name="Text 65"/>
          <p:cNvSpPr/>
          <p:nvPr/>
        </p:nvSpPr>
        <p:spPr>
          <a:xfrm>
            <a:off x="12541597" y="6272171"/>
            <a:ext cx="2009403" cy="257175"/>
          </a:xfrm>
          <a:prstGeom prst="rect">
            <a:avLst/>
          </a:prstGeom>
          <a:noFill/>
          <a:ln/>
        </p:spPr>
        <p:txBody>
          <a:bodyPr wrap="square" lIns="0" tIns="0" rIns="0" bIns="0" rtlCol="0" anchor="t">
            <a:normAutofit/>
          </a:bodyPr>
          <a:lstStyle/>
          <a:p>
            <a:pPr algn="l" indent="0" marL="0">
              <a:buNone/>
            </a:pPr>
            <a:r>
              <a:rPr lang="en-US" sz="1425" dirty="0">
                <a:solidFill>
                  <a:srgbClr val="00D084"/>
                </a:solidFill>
                <a:latin typeface="Inter" pitchFamily="34" charset="0"/>
                <a:ea typeface="Inter" pitchFamily="34" charset="-122"/>
                <a:cs typeface="Inter" pitchFamily="34" charset="-120"/>
              </a:rPr>
              <a:t>Traceable spec → SQL</a:t>
            </a:r>
            <a:endParaRPr lang="en-US" sz="1425" dirty="0"/>
          </a:p>
        </p:txBody>
      </p:sp>
      <p:sp>
        <p:nvSpPr>
          <p:cNvPr id="75" name="Shape 66"/>
          <p:cNvSpPr/>
          <p:nvPr/>
        </p:nvSpPr>
        <p:spPr>
          <a:xfrm>
            <a:off x="1152525" y="6693652"/>
            <a:ext cx="5671319" cy="9525"/>
          </a:xfrm>
          <a:prstGeom prst="rect">
            <a:avLst/>
          </a:prstGeom>
          <a:solidFill>
            <a:srgbClr val="2A3441"/>
          </a:solidFill>
          <a:ln/>
        </p:spPr>
      </p:sp>
      <p:sp>
        <p:nvSpPr>
          <p:cNvPr id="76" name="Text 67"/>
          <p:cNvSpPr/>
          <p:nvPr/>
        </p:nvSpPr>
        <p:spPr>
          <a:xfrm>
            <a:off x="1438275" y="6893677"/>
            <a:ext cx="5269959" cy="280988"/>
          </a:xfrm>
          <a:prstGeom prst="rect">
            <a:avLst/>
          </a:prstGeom>
          <a:noFill/>
          <a:ln/>
        </p:spPr>
        <p:txBody>
          <a:bodyPr wrap="square" lIns="25400" tIns="25400" rIns="25400" bIns="25400" rtlCol="0" anchor="t">
            <a:normAutofit/>
          </a:bodyPr>
          <a:lstStyle/>
          <a:p>
            <a:pPr algn="l" indent="0" marL="0">
              <a:buNone/>
            </a:pPr>
            <a:r>
              <a:rPr lang="en-US" sz="1575" b="1" dirty="0">
                <a:solidFill>
                  <a:srgbClr val="FFFFFF"/>
                </a:solidFill>
                <a:latin typeface="Inter" pitchFamily="34" charset="0"/>
                <a:ea typeface="Inter" pitchFamily="34" charset="-122"/>
                <a:cs typeface="Inter" pitchFamily="34" charset="-120"/>
              </a:rPr>
              <a:t>Learning</a:t>
            </a:r>
            <a:endParaRPr lang="en-US" sz="1575" dirty="0"/>
          </a:p>
        </p:txBody>
      </p:sp>
      <p:sp>
        <p:nvSpPr>
          <p:cNvPr id="77" name="Shape 68"/>
          <p:cNvSpPr/>
          <p:nvPr/>
        </p:nvSpPr>
        <p:spPr>
          <a:xfrm>
            <a:off x="6823844" y="6693652"/>
            <a:ext cx="5155778" cy="9525"/>
          </a:xfrm>
          <a:prstGeom prst="rect">
            <a:avLst/>
          </a:prstGeom>
          <a:solidFill>
            <a:srgbClr val="2A3441"/>
          </a:solidFill>
          <a:ln/>
        </p:spPr>
      </p:sp>
      <p:sp>
        <p:nvSpPr>
          <p:cNvPr id="78" name="Shape 69"/>
          <p:cNvSpPr/>
          <p:nvPr/>
        </p:nvSpPr>
        <p:spPr>
          <a:xfrm>
            <a:off x="6823844" y="6693652"/>
            <a:ext cx="9525" cy="633413"/>
          </a:xfrm>
          <a:prstGeom prst="rect">
            <a:avLst/>
          </a:prstGeom>
          <a:solidFill>
            <a:srgbClr val="2A3441"/>
          </a:solidFill>
          <a:ln/>
        </p:spPr>
      </p:sp>
      <p:sp>
        <p:nvSpPr>
          <p:cNvPr id="79" name="Text 70"/>
          <p:cNvSpPr/>
          <p:nvPr/>
        </p:nvSpPr>
        <p:spPr>
          <a:xfrm>
            <a:off x="7119119" y="6893677"/>
            <a:ext cx="4729427" cy="280988"/>
          </a:xfrm>
          <a:prstGeom prst="rect">
            <a:avLst/>
          </a:prstGeom>
          <a:noFill/>
          <a:ln/>
        </p:spPr>
        <p:txBody>
          <a:bodyPr wrap="square" lIns="25400" tIns="25400" rIns="25400" bIns="25400" rtlCol="0" anchor="t">
            <a:normAutofit/>
          </a:bodyPr>
          <a:lstStyle/>
          <a:p>
            <a:pPr algn="l" indent="0" marL="0">
              <a:buNone/>
            </a:pPr>
            <a:r>
              <a:rPr lang="en-US" sz="1425" dirty="0">
                <a:solidFill>
                  <a:srgbClr val="B7C0CD"/>
                </a:solidFill>
                <a:latin typeface="Inter" pitchFamily="34" charset="0"/>
                <a:ea typeface="Inter" pitchFamily="34" charset="-122"/>
                <a:cs typeface="Inter" pitchFamily="34" charset="-120"/>
              </a:rPr>
              <a:t>None · per query</a:t>
            </a:r>
            <a:endParaRPr lang="en-US" sz="1425" dirty="0"/>
          </a:p>
        </p:txBody>
      </p:sp>
      <p:sp>
        <p:nvSpPr>
          <p:cNvPr id="80" name="Shape 71"/>
          <p:cNvSpPr/>
          <p:nvPr/>
        </p:nvSpPr>
        <p:spPr>
          <a:xfrm>
            <a:off x="11979622" y="6693652"/>
            <a:ext cx="5155853" cy="633413"/>
          </a:xfrm>
          <a:prstGeom prst="rect">
            <a:avLst/>
          </a:prstGeom>
          <a:solidFill>
            <a:srgbClr val="7A5AF8">
              <a:alpha val="6000"/>
            </a:srgbClr>
          </a:solidFill>
          <a:ln/>
        </p:spPr>
      </p:sp>
      <p:sp>
        <p:nvSpPr>
          <p:cNvPr id="81" name="Shape 72"/>
          <p:cNvSpPr/>
          <p:nvPr/>
        </p:nvSpPr>
        <p:spPr>
          <a:xfrm>
            <a:off x="11979622" y="6693652"/>
            <a:ext cx="5155853" cy="9525"/>
          </a:xfrm>
          <a:prstGeom prst="rect">
            <a:avLst/>
          </a:prstGeom>
          <a:solidFill>
            <a:srgbClr val="7A5AF8"/>
          </a:solidFill>
          <a:ln/>
        </p:spPr>
      </p:sp>
      <p:sp>
        <p:nvSpPr>
          <p:cNvPr id="82" name="Shape 73"/>
          <p:cNvSpPr/>
          <p:nvPr/>
        </p:nvSpPr>
        <p:spPr>
          <a:xfrm>
            <a:off x="11979622" y="6693652"/>
            <a:ext cx="9525" cy="633413"/>
          </a:xfrm>
          <a:prstGeom prst="rect">
            <a:avLst/>
          </a:prstGeom>
          <a:solidFill>
            <a:srgbClr val="7A5AF8"/>
          </a:solidFill>
          <a:ln/>
        </p:spPr>
      </p:sp>
      <p:pic>
        <p:nvPicPr>
          <p:cNvPr id="83"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2274897" y="6929396"/>
            <a:ext cx="171450" cy="171450"/>
          </a:xfrm>
          <a:prstGeom prst="rect">
            <a:avLst/>
          </a:prstGeom>
        </p:spPr>
      </p:pic>
      <p:sp>
        <p:nvSpPr>
          <p:cNvPr id="84" name="Text 74"/>
          <p:cNvSpPr/>
          <p:nvPr/>
        </p:nvSpPr>
        <p:spPr>
          <a:xfrm>
            <a:off x="12541597" y="6905584"/>
            <a:ext cx="1960736" cy="257175"/>
          </a:xfrm>
          <a:prstGeom prst="rect">
            <a:avLst/>
          </a:prstGeom>
          <a:noFill/>
          <a:ln/>
        </p:spPr>
        <p:txBody>
          <a:bodyPr wrap="square" lIns="0" tIns="0" rIns="0" bIns="0" rtlCol="0" anchor="t">
            <a:normAutofit/>
          </a:bodyPr>
          <a:lstStyle/>
          <a:p>
            <a:pPr algn="l" indent="0" marL="0">
              <a:buNone/>
            </a:pPr>
            <a:r>
              <a:rPr lang="en-US" sz="1425" dirty="0">
                <a:solidFill>
                  <a:srgbClr val="00D084"/>
                </a:solidFill>
                <a:latin typeface="Inter" pitchFamily="34" charset="0"/>
                <a:ea typeface="Inter" pitchFamily="34" charset="-122"/>
                <a:cs typeface="Inter" pitchFamily="34" charset="-120"/>
              </a:rPr>
              <a:t>Compounds over time</a:t>
            </a:r>
            <a:endParaRPr lang="en-US" sz="1425" dirty="0"/>
          </a:p>
        </p:txBody>
      </p:sp>
      <p:sp>
        <p:nvSpPr>
          <p:cNvPr id="85" name="Shape 75"/>
          <p:cNvSpPr/>
          <p:nvPr/>
        </p:nvSpPr>
        <p:spPr>
          <a:xfrm>
            <a:off x="1143000" y="9577388"/>
            <a:ext cx="16002000" cy="9525"/>
          </a:xfrm>
          <a:prstGeom prst="rect">
            <a:avLst/>
          </a:prstGeom>
          <a:solidFill>
            <a:srgbClr val="2A3441"/>
          </a:solidFill>
          <a:ln/>
        </p:spPr>
      </p:sp>
      <p:sp>
        <p:nvSpPr>
          <p:cNvPr id="86" name="Text 76"/>
          <p:cNvSpPr/>
          <p:nvPr/>
        </p:nvSpPr>
        <p:spPr>
          <a:xfrm>
            <a:off x="1143000" y="9739313"/>
            <a:ext cx="89349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MINT HR OS</a:t>
            </a:r>
            <a:endParaRPr lang="en-US" sz="975" dirty="0"/>
          </a:p>
        </p:txBody>
      </p:sp>
      <p:sp>
        <p:nvSpPr>
          <p:cNvPr id="87" name="Text 77"/>
          <p:cNvSpPr/>
          <p:nvPr/>
        </p:nvSpPr>
        <p:spPr>
          <a:xfrm>
            <a:off x="7795543" y="9739313"/>
            <a:ext cx="323632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HR &amp; Payroll Intelligence in Seconds</a:t>
            </a:r>
            <a:endParaRPr lang="en-US" sz="975" dirty="0"/>
          </a:p>
        </p:txBody>
      </p:sp>
      <p:sp>
        <p:nvSpPr>
          <p:cNvPr id="88" name="Text 78"/>
          <p:cNvSpPr/>
          <p:nvPr/>
        </p:nvSpPr>
        <p:spPr>
          <a:xfrm>
            <a:off x="16572905" y="9739313"/>
            <a:ext cx="648295"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15 / 17</a:t>
            </a:r>
            <a:endParaRPr lang="en-US" sz="9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1143000" y="800100"/>
            <a:ext cx="17602200" cy="214313"/>
          </a:xfrm>
          <a:prstGeom prst="rect">
            <a:avLst/>
          </a:prstGeom>
          <a:noFill/>
          <a:ln/>
        </p:spPr>
        <p:txBody>
          <a:bodyPr wrap="square" lIns="25400" tIns="25400" rIns="25400" bIns="25400" rtlCol="0" anchor="t">
            <a:normAutofit/>
          </a:bodyPr>
          <a:lstStyle/>
          <a:p>
            <a:pPr algn="l" indent="0" marL="0">
              <a:buNone/>
            </a:pPr>
            <a:r>
              <a:rPr lang="en-US" sz="1050" spc="336" kern="0" dirty="0">
                <a:solidFill>
                  <a:srgbClr val="00C2FF"/>
                </a:solidFill>
                <a:latin typeface="JetBrains Mono" pitchFamily="34" charset="0"/>
                <a:ea typeface="JetBrains Mono" pitchFamily="34" charset="-122"/>
                <a:cs typeface="JetBrains Mono" pitchFamily="34" charset="-120"/>
              </a:rPr>
              <a:t>16 / REFERENCE ARCHITECTURE</a:t>
            </a:r>
            <a:endParaRPr lang="en-US" sz="1050" dirty="0"/>
          </a:p>
        </p:txBody>
      </p:sp>
      <p:sp>
        <p:nvSpPr>
          <p:cNvPr id="3" name="Text 1"/>
          <p:cNvSpPr/>
          <p:nvPr/>
        </p:nvSpPr>
        <p:spPr>
          <a:xfrm>
            <a:off x="1143000" y="1110077"/>
            <a:ext cx="17602200" cy="538162"/>
          </a:xfrm>
          <a:prstGeom prst="rect">
            <a:avLst/>
          </a:prstGeom>
          <a:noFill/>
          <a:ln/>
        </p:spPr>
        <p:txBody>
          <a:bodyPr wrap="square" lIns="25400" tIns="25400" rIns="25400" bIns="25400" rtlCol="0" anchor="t">
            <a:normAutofit/>
          </a:bodyPr>
          <a:lstStyle/>
          <a:p>
            <a:pPr algn="l" indent="0" marL="0">
              <a:lnSpc>
                <a:spcPct val="105000"/>
              </a:lnSpc>
              <a:buNone/>
            </a:pPr>
            <a:r>
              <a:rPr lang="en-US" sz="3750" b="1" spc="-75" kern="0" dirty="0">
                <a:solidFill>
                  <a:srgbClr val="FFFFFF"/>
                </a:solidFill>
                <a:latin typeface="Inter" pitchFamily="34" charset="0"/>
                <a:ea typeface="Inter" pitchFamily="34" charset="-122"/>
                <a:cs typeface="Inter" pitchFamily="34" charset="-120"/>
              </a:rPr>
              <a:t>The full pipeline, end to end</a:t>
            </a:r>
            <a:endParaRPr lang="en-US" sz="3750" dirty="0"/>
          </a:p>
        </p:txBody>
      </p:sp>
      <p:sp>
        <p:nvSpPr>
          <p:cNvPr id="4" name="Shape 2"/>
          <p:cNvSpPr/>
          <p:nvPr/>
        </p:nvSpPr>
        <p:spPr>
          <a:xfrm>
            <a:off x="1143000" y="1800640"/>
            <a:ext cx="609600" cy="28575"/>
          </a:xfrm>
          <a:prstGeom prst="roundRect">
            <a:avLst>
              <a:gd name="adj" fmla="val 50000"/>
            </a:avLst>
          </a:prstGeom>
          <a:solidFill>
            <a:srgbClr val="7A5AF8"/>
          </a:solidFill>
          <a:ln/>
        </p:spPr>
      </p:sp>
      <p:sp>
        <p:nvSpPr>
          <p:cNvPr id="5" name="Shape 3"/>
          <p:cNvSpPr/>
          <p:nvPr/>
        </p:nvSpPr>
        <p:spPr>
          <a:xfrm>
            <a:off x="4324350" y="2606299"/>
            <a:ext cx="1638300" cy="1054894"/>
          </a:xfrm>
          <a:prstGeom prst="roundRect">
            <a:avLst>
              <a:gd name="adj" fmla="val 10835"/>
            </a:avLst>
          </a:prstGeom>
          <a:solidFill>
            <a:srgbClr val="161F2B"/>
          </a:solidFill>
          <a:ln w="9525">
            <a:solidFill>
              <a:srgbClr val="2A3441"/>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00625" y="2844424"/>
            <a:ext cx="285750" cy="285750"/>
          </a:xfrm>
          <a:prstGeom prst="rect">
            <a:avLst/>
          </a:prstGeom>
        </p:spPr>
      </p:pic>
      <p:sp>
        <p:nvSpPr>
          <p:cNvPr id="7" name="Text 4"/>
          <p:cNvSpPr/>
          <p:nvPr/>
        </p:nvSpPr>
        <p:spPr>
          <a:xfrm>
            <a:off x="4798591" y="3244474"/>
            <a:ext cx="689744" cy="216694"/>
          </a:xfrm>
          <a:prstGeom prst="rect">
            <a:avLst/>
          </a:prstGeom>
          <a:noFill/>
          <a:ln/>
        </p:spPr>
        <p:txBody>
          <a:bodyPr wrap="square" lIns="25400" tIns="25400" rIns="25400" bIns="25400" rtlCol="0" anchor="t">
            <a:normAutofit/>
          </a:bodyPr>
          <a:lstStyle/>
          <a:p>
            <a:pPr algn="ctr" indent="0" marL="0">
              <a:lnSpc>
                <a:spcPct val="125000"/>
              </a:lnSpc>
              <a:buNone/>
            </a:pPr>
            <a:r>
              <a:rPr lang="en-US" sz="1125" dirty="0">
                <a:solidFill>
                  <a:srgbClr val="FFFFFF"/>
                </a:solidFill>
                <a:latin typeface="Inter" pitchFamily="34" charset="0"/>
                <a:ea typeface="Inter" pitchFamily="34" charset="-122"/>
                <a:cs typeface="Inter" pitchFamily="34" charset="-120"/>
              </a:rPr>
              <a:t>Question</a:t>
            </a:r>
            <a:endParaRPr lang="en-US" sz="1125"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38850" y="3028971"/>
            <a:ext cx="209550" cy="209550"/>
          </a:xfrm>
          <a:prstGeom prst="rect">
            <a:avLst/>
          </a:prstGeom>
        </p:spPr>
      </p:pic>
      <p:sp>
        <p:nvSpPr>
          <p:cNvPr id="9" name="Shape 5"/>
          <p:cNvSpPr/>
          <p:nvPr/>
        </p:nvSpPr>
        <p:spPr>
          <a:xfrm>
            <a:off x="6324600" y="2606299"/>
            <a:ext cx="1638300" cy="1054894"/>
          </a:xfrm>
          <a:prstGeom prst="roundRect">
            <a:avLst>
              <a:gd name="adj" fmla="val 10835"/>
            </a:avLst>
          </a:prstGeom>
          <a:solidFill>
            <a:srgbClr val="161F2B"/>
          </a:solidFill>
          <a:ln w="9525">
            <a:solidFill>
              <a:srgbClr val="2A3441"/>
            </a:solidFill>
            <a:prstDash val="solid"/>
          </a:ln>
        </p:spPr>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00875" y="2844424"/>
            <a:ext cx="285750" cy="285750"/>
          </a:xfrm>
          <a:prstGeom prst="rect">
            <a:avLst/>
          </a:prstGeom>
        </p:spPr>
      </p:pic>
      <p:sp>
        <p:nvSpPr>
          <p:cNvPr id="11" name="Text 6"/>
          <p:cNvSpPr/>
          <p:nvPr/>
        </p:nvSpPr>
        <p:spPr>
          <a:xfrm>
            <a:off x="6483180" y="3244474"/>
            <a:ext cx="1321065" cy="216694"/>
          </a:xfrm>
          <a:prstGeom prst="rect">
            <a:avLst/>
          </a:prstGeom>
          <a:noFill/>
          <a:ln/>
        </p:spPr>
        <p:txBody>
          <a:bodyPr wrap="square" lIns="25400" tIns="25400" rIns="25400" bIns="25400" rtlCol="0" anchor="t">
            <a:normAutofit/>
          </a:bodyPr>
          <a:lstStyle/>
          <a:p>
            <a:pPr algn="ctr" indent="0" marL="0">
              <a:lnSpc>
                <a:spcPct val="125000"/>
              </a:lnSpc>
              <a:buNone/>
            </a:pPr>
            <a:r>
              <a:rPr lang="en-US" sz="1125" dirty="0">
                <a:solidFill>
                  <a:srgbClr val="FFFFFF"/>
                </a:solidFill>
                <a:latin typeface="Inter" pitchFamily="34" charset="0"/>
                <a:ea typeface="Inter" pitchFamily="34" charset="-122"/>
                <a:cs typeface="Inter" pitchFamily="34" charset="-120"/>
              </a:rPr>
              <a:t>Intent recognition</a:t>
            </a:r>
            <a:endParaRPr lang="en-US" sz="1125"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39100" y="3028971"/>
            <a:ext cx="209550" cy="209550"/>
          </a:xfrm>
          <a:prstGeom prst="rect">
            <a:avLst/>
          </a:prstGeom>
        </p:spPr>
      </p:pic>
      <p:sp>
        <p:nvSpPr>
          <p:cNvPr id="13" name="Shape 7"/>
          <p:cNvSpPr/>
          <p:nvPr/>
        </p:nvSpPr>
        <p:spPr>
          <a:xfrm>
            <a:off x="8324850" y="2606299"/>
            <a:ext cx="1638300" cy="1054894"/>
          </a:xfrm>
          <a:prstGeom prst="roundRect">
            <a:avLst>
              <a:gd name="adj" fmla="val 10835"/>
            </a:avLst>
          </a:prstGeom>
          <a:solidFill>
            <a:srgbClr val="161F2B"/>
          </a:solidFill>
          <a:ln w="9525">
            <a:solidFill>
              <a:srgbClr val="2A3441"/>
            </a:solidFill>
            <a:prstDash val="solid"/>
          </a:ln>
        </p:spPr>
      </p:sp>
      <p:pic>
        <p:nvPicPr>
          <p:cNvPr id="1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001125" y="2844424"/>
            <a:ext cx="285750" cy="285750"/>
          </a:xfrm>
          <a:prstGeom prst="rect">
            <a:avLst/>
          </a:prstGeom>
        </p:spPr>
      </p:pic>
      <p:sp>
        <p:nvSpPr>
          <p:cNvPr id="15" name="Text 8"/>
          <p:cNvSpPr/>
          <p:nvPr/>
        </p:nvSpPr>
        <p:spPr>
          <a:xfrm>
            <a:off x="8601447" y="3244474"/>
            <a:ext cx="1085031" cy="216694"/>
          </a:xfrm>
          <a:prstGeom prst="rect">
            <a:avLst/>
          </a:prstGeom>
          <a:noFill/>
          <a:ln/>
        </p:spPr>
        <p:txBody>
          <a:bodyPr wrap="square" lIns="25400" tIns="25400" rIns="25400" bIns="25400" rtlCol="0" anchor="t">
            <a:normAutofit/>
          </a:bodyPr>
          <a:lstStyle/>
          <a:p>
            <a:pPr algn="ctr" indent="0" marL="0">
              <a:lnSpc>
                <a:spcPct val="125000"/>
              </a:lnSpc>
              <a:buNone/>
            </a:pPr>
            <a:r>
              <a:rPr lang="en-US" sz="1125" dirty="0">
                <a:solidFill>
                  <a:srgbClr val="FFFFFF"/>
                </a:solidFill>
                <a:latin typeface="Inter" pitchFamily="34" charset="0"/>
                <a:ea typeface="Inter" pitchFamily="34" charset="-122"/>
                <a:cs typeface="Inter" pitchFamily="34" charset="-120"/>
              </a:rPr>
              <a:t>Semantic layer</a:t>
            </a:r>
            <a:endParaRPr lang="en-US" sz="1125" dirty="0"/>
          </a:p>
        </p:txBody>
      </p:sp>
      <p:pic>
        <p:nvPicPr>
          <p:cNvPr id="1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039350" y="3028971"/>
            <a:ext cx="209550" cy="209550"/>
          </a:xfrm>
          <a:prstGeom prst="rect">
            <a:avLst/>
          </a:prstGeom>
        </p:spPr>
      </p:pic>
      <p:sp>
        <p:nvSpPr>
          <p:cNvPr id="17" name="Shape 9"/>
          <p:cNvSpPr/>
          <p:nvPr/>
        </p:nvSpPr>
        <p:spPr>
          <a:xfrm>
            <a:off x="10325100" y="2606299"/>
            <a:ext cx="1638300" cy="1054894"/>
          </a:xfrm>
          <a:prstGeom prst="roundRect">
            <a:avLst>
              <a:gd name="adj" fmla="val 10835"/>
            </a:avLst>
          </a:prstGeom>
          <a:solidFill>
            <a:srgbClr val="161F2B"/>
          </a:solidFill>
          <a:ln w="9525">
            <a:solidFill>
              <a:srgbClr val="2A3441"/>
            </a:solidFill>
            <a:prstDash val="solid"/>
          </a:ln>
        </p:spPr>
      </p:sp>
      <p:pic>
        <p:nvPicPr>
          <p:cNvPr id="18"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001375" y="2844424"/>
            <a:ext cx="285750" cy="285750"/>
          </a:xfrm>
          <a:prstGeom prst="rect">
            <a:avLst/>
          </a:prstGeom>
        </p:spPr>
      </p:pic>
      <p:sp>
        <p:nvSpPr>
          <p:cNvPr id="19" name="Text 10"/>
          <p:cNvSpPr/>
          <p:nvPr/>
        </p:nvSpPr>
        <p:spPr>
          <a:xfrm>
            <a:off x="10613008" y="3244474"/>
            <a:ext cx="1062410" cy="216694"/>
          </a:xfrm>
          <a:prstGeom prst="rect">
            <a:avLst/>
          </a:prstGeom>
          <a:noFill/>
          <a:ln/>
        </p:spPr>
        <p:txBody>
          <a:bodyPr wrap="square" lIns="25400" tIns="25400" rIns="25400" bIns="25400" rtlCol="0" anchor="t">
            <a:normAutofit/>
          </a:bodyPr>
          <a:lstStyle/>
          <a:p>
            <a:pPr algn="ctr" indent="0" marL="0">
              <a:lnSpc>
                <a:spcPct val="125000"/>
              </a:lnSpc>
              <a:buNone/>
            </a:pPr>
            <a:r>
              <a:rPr lang="en-US" sz="1125" dirty="0">
                <a:solidFill>
                  <a:srgbClr val="FFFFFF"/>
                </a:solidFill>
                <a:latin typeface="Inter" pitchFamily="34" charset="0"/>
                <a:ea typeface="Inter" pitchFamily="34" charset="-122"/>
                <a:cs typeface="Inter" pitchFamily="34" charset="-120"/>
              </a:rPr>
              <a:t>Business spec</a:t>
            </a:r>
            <a:endParaRPr lang="en-US" sz="1125" dirty="0"/>
          </a:p>
        </p:txBody>
      </p:sp>
      <p:pic>
        <p:nvPicPr>
          <p:cNvPr id="20"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2039600" y="3028971"/>
            <a:ext cx="209550" cy="209550"/>
          </a:xfrm>
          <a:prstGeom prst="rect">
            <a:avLst/>
          </a:prstGeom>
        </p:spPr>
      </p:pic>
      <p:sp>
        <p:nvSpPr>
          <p:cNvPr id="21" name="Shape 11"/>
          <p:cNvSpPr/>
          <p:nvPr/>
        </p:nvSpPr>
        <p:spPr>
          <a:xfrm>
            <a:off x="12325350" y="2517002"/>
            <a:ext cx="1638300" cy="1233488"/>
          </a:xfrm>
          <a:prstGeom prst="roundRect">
            <a:avLst>
              <a:gd name="adj" fmla="val 9266"/>
            </a:avLst>
          </a:prstGeom>
          <a:gradFill rotWithShape="1">
            <a:gsLst>
              <a:gs pos="0">
                <a:srgbClr val="7A5AF8">
                  <a:alpha val="18000"/>
                </a:srgbClr>
              </a:gs>
              <a:gs pos="100000">
                <a:srgbClr val="7A5AF8">
                  <a:alpha val="5000"/>
                </a:srgbClr>
              </a:gs>
            </a:gsLst>
            <a:lin ang="5400000" scaled="0"/>
          </a:gradFill>
          <a:ln w="9525">
            <a:solidFill>
              <a:srgbClr val="7A5AF8"/>
            </a:solidFill>
            <a:prstDash val="solid"/>
          </a:ln>
        </p:spPr>
      </p:sp>
      <p:pic>
        <p:nvPicPr>
          <p:cNvPr id="22"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3001625" y="2755127"/>
            <a:ext cx="285750" cy="285750"/>
          </a:xfrm>
          <a:prstGeom prst="rect">
            <a:avLst/>
          </a:prstGeom>
        </p:spPr>
      </p:pic>
      <p:sp>
        <p:nvSpPr>
          <p:cNvPr id="23" name="Text 12"/>
          <p:cNvSpPr/>
          <p:nvPr/>
        </p:nvSpPr>
        <p:spPr>
          <a:xfrm>
            <a:off x="12449175" y="3155177"/>
            <a:ext cx="1390650" cy="395288"/>
          </a:xfrm>
          <a:prstGeom prst="rect">
            <a:avLst/>
          </a:prstGeom>
          <a:noFill/>
          <a:ln/>
        </p:spPr>
        <p:txBody>
          <a:bodyPr wrap="square" lIns="25400" tIns="25400" rIns="25400" bIns="25400" rtlCol="0" anchor="t">
            <a:normAutofit/>
          </a:bodyPr>
          <a:lstStyle/>
          <a:p>
            <a:pPr algn="ctr" indent="0" marL="0">
              <a:lnSpc>
                <a:spcPct val="125000"/>
              </a:lnSpc>
              <a:buNone/>
            </a:pPr>
            <a:r>
              <a:rPr lang="en-US" sz="1125" dirty="0">
                <a:solidFill>
                  <a:srgbClr val="FFFFFF"/>
                </a:solidFill>
                <a:latin typeface="Inter" pitchFamily="34" charset="0"/>
                <a:ea typeface="Inter" pitchFamily="34" charset="-122"/>
                <a:cs typeface="Inter" pitchFamily="34" charset="-120"/>
              </a:rPr>
              <a:t>Deterministic compiler</a:t>
            </a:r>
            <a:endParaRPr lang="en-US" sz="1125" dirty="0"/>
          </a:p>
        </p:txBody>
      </p:sp>
      <p:pic>
        <p:nvPicPr>
          <p:cNvPr id="24"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001125" y="3888276"/>
            <a:ext cx="285750" cy="285750"/>
          </a:xfrm>
          <a:prstGeom prst="rect">
            <a:avLst/>
          </a:prstGeom>
        </p:spPr>
      </p:pic>
      <p:sp>
        <p:nvSpPr>
          <p:cNvPr id="25" name="Shape 13"/>
          <p:cNvSpPr/>
          <p:nvPr/>
        </p:nvSpPr>
        <p:spPr>
          <a:xfrm>
            <a:off x="11325225" y="4307376"/>
            <a:ext cx="1638300" cy="1054894"/>
          </a:xfrm>
          <a:prstGeom prst="roundRect">
            <a:avLst>
              <a:gd name="adj" fmla="val 10835"/>
            </a:avLst>
          </a:prstGeom>
          <a:solidFill>
            <a:srgbClr val="161F2B"/>
          </a:solidFill>
          <a:ln w="9525">
            <a:solidFill>
              <a:srgbClr val="2A3441"/>
            </a:solidFill>
            <a:prstDash val="solid"/>
          </a:ln>
        </p:spPr>
      </p:sp>
      <p:pic>
        <p:nvPicPr>
          <p:cNvPr id="26"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2001500" y="4545501"/>
            <a:ext cx="285750" cy="285750"/>
          </a:xfrm>
          <a:prstGeom prst="rect">
            <a:avLst/>
          </a:prstGeom>
        </p:spPr>
      </p:pic>
      <p:sp>
        <p:nvSpPr>
          <p:cNvPr id="27" name="Text 14"/>
          <p:cNvSpPr/>
          <p:nvPr/>
        </p:nvSpPr>
        <p:spPr>
          <a:xfrm>
            <a:off x="11713666" y="4945552"/>
            <a:ext cx="861343" cy="216694"/>
          </a:xfrm>
          <a:prstGeom prst="rect">
            <a:avLst/>
          </a:prstGeom>
          <a:noFill/>
          <a:ln/>
        </p:spPr>
        <p:txBody>
          <a:bodyPr wrap="square" lIns="25400" tIns="25400" rIns="25400" bIns="25400" rtlCol="0" anchor="t">
            <a:normAutofit/>
          </a:bodyPr>
          <a:lstStyle/>
          <a:p>
            <a:pPr algn="ctr" indent="0" marL="0">
              <a:lnSpc>
                <a:spcPct val="125000"/>
              </a:lnSpc>
              <a:buNone/>
            </a:pPr>
            <a:r>
              <a:rPr lang="en-US" sz="1125" dirty="0">
                <a:solidFill>
                  <a:srgbClr val="FFFFFF"/>
                </a:solidFill>
                <a:latin typeface="Inter" pitchFamily="34" charset="0"/>
                <a:ea typeface="Inter" pitchFamily="34" charset="-122"/>
                <a:cs typeface="Inter" pitchFamily="34" charset="-120"/>
              </a:rPr>
              <a:t>SQL engine</a:t>
            </a:r>
            <a:endParaRPr lang="en-US" sz="1125" dirty="0"/>
          </a:p>
        </p:txBody>
      </p:sp>
      <p:pic>
        <p:nvPicPr>
          <p:cNvPr id="28"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1039475" y="4730048"/>
            <a:ext cx="209550" cy="209550"/>
          </a:xfrm>
          <a:prstGeom prst="rect">
            <a:avLst/>
          </a:prstGeom>
        </p:spPr>
      </p:pic>
      <p:sp>
        <p:nvSpPr>
          <p:cNvPr id="29" name="Shape 15"/>
          <p:cNvSpPr/>
          <p:nvPr/>
        </p:nvSpPr>
        <p:spPr>
          <a:xfrm>
            <a:off x="9324975" y="4307376"/>
            <a:ext cx="1638300" cy="1054894"/>
          </a:xfrm>
          <a:prstGeom prst="roundRect">
            <a:avLst>
              <a:gd name="adj" fmla="val 10835"/>
            </a:avLst>
          </a:prstGeom>
          <a:solidFill>
            <a:srgbClr val="161F2B"/>
          </a:solidFill>
          <a:ln w="9525">
            <a:solidFill>
              <a:srgbClr val="2A3441"/>
            </a:solidFill>
            <a:prstDash val="solid"/>
          </a:ln>
        </p:spPr>
      </p:sp>
      <p:pic>
        <p:nvPicPr>
          <p:cNvPr id="30" name="Image 12" descr="preencoded.png">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0001250" y="4545501"/>
            <a:ext cx="285750" cy="285750"/>
          </a:xfrm>
          <a:prstGeom prst="rect">
            <a:avLst/>
          </a:prstGeom>
        </p:spPr>
      </p:pic>
      <p:sp>
        <p:nvSpPr>
          <p:cNvPr id="31" name="Text 16"/>
          <p:cNvSpPr/>
          <p:nvPr/>
        </p:nvSpPr>
        <p:spPr>
          <a:xfrm>
            <a:off x="9782770" y="4945552"/>
            <a:ext cx="722635" cy="216694"/>
          </a:xfrm>
          <a:prstGeom prst="rect">
            <a:avLst/>
          </a:prstGeom>
          <a:noFill/>
          <a:ln/>
        </p:spPr>
        <p:txBody>
          <a:bodyPr wrap="square" lIns="25400" tIns="25400" rIns="25400" bIns="25400" rtlCol="0" anchor="t">
            <a:normAutofit/>
          </a:bodyPr>
          <a:lstStyle/>
          <a:p>
            <a:pPr algn="ctr" indent="0" marL="0">
              <a:lnSpc>
                <a:spcPct val="125000"/>
              </a:lnSpc>
              <a:buNone/>
            </a:pPr>
            <a:r>
              <a:rPr lang="en-US" sz="1125" dirty="0">
                <a:solidFill>
                  <a:srgbClr val="FFFFFF"/>
                </a:solidFill>
                <a:latin typeface="Inter" pitchFamily="34" charset="0"/>
                <a:ea typeface="Inter" pitchFamily="34" charset="-122"/>
                <a:cs typeface="Inter" pitchFamily="34" charset="-120"/>
              </a:rPr>
              <a:t>Database</a:t>
            </a:r>
            <a:endParaRPr lang="en-US" sz="1125" dirty="0"/>
          </a:p>
        </p:txBody>
      </p:sp>
      <p:pic>
        <p:nvPicPr>
          <p:cNvPr id="32" name="Image 13" descr="preencoded.png">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9039225" y="4730048"/>
            <a:ext cx="209550" cy="209550"/>
          </a:xfrm>
          <a:prstGeom prst="rect">
            <a:avLst/>
          </a:prstGeom>
        </p:spPr>
      </p:pic>
      <p:sp>
        <p:nvSpPr>
          <p:cNvPr id="33" name="Shape 17"/>
          <p:cNvSpPr/>
          <p:nvPr/>
        </p:nvSpPr>
        <p:spPr>
          <a:xfrm>
            <a:off x="7324725" y="4307376"/>
            <a:ext cx="1638300" cy="1054894"/>
          </a:xfrm>
          <a:prstGeom prst="roundRect">
            <a:avLst>
              <a:gd name="adj" fmla="val 10835"/>
            </a:avLst>
          </a:prstGeom>
          <a:solidFill>
            <a:srgbClr val="161F2B"/>
          </a:solidFill>
          <a:ln w="9525">
            <a:solidFill>
              <a:srgbClr val="00D084"/>
            </a:solidFill>
            <a:prstDash val="solid"/>
          </a:ln>
        </p:spPr>
      </p:sp>
      <p:pic>
        <p:nvPicPr>
          <p:cNvPr id="34" name="Image 14" descr="preencoded.png">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8001000" y="4545501"/>
            <a:ext cx="285750" cy="285750"/>
          </a:xfrm>
          <a:prstGeom prst="rect">
            <a:avLst/>
          </a:prstGeom>
        </p:spPr>
      </p:pic>
      <p:sp>
        <p:nvSpPr>
          <p:cNvPr id="35" name="Text 18"/>
          <p:cNvSpPr/>
          <p:nvPr/>
        </p:nvSpPr>
        <p:spPr>
          <a:xfrm>
            <a:off x="7893695" y="4945552"/>
            <a:ext cx="500360" cy="216694"/>
          </a:xfrm>
          <a:prstGeom prst="rect">
            <a:avLst/>
          </a:prstGeom>
          <a:noFill/>
          <a:ln/>
        </p:spPr>
        <p:txBody>
          <a:bodyPr wrap="square" lIns="25400" tIns="25400" rIns="25400" bIns="25400" rtlCol="0" anchor="t">
            <a:normAutofit/>
          </a:bodyPr>
          <a:lstStyle/>
          <a:p>
            <a:pPr algn="ctr" indent="0" marL="0">
              <a:lnSpc>
                <a:spcPct val="125000"/>
              </a:lnSpc>
              <a:buNone/>
            </a:pPr>
            <a:r>
              <a:rPr lang="en-US" sz="1125" dirty="0">
                <a:solidFill>
                  <a:srgbClr val="FFFFFF"/>
                </a:solidFill>
                <a:latin typeface="Inter" pitchFamily="34" charset="0"/>
                <a:ea typeface="Inter" pitchFamily="34" charset="-122"/>
                <a:cs typeface="Inter" pitchFamily="34" charset="-120"/>
              </a:rPr>
              <a:t>Result</a:t>
            </a:r>
            <a:endParaRPr lang="en-US" sz="1125" dirty="0"/>
          </a:p>
        </p:txBody>
      </p:sp>
      <p:pic>
        <p:nvPicPr>
          <p:cNvPr id="36" name="Image 15" descr="preencoded.png">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7038975" y="4730048"/>
            <a:ext cx="209550" cy="209550"/>
          </a:xfrm>
          <a:prstGeom prst="rect">
            <a:avLst/>
          </a:prstGeom>
        </p:spPr>
      </p:pic>
      <p:sp>
        <p:nvSpPr>
          <p:cNvPr id="37" name="Shape 19"/>
          <p:cNvSpPr/>
          <p:nvPr/>
        </p:nvSpPr>
        <p:spPr>
          <a:xfrm>
            <a:off x="5324475" y="4307376"/>
            <a:ext cx="1638300" cy="1054894"/>
          </a:xfrm>
          <a:prstGeom prst="roundRect">
            <a:avLst>
              <a:gd name="adj" fmla="val 10835"/>
            </a:avLst>
          </a:prstGeom>
          <a:solidFill>
            <a:srgbClr val="161F2B"/>
          </a:solidFill>
          <a:ln w="9525">
            <a:solidFill>
              <a:srgbClr val="7A5AF8"/>
            </a:solidFill>
            <a:prstDash val="dash"/>
          </a:ln>
        </p:spPr>
      </p:sp>
      <p:pic>
        <p:nvPicPr>
          <p:cNvPr id="38" name="Image 16" descr="preencoded.png">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6000750" y="4545501"/>
            <a:ext cx="285750" cy="285750"/>
          </a:xfrm>
          <a:prstGeom prst="rect">
            <a:avLst/>
          </a:prstGeom>
        </p:spPr>
      </p:pic>
      <p:sp>
        <p:nvSpPr>
          <p:cNvPr id="39" name="Text 20"/>
          <p:cNvSpPr/>
          <p:nvPr/>
        </p:nvSpPr>
        <p:spPr>
          <a:xfrm>
            <a:off x="5612681" y="4945552"/>
            <a:ext cx="1061814" cy="216694"/>
          </a:xfrm>
          <a:prstGeom prst="rect">
            <a:avLst/>
          </a:prstGeom>
          <a:noFill/>
          <a:ln/>
        </p:spPr>
        <p:txBody>
          <a:bodyPr wrap="square" lIns="25400" tIns="25400" rIns="25400" bIns="25400" rtlCol="0" anchor="t">
            <a:normAutofit/>
          </a:bodyPr>
          <a:lstStyle/>
          <a:p>
            <a:pPr algn="ctr" indent="0" marL="0">
              <a:lnSpc>
                <a:spcPct val="125000"/>
              </a:lnSpc>
              <a:buNone/>
            </a:pPr>
            <a:r>
              <a:rPr lang="en-US" sz="1125" dirty="0">
                <a:solidFill>
                  <a:srgbClr val="FFFFFF"/>
                </a:solidFill>
                <a:latin typeface="Inter" pitchFamily="34" charset="0"/>
                <a:ea typeface="Inter" pitchFamily="34" charset="-122"/>
                <a:cs typeface="Inter" pitchFamily="34" charset="-120"/>
              </a:rPr>
              <a:t>Learning store</a:t>
            </a:r>
            <a:endParaRPr lang="en-US" sz="1125" dirty="0"/>
          </a:p>
        </p:txBody>
      </p:sp>
      <p:sp>
        <p:nvSpPr>
          <p:cNvPr id="40" name="Shape 21"/>
          <p:cNvSpPr/>
          <p:nvPr/>
        </p:nvSpPr>
        <p:spPr>
          <a:xfrm>
            <a:off x="7129463" y="9283182"/>
            <a:ext cx="228600" cy="19050"/>
          </a:xfrm>
          <a:prstGeom prst="rect">
            <a:avLst/>
          </a:prstGeom>
          <a:solidFill>
            <a:srgbClr val="7A5AF8"/>
          </a:solidFill>
          <a:ln/>
        </p:spPr>
      </p:sp>
      <p:sp>
        <p:nvSpPr>
          <p:cNvPr id="41" name="Text 22"/>
          <p:cNvSpPr/>
          <p:nvPr/>
        </p:nvSpPr>
        <p:spPr>
          <a:xfrm>
            <a:off x="7453312" y="9197457"/>
            <a:ext cx="1619250" cy="228600"/>
          </a:xfrm>
          <a:prstGeom prst="rect">
            <a:avLst/>
          </a:prstGeom>
          <a:noFill/>
          <a:ln/>
        </p:spPr>
        <p:txBody>
          <a:bodyPr wrap="square" lIns="0" tIns="0" rIns="0" bIns="0" rtlCol="0" anchor="t">
            <a:normAutofit/>
          </a:bodyPr>
          <a:lstStyle/>
          <a:p>
            <a:pPr algn="l" indent="0" marL="0">
              <a:buNone/>
            </a:pPr>
            <a:r>
              <a:rPr lang="en-US" sz="1125" dirty="0">
                <a:solidFill>
                  <a:srgbClr val="74808F"/>
                </a:solidFill>
                <a:latin typeface="JetBrains Mono" pitchFamily="34" charset="0"/>
                <a:ea typeface="JetBrains Mono" pitchFamily="34" charset="-122"/>
                <a:cs typeface="JetBrains Mono" pitchFamily="34" charset="-120"/>
              </a:rPr>
              <a:t>deterministic path</a:t>
            </a:r>
            <a:endParaRPr lang="en-US" sz="1125" dirty="0"/>
          </a:p>
        </p:txBody>
      </p:sp>
      <p:sp>
        <p:nvSpPr>
          <p:cNvPr id="42" name="Shape 23"/>
          <p:cNvSpPr/>
          <p:nvPr/>
        </p:nvSpPr>
        <p:spPr>
          <a:xfrm>
            <a:off x="9377363" y="9283182"/>
            <a:ext cx="228600" cy="19050"/>
          </a:xfrm>
          <a:prstGeom prst="rect">
            <a:avLst/>
          </a:prstGeom>
          <a:solidFill>
            <a:srgbClr val="7A5AF8"/>
          </a:solidFill>
          <a:ln/>
        </p:spPr>
      </p:sp>
      <p:sp>
        <p:nvSpPr>
          <p:cNvPr id="43" name="Text 24"/>
          <p:cNvSpPr/>
          <p:nvPr/>
        </p:nvSpPr>
        <p:spPr>
          <a:xfrm>
            <a:off x="9701213" y="9197457"/>
            <a:ext cx="1533525" cy="228600"/>
          </a:xfrm>
          <a:prstGeom prst="rect">
            <a:avLst/>
          </a:prstGeom>
          <a:noFill/>
          <a:ln/>
        </p:spPr>
        <p:txBody>
          <a:bodyPr wrap="square" lIns="0" tIns="0" rIns="0" bIns="0" rtlCol="0" anchor="t">
            <a:normAutofit/>
          </a:bodyPr>
          <a:lstStyle/>
          <a:p>
            <a:pPr algn="l" indent="0" marL="0">
              <a:buNone/>
            </a:pPr>
            <a:r>
              <a:rPr lang="en-US" sz="1125" dirty="0">
                <a:solidFill>
                  <a:srgbClr val="74808F"/>
                </a:solidFill>
                <a:latin typeface="JetBrains Mono" pitchFamily="34" charset="0"/>
                <a:ea typeface="JetBrains Mono" pitchFamily="34" charset="-122"/>
                <a:cs typeface="JetBrains Mono" pitchFamily="34" charset="-120"/>
              </a:rPr>
              <a:t>learning feedback</a:t>
            </a:r>
            <a:endParaRPr lang="en-US" sz="1125" dirty="0"/>
          </a:p>
        </p:txBody>
      </p:sp>
      <p:sp>
        <p:nvSpPr>
          <p:cNvPr id="44" name="Shape 25"/>
          <p:cNvSpPr/>
          <p:nvPr/>
        </p:nvSpPr>
        <p:spPr>
          <a:xfrm>
            <a:off x="1143000" y="9577388"/>
            <a:ext cx="16002000" cy="9525"/>
          </a:xfrm>
          <a:prstGeom prst="rect">
            <a:avLst/>
          </a:prstGeom>
          <a:solidFill>
            <a:srgbClr val="2A3441"/>
          </a:solidFill>
          <a:ln/>
        </p:spPr>
      </p:sp>
      <p:sp>
        <p:nvSpPr>
          <p:cNvPr id="45" name="Text 26"/>
          <p:cNvSpPr/>
          <p:nvPr/>
        </p:nvSpPr>
        <p:spPr>
          <a:xfrm>
            <a:off x="1143000" y="9739313"/>
            <a:ext cx="89349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MINT HR OS</a:t>
            </a:r>
            <a:endParaRPr lang="en-US" sz="975" dirty="0"/>
          </a:p>
        </p:txBody>
      </p:sp>
      <p:sp>
        <p:nvSpPr>
          <p:cNvPr id="46" name="Text 27"/>
          <p:cNvSpPr/>
          <p:nvPr/>
        </p:nvSpPr>
        <p:spPr>
          <a:xfrm>
            <a:off x="7795543" y="9739313"/>
            <a:ext cx="3236320"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HR &amp; Payroll Intelligence in Seconds</a:t>
            </a:r>
            <a:endParaRPr lang="en-US" sz="975" dirty="0"/>
          </a:p>
        </p:txBody>
      </p:sp>
      <p:sp>
        <p:nvSpPr>
          <p:cNvPr id="47" name="Text 28"/>
          <p:cNvSpPr/>
          <p:nvPr/>
        </p:nvSpPr>
        <p:spPr>
          <a:xfrm>
            <a:off x="16572905" y="9739313"/>
            <a:ext cx="648295" cy="204787"/>
          </a:xfrm>
          <a:prstGeom prst="rect">
            <a:avLst/>
          </a:prstGeom>
          <a:noFill/>
          <a:ln/>
        </p:spPr>
        <p:txBody>
          <a:bodyPr wrap="square" lIns="25400" tIns="25400" rIns="25400" bIns="25400" rtlCol="0" anchor="t">
            <a:normAutofit/>
          </a:bodyPr>
          <a:lstStyle/>
          <a:p>
            <a:pPr algn="l" indent="0" marL="0">
              <a:buNone/>
            </a:pPr>
            <a:r>
              <a:rPr lang="en-US" sz="975" spc="59" kern="0" dirty="0">
                <a:solidFill>
                  <a:srgbClr val="74808F"/>
                </a:solidFill>
                <a:latin typeface="JetBrains Mono" pitchFamily="34" charset="0"/>
                <a:ea typeface="JetBrains Mono" pitchFamily="34" charset="-122"/>
                <a:cs typeface="JetBrains Mono" pitchFamily="34" charset="-120"/>
              </a:rPr>
              <a:t>16 / 17</a:t>
            </a:r>
            <a:endParaRPr lang="en-US" sz="9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7A5AF8">
                  <a:alpha val="24000"/>
                </a:srgbClr>
              </a:gs>
              <a:gs pos="66000">
                <a:srgbClr val="7A5AF8">
                  <a:alpha val="0"/>
                </a:srgbClr>
              </a:gs>
            </a:gsLst>
            <a:path path="circle">
              <a:fillToRect l="78000" t="0" r="22000" b="100000"/>
            </a:path>
          </a:gradFill>
          <a:ln/>
        </p:spPr>
      </p:sp>
      <p:sp>
        <p:nvSpPr>
          <p:cNvPr id="3" name="Shape 1"/>
          <p:cNvSpPr/>
          <p:nvPr/>
        </p:nvSpPr>
        <p:spPr>
          <a:xfrm>
            <a:off x="0" y="0"/>
            <a:ext cx="18288000" cy="10287000"/>
          </a:xfrm>
          <a:prstGeom prst="rect">
            <a:avLst/>
          </a:prstGeom>
          <a:gradFill rotWithShape="1">
            <a:gsLst>
              <a:gs pos="0">
                <a:srgbClr val="2A3441">
                  <a:alpha val="50000"/>
                </a:srgbClr>
              </a:gs>
              <a:gs pos="100000">
                <a:srgbClr val="2A3441">
                  <a:alpha val="0"/>
                </a:srgbClr>
              </a:gs>
            </a:gsLst>
            <a:lin ang="5400000" scaled="0"/>
          </a:gradFill>
          <a:ln/>
        </p:spPr>
      </p:sp>
      <p:sp>
        <p:nvSpPr>
          <p:cNvPr id="4" name="Shape 2"/>
          <p:cNvSpPr/>
          <p:nvPr/>
        </p:nvSpPr>
        <p:spPr>
          <a:xfrm>
            <a:off x="1143000" y="800100"/>
            <a:ext cx="323850" cy="323850"/>
          </a:xfrm>
          <a:prstGeom prst="roundRect">
            <a:avLst>
              <a:gd name="adj" fmla="val 26471"/>
            </a:avLst>
          </a:prstGeom>
          <a:gradFill rotWithShape="1">
            <a:gsLst>
              <a:gs pos="0">
                <a:srgbClr val="7A5AF8">
                  <a:alpha val="100000"/>
                </a:srgbClr>
              </a:gs>
              <a:gs pos="100000">
                <a:srgbClr val="4B32C0">
                  <a:alpha val="100000"/>
                </a:srgbClr>
              </a:gs>
            </a:gsLst>
            <a:lin ang="2700000" scaled="0"/>
          </a:gra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09675" y="866775"/>
            <a:ext cx="190500" cy="190500"/>
          </a:xfrm>
          <a:prstGeom prst="rect">
            <a:avLst/>
          </a:prstGeom>
        </p:spPr>
      </p:pic>
      <p:sp>
        <p:nvSpPr>
          <p:cNvPr id="6" name="Text 3"/>
          <p:cNvSpPr/>
          <p:nvPr/>
        </p:nvSpPr>
        <p:spPr>
          <a:xfrm>
            <a:off x="1600200" y="840581"/>
            <a:ext cx="1968215" cy="280988"/>
          </a:xfrm>
          <a:prstGeom prst="rect">
            <a:avLst/>
          </a:prstGeom>
          <a:noFill/>
          <a:ln/>
        </p:spPr>
        <p:txBody>
          <a:bodyPr wrap="square" lIns="25400" tIns="25400" rIns="25400" bIns="25400" rtlCol="0" anchor="t">
            <a:normAutofit/>
          </a:bodyPr>
          <a:lstStyle/>
          <a:p>
            <a:pPr algn="l" indent="0" marL="0">
              <a:buNone/>
            </a:pPr>
            <a:r>
              <a:rPr lang="en-US" sz="1575" b="1" spc="472" kern="0" dirty="0">
                <a:solidFill>
                  <a:srgbClr val="FFFFFF"/>
                </a:solidFill>
                <a:latin typeface="Inter" pitchFamily="34" charset="0"/>
                <a:ea typeface="Inter" pitchFamily="34" charset="-122"/>
                <a:cs typeface="Inter" pitchFamily="34" charset="-120"/>
              </a:rPr>
              <a:t>MINT HR OS</a:t>
            </a:r>
            <a:endParaRPr lang="en-US" sz="1575" dirty="0"/>
          </a:p>
        </p:txBody>
      </p:sp>
      <p:sp>
        <p:nvSpPr>
          <p:cNvPr id="7" name="Text 4"/>
          <p:cNvSpPr/>
          <p:nvPr/>
        </p:nvSpPr>
        <p:spPr>
          <a:xfrm>
            <a:off x="1143000" y="3314179"/>
            <a:ext cx="17602200" cy="242888"/>
          </a:xfrm>
          <a:prstGeom prst="rect">
            <a:avLst/>
          </a:prstGeom>
          <a:noFill/>
          <a:ln/>
        </p:spPr>
        <p:txBody>
          <a:bodyPr wrap="square" lIns="25400" tIns="25400" rIns="25400" bIns="25400" rtlCol="0" anchor="t">
            <a:normAutofit/>
          </a:bodyPr>
          <a:lstStyle/>
          <a:p>
            <a:pPr algn="l" indent="0" marL="0">
              <a:buNone/>
            </a:pPr>
            <a:r>
              <a:rPr lang="en-US" sz="1200" spc="408" kern="0" dirty="0">
                <a:solidFill>
                  <a:srgbClr val="00C2FF"/>
                </a:solidFill>
                <a:latin typeface="JetBrains Mono" pitchFamily="34" charset="0"/>
                <a:ea typeface="JetBrains Mono" pitchFamily="34" charset="-122"/>
                <a:cs typeface="JetBrains Mono" pitchFamily="34" charset="-120"/>
              </a:rPr>
              <a:t>THE TAKEAWAY</a:t>
            </a:r>
            <a:endParaRPr lang="en-US" sz="1200" dirty="0"/>
          </a:p>
        </p:txBody>
      </p:sp>
      <p:sp>
        <p:nvSpPr>
          <p:cNvPr id="8" name="Text 5"/>
          <p:cNvSpPr/>
          <p:nvPr/>
        </p:nvSpPr>
        <p:spPr>
          <a:xfrm>
            <a:off x="1143000" y="3843489"/>
            <a:ext cx="16482060" cy="1725067"/>
          </a:xfrm>
          <a:prstGeom prst="rect">
            <a:avLst/>
          </a:prstGeom>
          <a:noFill/>
          <a:ln/>
        </p:spPr>
        <p:txBody>
          <a:bodyPr wrap="square" lIns="25400" tIns="25400" rIns="25400" bIns="25400" rtlCol="0" anchor="t">
            <a:normAutofit/>
          </a:bodyPr>
          <a:lstStyle/>
          <a:p>
            <a:pPr algn="l" indent="0" marL="0">
              <a:lnSpc>
                <a:spcPct val="108000"/>
              </a:lnSpc>
              <a:buNone/>
            </a:pPr>
            <a:r>
              <a:rPr lang="en-US" sz="6150" b="1" spc="-154" kern="0" dirty="0">
                <a:solidFill>
                  <a:srgbClr val="FFFFFF"/>
                </a:solidFill>
                <a:latin typeface="Inter" pitchFamily="34" charset="0"/>
                <a:ea typeface="Inter" pitchFamily="34" charset="-122"/>
                <a:cs typeface="Inter" pitchFamily="34" charset="-120"/>
              </a:rPr>
              <a:t>HR questions are </a:t>
            </a:r>
            <a:pPr algn="l" indent="0" marL="0">
              <a:lnSpc>
                <a:spcPct val="108000"/>
              </a:lnSpc>
              <a:buNone/>
            </a:pPr>
            <a:r>
              <a:rPr lang="en-US" sz="6150" b="1" spc="-154" kern="0" dirty="0">
                <a:solidFill>
                  <a:srgbClr val="00C2FF"/>
                </a:solidFill>
                <a:latin typeface="Inter" pitchFamily="34" charset="0"/>
                <a:ea typeface="Inter" pitchFamily="34" charset="-122"/>
                <a:cs typeface="Inter" pitchFamily="34" charset="-120"/>
              </a:rPr>
              <a:t>infinite </a:t>
            </a:r>
            <a:pPr algn="l" indent="0" marL="0">
              <a:lnSpc>
                <a:spcPct val="108000"/>
              </a:lnSpc>
              <a:buNone/>
            </a:pPr>
            <a:r>
              <a:rPr lang="en-US" sz="6150" b="1" spc="-154" kern="0" dirty="0">
                <a:solidFill>
                  <a:srgbClr val="FFFFFF"/>
                </a:solidFill>
                <a:latin typeface="Inter" pitchFamily="34" charset="0"/>
                <a:ea typeface="Inter" pitchFamily="34" charset="-122"/>
                <a:cs typeface="Inter" pitchFamily="34" charset="-120"/>
              </a:rPr>
              <a:t>. HR concepts are </a:t>
            </a:r>
            <a:pPr algn="l" indent="0" marL="0">
              <a:lnSpc>
                <a:spcPct val="108000"/>
              </a:lnSpc>
              <a:buNone/>
            </a:pPr>
            <a:r>
              <a:rPr lang="en-US" sz="6150" b="1" spc="-154" kern="0" dirty="0">
                <a:solidFill>
                  <a:srgbClr val="7A5AF8"/>
                </a:solidFill>
                <a:latin typeface="Inter" pitchFamily="34" charset="0"/>
                <a:ea typeface="Inter" pitchFamily="34" charset="-122"/>
                <a:cs typeface="Inter" pitchFamily="34" charset="-120"/>
              </a:rPr>
              <a:t>finite</a:t>
            </a:r>
            <a:pPr algn="l" indent="0" marL="0">
              <a:lnSpc>
                <a:spcPct val="108000"/>
              </a:lnSpc>
              <a:buNone/>
            </a:pPr>
            <a:r>
              <a:rPr lang="en-US" sz="6150" b="1" spc="-154" kern="0" dirty="0">
                <a:solidFill>
                  <a:srgbClr val="FFFFFF"/>
                </a:solidFill>
                <a:latin typeface="Inter" pitchFamily="34" charset="0"/>
                <a:ea typeface="Inter" pitchFamily="34" charset="-122"/>
                <a:cs typeface="Inter" pitchFamily="34" charset="-120"/>
              </a:rPr>
              <a:t>.</a:t>
            </a:r>
            <a:endParaRPr lang="en-US" sz="6150" dirty="0"/>
          </a:p>
        </p:txBody>
      </p:sp>
      <p:sp>
        <p:nvSpPr>
          <p:cNvPr id="9" name="Text 6"/>
          <p:cNvSpPr/>
          <p:nvPr/>
        </p:nvSpPr>
        <p:spPr>
          <a:xfrm>
            <a:off x="1143000" y="5894811"/>
            <a:ext cx="12557760" cy="866775"/>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B7C0CD"/>
                </a:solidFill>
                <a:latin typeface="Inter" pitchFamily="34" charset="0"/>
                <a:ea typeface="Inter" pitchFamily="34" charset="-122"/>
                <a:cs typeface="Inter" pitchFamily="34" charset="-120"/>
              </a:rPr>
              <a:t>Mint HR OS transforms workforce data into actionable intelligence — by understanding meaning once and reusing it forever.</a:t>
            </a:r>
            <a:endParaRPr lang="en-US" sz="2250" dirty="0"/>
          </a:p>
        </p:txBody>
      </p:sp>
      <p:sp>
        <p:nvSpPr>
          <p:cNvPr id="10" name="Shape 7"/>
          <p:cNvSpPr/>
          <p:nvPr/>
        </p:nvSpPr>
        <p:spPr>
          <a:xfrm>
            <a:off x="1143000" y="8918819"/>
            <a:ext cx="16002000" cy="9525"/>
          </a:xfrm>
          <a:prstGeom prst="rect">
            <a:avLst/>
          </a:prstGeom>
          <a:solidFill>
            <a:srgbClr val="2A3441"/>
          </a:solidFill>
          <a:ln/>
        </p:spPr>
      </p:sp>
      <p:sp>
        <p:nvSpPr>
          <p:cNvPr id="11" name="Shape 8"/>
          <p:cNvSpPr/>
          <p:nvPr/>
        </p:nvSpPr>
        <p:spPr>
          <a:xfrm>
            <a:off x="1143000" y="9330775"/>
            <a:ext cx="1143000" cy="28575"/>
          </a:xfrm>
          <a:prstGeom prst="roundRect">
            <a:avLst>
              <a:gd name="adj" fmla="val 50000"/>
            </a:avLst>
          </a:prstGeom>
          <a:solidFill>
            <a:srgbClr val="7A5AF8"/>
          </a:solidFill>
          <a:ln/>
        </p:spPr>
      </p:sp>
      <p:sp>
        <p:nvSpPr>
          <p:cNvPr id="12" name="Text 9"/>
          <p:cNvSpPr/>
          <p:nvPr/>
        </p:nvSpPr>
        <p:spPr>
          <a:xfrm>
            <a:off x="2514600" y="9195044"/>
            <a:ext cx="5612666" cy="338138"/>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FFFFFF"/>
                </a:solidFill>
                <a:latin typeface="JetBrains Mono" pitchFamily="34" charset="0"/>
                <a:ea typeface="JetBrains Mono" pitchFamily="34" charset="-122"/>
                <a:cs typeface="JetBrains Mono" pitchFamily="34" charset="-120"/>
              </a:rPr>
              <a:t>Understand once. Reuse forever.</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2026-06-30T10:18:31Z</dcterms:created>
  <dcterms:modified xsi:type="dcterms:W3CDTF">2026-06-30T10:18:31Z</dcterms:modified>
</cp:coreProperties>
</file>